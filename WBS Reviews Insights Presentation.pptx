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5143500" cy="9144000"/>
  <p:embeddedFontLst>
    <p:embeddedFont>
      <p:font typeface="Caveat"/>
      <p:regular r:id="rId18"/>
      <p:bold r:id="rId19"/>
    </p:embeddedFont>
    <p:embeddedFont>
      <p:font typeface="Gloria Hallelujah"/>
      <p:regular r:id="rId20"/>
    </p:embeddedFont>
    <p:embeddedFont>
      <p:font typeface="Maven Pro"/>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GloriaHallelujah-regular.fntdata"/><Relationship Id="rId11" Type="http://schemas.openxmlformats.org/officeDocument/2006/relationships/slide" Target="slides/slide7.xml"/><Relationship Id="rId22" Type="http://schemas.openxmlformats.org/officeDocument/2006/relationships/font" Target="fonts/MavenPro-bold.fntdata"/><Relationship Id="rId10" Type="http://schemas.openxmlformats.org/officeDocument/2006/relationships/slide" Target="slides/slide6.xml"/><Relationship Id="rId21" Type="http://schemas.openxmlformats.org/officeDocument/2006/relationships/font" Target="fonts/MavenPro-regular.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Caveat-bold.fntdata"/><Relationship Id="rId6" Type="http://schemas.openxmlformats.org/officeDocument/2006/relationships/slide" Target="slides/slide2.xml"/><Relationship Id="rId18" Type="http://schemas.openxmlformats.org/officeDocument/2006/relationships/font" Target="fonts/Caveat-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d300b6c7b6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7" name="Google Shape;57;g3d300b6c7b6_1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Thanks everyone for making time for this. As the last man standing in our data intern team, I have the pleasure of presenting you with the insights of our reviews analysis. Today, I’m going to take about 10 minutes of your time, but there is also an express version of this presentation is also available as part of the final deliverables. </a:t>
            </a:r>
            <a:endParaRPr/>
          </a:p>
        </p:txBody>
      </p:sp>
      <p:sp>
        <p:nvSpPr>
          <p:cNvPr id="58" name="Google Shape;58;g3d300b6c7b6_1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The broadest of overviews shows overwhelmingly positive reviews. With only 4.4% to perfection, looking at the details of the reviews- and reading between the lines is </a:t>
            </a:r>
            <a:r>
              <a:rPr lang="en-US" sz="1100">
                <a:latin typeface="Arial"/>
                <a:ea typeface="Arial"/>
                <a:cs typeface="Arial"/>
                <a:sym typeface="Arial"/>
              </a:rPr>
              <a:t>crucial</a:t>
            </a:r>
            <a:r>
              <a:rPr lang="en-US" sz="1100">
                <a:latin typeface="Arial"/>
                <a:ea typeface="Arial"/>
                <a:cs typeface="Arial"/>
                <a:sym typeface="Arial"/>
              </a:rPr>
              <a:t> to genuinely understanding the data. So that’s what we did.</a:t>
            </a:r>
            <a:endParaRPr/>
          </a:p>
        </p:txBody>
      </p:sp>
      <p:sp>
        <p:nvSpPr>
          <p:cNvPr id="66" name="Google Shape;6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300b6c7b6_1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8" name="Google Shape;88;g3d300b6c7b6_1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"Here's what we're covering. We'll go through the overall picture, then into ratings and sentiment in more detail, then what students are actually talking about in their reviews. After that I'll get into the marketing opportunities — there's genuinely good material here — and then finish with some recommendations for the product side. I've also got a slide showing how the whole thing is built and how to keep it updated, which I think will be useful context."</a:t>
            </a:r>
            <a:endParaRPr/>
          </a:p>
        </p:txBody>
      </p:sp>
      <p:sp>
        <p:nvSpPr>
          <p:cNvPr id="89" name="Google Shape;89;g3d300b6c7b6_1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"So the headline. 4.78 out of 5 average rating, 96.7% positive sentiment. Those are strong numbers and I want to be clear — they're genuine. This isn't cherry-picked data.</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But here's the thing about bootcamp reviews. You're mostly hearing from people who finished the course, felt good about it, and were motivated enough to write about it. So the distribution is really interesting — 62% of reviews are 5 stars, 28% are 4 stars. We've got 75% of all ratings sitting at 4.75 or above. It's very top heavy.</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What that means practically is that the 27 negative and neutral reviews carry a lot more weight than their number suggests. Those are the people who felt strongly enough about a bad experience to actually write it down. So we paid close attention to those."</a:t>
            </a:r>
            <a:endParaRPr/>
          </a:p>
        </p:txBody>
      </p:sp>
      <p:sp>
        <p:nvSpPr>
          <p:cNvPr id="98" name="Google Shape;9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"When you look at the combined rating and sentiment analysis dimensions, instructors come out top at 4.85. Curriculum is at 4.78. And then job assistance sits at 4.54. That's a 0.31 point gap across 566 reviews and it's consistent — it shows up across every course, every year we have data for. That's the number I'd flag to the product team.</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course breakdown is pretty tight — Data Science leads at 4.78, Full-Stack Web and App is at 4.71. Nothing alarming there.</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The role comparison is interesting though. Students currently enrolled rate the course at 4.49. Graduates looking back on the same course rate it at 4.73. Same course, same experience, but a 0.24 point gap depending on whether you're in the middle of it or looking back. That tells me the intensity is felt more acutely during the program. It's not a problem necessarily, but it does suggest there's an expectation management opportunity at enrollment."</a:t>
            </a:r>
            <a:endParaRPr/>
          </a:p>
        </p:txBody>
      </p:sp>
      <p:sp>
        <p:nvSpPr>
          <p:cNvPr id="168" name="Google Shape;16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"So sentiment. Average compound score of 0.862 on a minus one to plus one scale, median of 0.964. That's very high. Reviews from Course Report and SwitchUp sit at 0.94 — consistently positive language.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Google is at 0.668. That's a 29% drop. And I want to be clear — this is not a quality problem. Google attracts a broader audience. Someone who had a bad experience and wants to vent knows how to find a Google review box. Specialist platforms like Course Report are visited by people who are researching bootcamps, so they're a more self-selected group.</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What this means for you is that Google reviews are worth monitoring closely as an early warning signal. If something goes wrong operationally, you'll probably see it there first.</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The 2024 data point is the one I'd keep an eye on. 266 reviews — that's our largest single-year sample — and sentiment sits at 0.806, which is the lowest on record. Ratings were actually fine at 4.82, so it's not that students are scoring it lower. It's the language they're using. Worth reading those 2024 reviews manually before drawing any conclusions."</a:t>
            </a:r>
            <a:endParaRPr/>
          </a:p>
        </p:txBody>
      </p:sp>
      <p:sp>
        <p:nvSpPr>
          <p:cNvPr id="246" name="Google Shape;24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"So what are students actually saying in their reviews? On the motivation side, curriculum quality comes up in 33% of all reviews. Speed and intensity of the bootcamp format at 25%, community at 24%. Price and value? 2.9%. Students are not choosing WBS because it's cheap. They're choosing it because of what it teaches and how it teaches it. That's useful positioning information.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experience flags tell a good story too. One in four reviews — 26.7% — contains language that explicitly positions WBS against alternatives or describes it as life-changing. That's a remarkable number and we'll come back to it on the marketing slide.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Workload manageability comes up six times more often than workload being overwhelming. So the intensity is landing well. Students find it hard but structured rather than chaotic.</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The one flag I'd call out is getting hired. Only 2.1% of reviews mention securing a job after the course. Given that job assistance is the lowest rated dimension, this is either telling us that outcomes aren't happening, or that they're happening but students aren't writing about them. Either way it's worth investigating."</a:t>
            </a:r>
            <a:endParaRPr/>
          </a:p>
        </p:txBody>
      </p:sp>
      <p:sp>
        <p:nvSpPr>
          <p:cNvPr id="309" name="Google Shape;30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is the slide the marketing team will probably care most about. One in four reviews contains authentic language that positions WBS as exceptional — not just good, but genuinely different. That's your quote pool.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three testimonials up here are the strongest we found by sentiment score and rating. Christian Goerke's review about the Data Science bootcamp giving him a new foundation after a difficult period — that's the kind of human story that converts. Raphael Hemme talking about the community of motivated and competent people — that's addressing a concern every prospective student has about whether they'll fit in.</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On diversity — the quote pool skews toward Data Science and Full-Stack Web and App graduates. Part-time students and career changers from non-technical backgrounds are underrepresented. If you're running campaigns targeting those segments it might be worth proactively collecting testimonials rather than relying on what's already in the review data."</a:t>
            </a:r>
            <a:endParaRPr/>
          </a:p>
        </p:txBody>
      </p:sp>
      <p:sp>
        <p:nvSpPr>
          <p:cNvPr id="383" name="Google Shape;38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"Three things from the data that I think are worth acting on.</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First, career support. That 0.31 point gap in job assistance isn't going away. It's been there for years, it's consistent across courses, and the students who mention it are framing it as a value-for-money issue — they're comparing what they paid to what they got in terms of employment outcomes. I'd recommend a targeted look at what the career support offering actually involves and whether what's being promised at enrollment matches what's being delivered.</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Second, the student experience during the course. That gap between enrolled students and graduates in their ratings suggests the difficulty curve is a surprise for some people. Setting clearer expectations at enrollment about how intense it gets — particularly in the first few weeks — could make a meaningful difference without changing anything about the course itself.</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Third, 2024. I mentioned it on the sentiment slide. It might be nothing, it might be a cohort effect, it might be something operational. But 266 reviews with the lowest sentiment score we've seen is worth a conversation before it becomes a pattern."</a:t>
            </a:r>
            <a:endParaRPr sz="1100">
              <a:latin typeface="Arial"/>
              <a:ea typeface="Arial"/>
              <a:cs typeface="Arial"/>
              <a:sym typeface="Arial"/>
            </a:endParaRPr>
          </a:p>
        </p:txBody>
      </p:sp>
      <p:sp>
        <p:nvSpPr>
          <p:cNvPr id="421" name="Google Shape;42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"Quick note on the data before I show you how it's all built. A few things worth knowing. The sentiment scoring uses a tool called VADER which works well on review-style text but can trip up on nuanced language — someone writing that the bootcamp was intense and sometimes hard but ultimately amazing might score lower than you'd expect. For the edge cases we'd recommend reading the original text.</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Google reviews have lower sentiment across the board which I've already mentioned. And 34% of reviews have no course label because they came from Google which doesn't collect that data. So course-level analysis is based on the 538 reviews that do have a label. All of this is documented if anyone wants to dig into the methodology."</a:t>
            </a:r>
            <a:endParaRPr/>
          </a:p>
        </p:txBody>
      </p:sp>
      <p:sp>
        <p:nvSpPr>
          <p:cNvPr id="448" name="Google Shape;44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"So to summarise. Strong foundation — the numbers are genuinely good and the positive sentiment is real. The job support gap is the single most actionable finding and it's been consistent for years. Google reviews need monitoring as an early warning signal. Curriculum quality is what drives enrollment so that should be the lead message in marketing. One in four reviews is a quotable testimonial. And the 2024 sentiment dip is worth a conversation before it becomes a trend.</a:t>
            </a:r>
            <a:endParaRPr sz="1100">
              <a:latin typeface="Arial"/>
              <a:ea typeface="Arial"/>
              <a:cs typeface="Arial"/>
              <a:sym typeface="Arial"/>
            </a:endParaRPr>
          </a:p>
        </p:txBody>
      </p:sp>
      <p:sp>
        <p:nvSpPr>
          <p:cNvPr id="483" name="Google Shape;48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d300b6c7b6_1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g3d300b6c7b6_1_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"So this is the thing with from this project. Everything you've just seen isn't a one-off analysis. It's a connected system.</a:t>
            </a:r>
            <a:endParaRPr/>
          </a:p>
          <a:p>
            <a:pPr indent="0" lvl="0" marL="0" rtl="0" algn="l">
              <a:lnSpc>
                <a:spcPct val="115000"/>
              </a:lnSpc>
              <a:spcBef>
                <a:spcPts val="1200"/>
              </a:spcBef>
              <a:spcAft>
                <a:spcPts val="0"/>
              </a:spcAft>
              <a:buClr>
                <a:schemeClr val="dk1"/>
              </a:buClr>
              <a:buSzPts val="1100"/>
              <a:buFont typeface="Arial"/>
              <a:buNone/>
            </a:pPr>
            <a:r>
              <a:rPr lang="en-US"/>
              <a:t>On the left, the cleaning pipeline. It's a Python package that takes the raw review CSV, translates any non-English reviews, removes duplicates, </a:t>
            </a:r>
            <a:r>
              <a:rPr lang="en-US"/>
              <a:t>standardised</a:t>
            </a:r>
            <a:r>
              <a:rPr lang="en-US"/>
              <a:t> everything, and produces a clean dataset in about 90 seconds. One command.</a:t>
            </a:r>
            <a:endParaRPr/>
          </a:p>
          <a:p>
            <a:pPr indent="0" lvl="0" marL="0" rtl="0" algn="l">
              <a:lnSpc>
                <a:spcPct val="115000"/>
              </a:lnSpc>
              <a:spcBef>
                <a:spcPts val="1200"/>
              </a:spcBef>
              <a:spcAft>
                <a:spcPts val="0"/>
              </a:spcAft>
              <a:buClr>
                <a:schemeClr val="dk1"/>
              </a:buClr>
              <a:buSzPts val="1100"/>
              <a:buFont typeface="Arial"/>
              <a:buNone/>
            </a:pPr>
            <a:r>
              <a:rPr lang="en-US"/>
              <a:t>The analysis notebooks sit in the middle. Each one handles a specific piece — sentiment, student experience, statistical analysis, marketing quotes. They all write into a single master CSV.</a:t>
            </a:r>
            <a:endParaRPr/>
          </a:p>
          <a:p>
            <a:pPr indent="0" lvl="0" marL="0" rtl="0" algn="l">
              <a:lnSpc>
                <a:spcPct val="115000"/>
              </a:lnSpc>
              <a:spcBef>
                <a:spcPts val="1200"/>
              </a:spcBef>
              <a:spcAft>
                <a:spcPts val="0"/>
              </a:spcAft>
              <a:buClr>
                <a:schemeClr val="dk1"/>
              </a:buClr>
              <a:buSzPts val="1100"/>
              <a:buFont typeface="Arial"/>
              <a:buNone/>
            </a:pPr>
            <a:r>
              <a:rPr lang="en-US"/>
              <a:t>On the right, that master CSV syncs automatically to Google Sheets, which feeds the Looker Studio dashboard. Three interactive pages, filterable by course, role, date, and sentiment.</a:t>
            </a:r>
            <a:endParaRPr/>
          </a:p>
          <a:p>
            <a:pPr indent="0" lvl="0" marL="0" rtl="0" algn="l">
              <a:lnSpc>
                <a:spcPct val="115000"/>
              </a:lnSpc>
              <a:spcBef>
                <a:spcPts val="1200"/>
              </a:spcBef>
              <a:spcAft>
                <a:spcPts val="0"/>
              </a:spcAft>
              <a:buClr>
                <a:schemeClr val="dk1"/>
              </a:buClr>
              <a:buSzPts val="1100"/>
              <a:buFont typeface="Arial"/>
              <a:buNone/>
            </a:pPr>
            <a:r>
              <a:rPr lang="en-US"/>
              <a:t>And the update process at the bottom is the important bit. When WBS collects new reviews — add them to the raw CSV, run the pipeline, and everything updates automatically. The whole thing is built to be maintained by someone who wasn't involved in building it."</a:t>
            </a:r>
            <a:endParaRPr/>
          </a:p>
          <a:p>
            <a:pPr indent="0" lvl="0" marL="0" rtl="0" algn="l">
              <a:spcBef>
                <a:spcPts val="1200"/>
              </a:spcBef>
              <a:spcAft>
                <a:spcPts val="0"/>
              </a:spcAft>
              <a:buNone/>
            </a:pPr>
            <a:r>
              <a:t/>
            </a:r>
            <a:endParaRPr/>
          </a:p>
        </p:txBody>
      </p:sp>
      <p:sp>
        <p:nvSpPr>
          <p:cNvPr id="511" name="Google Shape;511;g3d300b6c7b6_1_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d300b6c7b6_1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3d300b6c7b6_1_1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And finally, I have assembled packages of the deliveries meant for the marketing and products teams - so essentially they will only need to have this presentation to access all of their documents. </a:t>
            </a:r>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That's everything from the insights I wanted to share. Rather than just showing you numbers on slides though, I want to show you the actual dashboard — because everything I've just walked through is live and filterable in Looker Studio right now." </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Before we move on, I’m happy to go into more detail on any of this— whether that's the methodology, the quote bank, or the product recommendations. What questions do you have, while I switch over to the dashboard?"</a:t>
            </a:r>
            <a:endParaRPr/>
          </a:p>
        </p:txBody>
      </p:sp>
      <p:sp>
        <p:nvSpPr>
          <p:cNvPr id="578" name="Google Shape;578;g3d300b6c7b6_1_1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54" name="Shape 5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 name="Google Shape;11;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12" name="Google Shape;12;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drive.google.com/file/d/1mdKULAEAG_gPlvxSoqNZRPP7FnV1y0Qy/view?usp=vids_web"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1" Type="http://schemas.openxmlformats.org/officeDocument/2006/relationships/hyperlink" Target="https://drive.google.com/drive/folders/1_Jz9r4XMVE7omFnRiwea0PoYVJewNo8t?usp=drive_link" TargetMode="External"/><Relationship Id="rId10" Type="http://schemas.openxmlformats.org/officeDocument/2006/relationships/hyperlink" Target="https://drive.google.com/drive/folders/1CCxW5UAoSX6al12t-CvI4qYyg5KLyDTa?usp=drive_link" TargetMode="External"/><Relationship Id="rId13" Type="http://schemas.openxmlformats.org/officeDocument/2006/relationships/image" Target="../media/image4.png"/><Relationship Id="rId12" Type="http://schemas.openxmlformats.org/officeDocument/2006/relationships/hyperlink" Target="https://lookerstudio.google.com/reporting/a94760bf-cbd8-4894-8b53-348e2c9ce172" TargetMode="External"/><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hyperlink" Target="https://docs.google.com/document/d/1_RsfBW77E6-nFdlfCQc6BaW5B4aOq-GXXPx2ZwmpY1c/edit?tab=t.k2d2r1o3a97u" TargetMode="External"/><Relationship Id="rId4" Type="http://schemas.openxmlformats.org/officeDocument/2006/relationships/hyperlink" Target="https://drive.google.com/drive/folders/1BEHjyo_rAg-67pSBYd01MKnxuVMTRxj-?usp=drive_link" TargetMode="External"/><Relationship Id="rId9" Type="http://schemas.openxmlformats.org/officeDocument/2006/relationships/hyperlink" Target="https://docs.google.com/document/d/1_RsfBW77E6-nFdlfCQc6BaW5B4aOq-GXXPx2ZwmpY1c/edit?tab=t.ls89ej8mb15k" TargetMode="External"/><Relationship Id="rId5" Type="http://schemas.openxmlformats.org/officeDocument/2006/relationships/hyperlink" Target="https://drive.google.com/drive/folders/1ThlGfZQNHR-r3XrPieutnaslmgoOhctm?usp=drive_link" TargetMode="External"/><Relationship Id="rId6" Type="http://schemas.openxmlformats.org/officeDocument/2006/relationships/hyperlink" Target="https://drive.google.com/drive/folders/1_Jz9r4XMVE7omFnRiwea0PoYVJewNo8t?usp=drive_link" TargetMode="External"/><Relationship Id="rId7" Type="http://schemas.openxmlformats.org/officeDocument/2006/relationships/hyperlink" Target="https://lookerstudio.google.com/reporting/a94760bf-cbd8-4894-8b53-348e2c9ce172" TargetMode="External"/><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pic>
        <p:nvPicPr>
          <p:cNvPr id="60" name="Google Shape;60;p14" title="Gemini_Generated_Image_tqm1hjtqm1hjtqm1.png"/>
          <p:cNvPicPr preferRelativeResize="0"/>
          <p:nvPr/>
        </p:nvPicPr>
        <p:blipFill rotWithShape="1">
          <a:blip r:embed="rId3">
            <a:alphaModFix/>
          </a:blip>
          <a:srcRect b="14163" l="0" r="0" t="0"/>
          <a:stretch/>
        </p:blipFill>
        <p:spPr>
          <a:xfrm>
            <a:off x="0" y="874125"/>
            <a:ext cx="9144000" cy="3006054"/>
          </a:xfrm>
          <a:prstGeom prst="rect">
            <a:avLst/>
          </a:prstGeom>
          <a:noFill/>
          <a:ln>
            <a:noFill/>
          </a:ln>
        </p:spPr>
      </p:pic>
      <p:sp>
        <p:nvSpPr>
          <p:cNvPr id="61" name="Google Shape;61;p14"/>
          <p:cNvSpPr/>
          <p:nvPr/>
        </p:nvSpPr>
        <p:spPr>
          <a:xfrm>
            <a:off x="5" y="4869295"/>
            <a:ext cx="7863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1200"/>
              <a:buFont typeface="Calibri"/>
              <a:buNone/>
            </a:pPr>
            <a:r>
              <a:rPr b="0" i="0" lang="en-US" sz="1200" u="none" cap="none" strike="noStrike">
                <a:solidFill>
                  <a:srgbClr val="999999"/>
                </a:solidFill>
                <a:latin typeface="Calibri"/>
                <a:ea typeface="Calibri"/>
                <a:cs typeface="Calibri"/>
                <a:sym typeface="Calibri"/>
              </a:rPr>
              <a:t>Prepared by Essentis Data Intern Team Feb/Mar 2026</a:t>
            </a:r>
            <a:endParaRPr b="0" i="0" sz="1200" u="none" cap="none" strike="noStrike">
              <a:solidFill>
                <a:schemeClr val="dk1"/>
              </a:solidFill>
              <a:latin typeface="Calibri"/>
              <a:ea typeface="Calibri"/>
              <a:cs typeface="Calibri"/>
              <a:sym typeface="Calibri"/>
            </a:endParaRPr>
          </a:p>
        </p:txBody>
      </p:sp>
      <p:sp>
        <p:nvSpPr>
          <p:cNvPr id="62" name="Google Shape;62;p14"/>
          <p:cNvSpPr txBox="1"/>
          <p:nvPr/>
        </p:nvSpPr>
        <p:spPr>
          <a:xfrm>
            <a:off x="5496000" y="4754400"/>
            <a:ext cx="3648000" cy="3282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US" sz="1200" u="sng">
                <a:solidFill>
                  <a:schemeClr val="hlink"/>
                </a:solidFill>
                <a:hlinkClick r:id="rId4"/>
              </a:rPr>
              <a:t>Click here for a narrated video of this presentation.</a:t>
            </a:r>
            <a:endParaRPr sz="1200">
              <a:solidFill>
                <a:schemeClr val="l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p:nvPr/>
        </p:nvSpPr>
        <p:spPr>
          <a:xfrm>
            <a:off x="59405" y="1979570"/>
            <a:ext cx="7863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1200"/>
              <a:buFont typeface="Calibri"/>
              <a:buNone/>
            </a:pPr>
            <a:r>
              <a:rPr b="0" i="0" lang="en-US" sz="1200" u="none" cap="none" strike="noStrike">
                <a:solidFill>
                  <a:srgbClr val="999999"/>
                </a:solidFill>
                <a:latin typeface="Calibri"/>
                <a:ea typeface="Calibri"/>
                <a:cs typeface="Calibri"/>
                <a:sym typeface="Calibri"/>
              </a:rPr>
              <a:t>818 reviews  |  2019 – 2025  |  5 courses  |  Prepared by Essentis</a:t>
            </a:r>
            <a:endParaRPr b="0" i="0" sz="1200" u="none" cap="none" strike="noStrike">
              <a:solidFill>
                <a:schemeClr val="dk1"/>
              </a:solidFill>
              <a:latin typeface="Calibri"/>
              <a:ea typeface="Calibri"/>
              <a:cs typeface="Calibri"/>
              <a:sym typeface="Calibri"/>
            </a:endParaRPr>
          </a:p>
        </p:txBody>
      </p:sp>
      <p:grpSp>
        <p:nvGrpSpPr>
          <p:cNvPr id="69" name="Google Shape;69;p15"/>
          <p:cNvGrpSpPr/>
          <p:nvPr/>
        </p:nvGrpSpPr>
        <p:grpSpPr>
          <a:xfrm>
            <a:off x="-66604" y="2459092"/>
            <a:ext cx="9277228" cy="979263"/>
            <a:chOff x="640080" y="3840480"/>
            <a:chExt cx="8229600" cy="868680"/>
          </a:xfrm>
        </p:grpSpPr>
        <p:sp>
          <p:nvSpPr>
            <p:cNvPr id="70" name="Google Shape;70;p15"/>
            <p:cNvSpPr/>
            <p:nvPr/>
          </p:nvSpPr>
          <p:spPr>
            <a:xfrm>
              <a:off x="2743200" y="3840480"/>
              <a:ext cx="1920240" cy="868680"/>
            </a:xfrm>
            <a:prstGeom prst="rect">
              <a:avLst/>
            </a:prstGeom>
            <a:solidFill>
              <a:srgbClr val="383838"/>
            </a:solidFill>
            <a:ln cap="flat" cmpd="sng" w="10725">
              <a:solidFill>
                <a:srgbClr val="444444"/>
              </a:solidFill>
              <a:prstDash val="solid"/>
              <a:round/>
              <a:headEnd len="sm" w="sm" type="none"/>
              <a:tailEnd len="sm" w="sm" type="none"/>
            </a:ln>
          </p:spPr>
          <p:txBody>
            <a:bodyPr anchorCtr="0" anchor="ctr" bIns="103050" lIns="103050" spcFirstLastPara="1" rIns="103050" wrap="square" tIns="103050">
              <a:noAutofit/>
            </a:bodyPr>
            <a:lstStyle/>
            <a:p>
              <a:pPr indent="0" lvl="0" marL="0" rtl="0" algn="l">
                <a:spcBef>
                  <a:spcPts val="0"/>
                </a:spcBef>
                <a:spcAft>
                  <a:spcPts val="0"/>
                </a:spcAft>
                <a:buNone/>
              </a:pPr>
              <a:r>
                <a:t/>
              </a:r>
              <a:endParaRPr sz="2000">
                <a:solidFill>
                  <a:srgbClr val="678AA2"/>
                </a:solidFill>
                <a:latin typeface="Trebuchet MS"/>
                <a:ea typeface="Trebuchet MS"/>
                <a:cs typeface="Trebuchet MS"/>
                <a:sym typeface="Trebuchet MS"/>
              </a:endParaRPr>
            </a:p>
          </p:txBody>
        </p:sp>
        <p:sp>
          <p:nvSpPr>
            <p:cNvPr id="71" name="Google Shape;71;p15"/>
            <p:cNvSpPr/>
            <p:nvPr/>
          </p:nvSpPr>
          <p:spPr>
            <a:xfrm>
              <a:off x="2743200" y="4270248"/>
              <a:ext cx="192024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AAAAA"/>
                </a:buClr>
                <a:buSzPts val="1015"/>
                <a:buFont typeface="Calibri"/>
                <a:buNone/>
              </a:pPr>
              <a:r>
                <a:rPr i="0" lang="en-US" sz="1615" u="none" cap="none" strike="noStrike">
                  <a:solidFill>
                    <a:srgbClr val="678AA2"/>
                  </a:solidFill>
                  <a:latin typeface="Trebuchet MS"/>
                  <a:ea typeface="Trebuchet MS"/>
                  <a:cs typeface="Trebuchet MS"/>
                  <a:sym typeface="Trebuchet MS"/>
                </a:rPr>
                <a:t>Positive Sentiment</a:t>
              </a:r>
              <a:endParaRPr i="0" sz="1615" u="none" cap="none" strike="noStrike">
                <a:solidFill>
                  <a:srgbClr val="678AA2"/>
                </a:solidFill>
                <a:latin typeface="Trebuchet MS"/>
                <a:ea typeface="Trebuchet MS"/>
                <a:cs typeface="Trebuchet MS"/>
                <a:sym typeface="Trebuchet MS"/>
              </a:endParaRPr>
            </a:p>
          </p:txBody>
        </p:sp>
        <p:sp>
          <p:nvSpPr>
            <p:cNvPr id="72" name="Google Shape;72;p15"/>
            <p:cNvSpPr/>
            <p:nvPr/>
          </p:nvSpPr>
          <p:spPr>
            <a:xfrm>
              <a:off x="4846320" y="3840480"/>
              <a:ext cx="1920240" cy="868680"/>
            </a:xfrm>
            <a:prstGeom prst="rect">
              <a:avLst/>
            </a:prstGeom>
            <a:solidFill>
              <a:srgbClr val="383838"/>
            </a:solidFill>
            <a:ln cap="flat" cmpd="sng" w="10725">
              <a:solidFill>
                <a:srgbClr val="444444"/>
              </a:solidFill>
              <a:prstDash val="solid"/>
              <a:round/>
              <a:headEnd len="sm" w="sm" type="none"/>
              <a:tailEnd len="sm" w="sm" type="none"/>
            </a:ln>
          </p:spPr>
          <p:txBody>
            <a:bodyPr anchorCtr="0" anchor="ctr" bIns="103050" lIns="103050" spcFirstLastPara="1" rIns="103050" wrap="square" tIns="103050">
              <a:noAutofit/>
            </a:bodyPr>
            <a:lstStyle/>
            <a:p>
              <a:pPr indent="0" lvl="0" marL="0" rtl="0" algn="l">
                <a:spcBef>
                  <a:spcPts val="0"/>
                </a:spcBef>
                <a:spcAft>
                  <a:spcPts val="0"/>
                </a:spcAft>
                <a:buNone/>
              </a:pPr>
              <a:r>
                <a:t/>
              </a:r>
              <a:endParaRPr sz="2000">
                <a:solidFill>
                  <a:srgbClr val="678AA2"/>
                </a:solidFill>
                <a:latin typeface="Trebuchet MS"/>
                <a:ea typeface="Trebuchet MS"/>
                <a:cs typeface="Trebuchet MS"/>
                <a:sym typeface="Trebuchet MS"/>
              </a:endParaRPr>
            </a:p>
          </p:txBody>
        </p:sp>
        <p:sp>
          <p:nvSpPr>
            <p:cNvPr id="73" name="Google Shape;73;p15"/>
            <p:cNvSpPr/>
            <p:nvPr/>
          </p:nvSpPr>
          <p:spPr>
            <a:xfrm>
              <a:off x="4846320" y="4270248"/>
              <a:ext cx="192024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AAAAA"/>
                </a:buClr>
                <a:buSzPts val="1015"/>
                <a:buFont typeface="Calibri"/>
                <a:buNone/>
              </a:pPr>
              <a:r>
                <a:rPr i="0" lang="en-US" sz="1615" u="none" cap="none" strike="noStrike">
                  <a:solidFill>
                    <a:srgbClr val="678AA2"/>
                  </a:solidFill>
                  <a:latin typeface="Trebuchet MS"/>
                  <a:ea typeface="Trebuchet MS"/>
                  <a:cs typeface="Trebuchet MS"/>
                  <a:sym typeface="Trebuchet MS"/>
                </a:rPr>
                <a:t>Total Reviews</a:t>
              </a:r>
              <a:endParaRPr i="0" sz="1615" u="none" cap="none" strike="noStrike">
                <a:solidFill>
                  <a:srgbClr val="678AA2"/>
                </a:solidFill>
                <a:latin typeface="Trebuchet MS"/>
                <a:ea typeface="Trebuchet MS"/>
                <a:cs typeface="Trebuchet MS"/>
                <a:sym typeface="Trebuchet MS"/>
              </a:endParaRPr>
            </a:p>
          </p:txBody>
        </p:sp>
        <p:sp>
          <p:nvSpPr>
            <p:cNvPr id="74" name="Google Shape;74;p15"/>
            <p:cNvSpPr/>
            <p:nvPr/>
          </p:nvSpPr>
          <p:spPr>
            <a:xfrm>
              <a:off x="6949440" y="3840480"/>
              <a:ext cx="1920240" cy="868680"/>
            </a:xfrm>
            <a:prstGeom prst="rect">
              <a:avLst/>
            </a:prstGeom>
            <a:solidFill>
              <a:srgbClr val="383838"/>
            </a:solidFill>
            <a:ln cap="flat" cmpd="sng" w="10725">
              <a:solidFill>
                <a:srgbClr val="444444"/>
              </a:solidFill>
              <a:prstDash val="solid"/>
              <a:round/>
              <a:headEnd len="sm" w="sm" type="none"/>
              <a:tailEnd len="sm" w="sm" type="none"/>
            </a:ln>
          </p:spPr>
          <p:txBody>
            <a:bodyPr anchorCtr="0" anchor="ctr" bIns="103050" lIns="103050" spcFirstLastPara="1" rIns="103050" wrap="square" tIns="103050">
              <a:noAutofit/>
            </a:bodyPr>
            <a:lstStyle/>
            <a:p>
              <a:pPr indent="0" lvl="0" marL="0" rtl="0" algn="l">
                <a:spcBef>
                  <a:spcPts val="0"/>
                </a:spcBef>
                <a:spcAft>
                  <a:spcPts val="0"/>
                </a:spcAft>
                <a:buNone/>
              </a:pPr>
              <a:r>
                <a:t/>
              </a:r>
              <a:endParaRPr sz="2000">
                <a:solidFill>
                  <a:srgbClr val="678AA2"/>
                </a:solidFill>
                <a:latin typeface="Trebuchet MS"/>
                <a:ea typeface="Trebuchet MS"/>
                <a:cs typeface="Trebuchet MS"/>
                <a:sym typeface="Trebuchet MS"/>
              </a:endParaRPr>
            </a:p>
          </p:txBody>
        </p:sp>
        <p:sp>
          <p:nvSpPr>
            <p:cNvPr id="75" name="Google Shape;75;p15"/>
            <p:cNvSpPr/>
            <p:nvPr/>
          </p:nvSpPr>
          <p:spPr>
            <a:xfrm>
              <a:off x="6949440" y="4270248"/>
              <a:ext cx="192024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AAAAA"/>
                </a:buClr>
                <a:buSzPts val="1015"/>
                <a:buFont typeface="Calibri"/>
                <a:buNone/>
              </a:pPr>
              <a:r>
                <a:rPr i="0" lang="en-US" sz="1615" u="none" cap="none" strike="noStrike">
                  <a:solidFill>
                    <a:srgbClr val="678AA2"/>
                  </a:solidFill>
                  <a:latin typeface="Trebuchet MS"/>
                  <a:ea typeface="Trebuchet MS"/>
                  <a:cs typeface="Trebuchet MS"/>
                  <a:sym typeface="Trebuchet MS"/>
                </a:rPr>
                <a:t>Date Range</a:t>
              </a:r>
              <a:endParaRPr i="0" sz="1615" u="none" cap="none" strike="noStrike">
                <a:solidFill>
                  <a:srgbClr val="678AA2"/>
                </a:solidFill>
                <a:latin typeface="Trebuchet MS"/>
                <a:ea typeface="Trebuchet MS"/>
                <a:cs typeface="Trebuchet MS"/>
                <a:sym typeface="Trebuchet MS"/>
              </a:endParaRPr>
            </a:p>
          </p:txBody>
        </p:sp>
        <p:grpSp>
          <p:nvGrpSpPr>
            <p:cNvPr id="76" name="Google Shape;76;p15"/>
            <p:cNvGrpSpPr/>
            <p:nvPr/>
          </p:nvGrpSpPr>
          <p:grpSpPr>
            <a:xfrm>
              <a:off x="640080" y="3840480"/>
              <a:ext cx="8229600" cy="868680"/>
              <a:chOff x="640080" y="3840480"/>
              <a:chExt cx="8229600" cy="868680"/>
            </a:xfrm>
          </p:grpSpPr>
          <p:grpSp>
            <p:nvGrpSpPr>
              <p:cNvPr id="77" name="Google Shape;77;p15"/>
              <p:cNvGrpSpPr/>
              <p:nvPr/>
            </p:nvGrpSpPr>
            <p:grpSpPr>
              <a:xfrm>
                <a:off x="640080" y="3840480"/>
                <a:ext cx="8229600" cy="868680"/>
                <a:chOff x="640080" y="3840480"/>
                <a:chExt cx="8229600" cy="868680"/>
              </a:xfrm>
            </p:grpSpPr>
            <p:sp>
              <p:nvSpPr>
                <p:cNvPr id="78" name="Google Shape;78;p15"/>
                <p:cNvSpPr/>
                <p:nvPr/>
              </p:nvSpPr>
              <p:spPr>
                <a:xfrm>
                  <a:off x="640080" y="3840480"/>
                  <a:ext cx="1920240" cy="868680"/>
                </a:xfrm>
                <a:prstGeom prst="rect">
                  <a:avLst/>
                </a:prstGeom>
                <a:solidFill>
                  <a:srgbClr val="383838"/>
                </a:solidFill>
                <a:ln cap="flat" cmpd="sng" w="10725">
                  <a:solidFill>
                    <a:srgbClr val="444444"/>
                  </a:solidFill>
                  <a:prstDash val="solid"/>
                  <a:round/>
                  <a:headEnd len="sm" w="sm" type="none"/>
                  <a:tailEnd len="sm" w="sm" type="none"/>
                </a:ln>
              </p:spPr>
              <p:txBody>
                <a:bodyPr anchorCtr="0" anchor="ctr" bIns="103050" lIns="103050" spcFirstLastPara="1" rIns="103050" wrap="square" tIns="103050">
                  <a:noAutofit/>
                </a:bodyPr>
                <a:lstStyle/>
                <a:p>
                  <a:pPr indent="0" lvl="0" marL="0" rtl="0" algn="l">
                    <a:spcBef>
                      <a:spcPts val="0"/>
                    </a:spcBef>
                    <a:spcAft>
                      <a:spcPts val="0"/>
                    </a:spcAft>
                    <a:buNone/>
                  </a:pPr>
                  <a:r>
                    <a:t/>
                  </a:r>
                  <a:endParaRPr sz="2000">
                    <a:solidFill>
                      <a:srgbClr val="678AA2"/>
                    </a:solidFill>
                    <a:latin typeface="Trebuchet MS"/>
                    <a:ea typeface="Trebuchet MS"/>
                    <a:cs typeface="Trebuchet MS"/>
                    <a:sym typeface="Trebuchet MS"/>
                  </a:endParaRPr>
                </a:p>
              </p:txBody>
            </p:sp>
            <p:sp>
              <p:nvSpPr>
                <p:cNvPr id="79" name="Google Shape;79;p15"/>
                <p:cNvSpPr/>
                <p:nvPr/>
              </p:nvSpPr>
              <p:spPr>
                <a:xfrm>
                  <a:off x="2743200" y="3877056"/>
                  <a:ext cx="19202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474F"/>
                    </a:buClr>
                    <a:buSzPts val="2480"/>
                    <a:buFont typeface="Calibri"/>
                    <a:buNone/>
                  </a:pPr>
                  <a:r>
                    <a:rPr b="1" i="0" lang="en-US" sz="3080" u="none" cap="none" strike="noStrike">
                      <a:solidFill>
                        <a:srgbClr val="678AA2"/>
                      </a:solidFill>
                      <a:latin typeface="Trebuchet MS"/>
                      <a:ea typeface="Trebuchet MS"/>
                      <a:cs typeface="Trebuchet MS"/>
                      <a:sym typeface="Trebuchet MS"/>
                    </a:rPr>
                    <a:t>96.7%</a:t>
                  </a:r>
                  <a:endParaRPr i="0" sz="3080" u="none" cap="none" strike="noStrike">
                    <a:solidFill>
                      <a:srgbClr val="678AA2"/>
                    </a:solidFill>
                    <a:latin typeface="Trebuchet MS"/>
                    <a:ea typeface="Trebuchet MS"/>
                    <a:cs typeface="Trebuchet MS"/>
                    <a:sym typeface="Trebuchet MS"/>
                  </a:endParaRPr>
                </a:p>
              </p:txBody>
            </p:sp>
            <p:sp>
              <p:nvSpPr>
                <p:cNvPr id="80" name="Google Shape;80;p15"/>
                <p:cNvSpPr/>
                <p:nvPr/>
              </p:nvSpPr>
              <p:spPr>
                <a:xfrm>
                  <a:off x="4846320" y="3877056"/>
                  <a:ext cx="19202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474F"/>
                    </a:buClr>
                    <a:buSzPts val="2480"/>
                    <a:buFont typeface="Calibri"/>
                    <a:buNone/>
                  </a:pPr>
                  <a:r>
                    <a:rPr b="1" i="0" lang="en-US" sz="3080" u="none" cap="none" strike="noStrike">
                      <a:solidFill>
                        <a:srgbClr val="678AA2"/>
                      </a:solidFill>
                      <a:latin typeface="Trebuchet MS"/>
                      <a:ea typeface="Trebuchet MS"/>
                      <a:cs typeface="Trebuchet MS"/>
                      <a:sym typeface="Trebuchet MS"/>
                    </a:rPr>
                    <a:t>818</a:t>
                  </a:r>
                  <a:endParaRPr i="0" sz="3080" u="none" cap="none" strike="noStrike">
                    <a:solidFill>
                      <a:srgbClr val="678AA2"/>
                    </a:solidFill>
                    <a:latin typeface="Trebuchet MS"/>
                    <a:ea typeface="Trebuchet MS"/>
                    <a:cs typeface="Trebuchet MS"/>
                    <a:sym typeface="Trebuchet MS"/>
                  </a:endParaRPr>
                </a:p>
              </p:txBody>
            </p:sp>
            <p:sp>
              <p:nvSpPr>
                <p:cNvPr id="81" name="Google Shape;81;p15"/>
                <p:cNvSpPr/>
                <p:nvPr/>
              </p:nvSpPr>
              <p:spPr>
                <a:xfrm>
                  <a:off x="6949440" y="3877056"/>
                  <a:ext cx="19202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474F"/>
                    </a:buClr>
                    <a:buSzPts val="2480"/>
                    <a:buFont typeface="Calibri"/>
                    <a:buNone/>
                  </a:pPr>
                  <a:r>
                    <a:rPr b="1" i="0" lang="en-US" sz="3080" u="none" cap="none" strike="noStrike">
                      <a:solidFill>
                        <a:srgbClr val="678AA2"/>
                      </a:solidFill>
                      <a:latin typeface="Trebuchet MS"/>
                      <a:ea typeface="Trebuchet MS"/>
                      <a:cs typeface="Trebuchet MS"/>
                      <a:sym typeface="Trebuchet MS"/>
                    </a:rPr>
                    <a:t>6 Years</a:t>
                  </a:r>
                  <a:endParaRPr i="0" sz="3080" u="none" cap="none" strike="noStrike">
                    <a:solidFill>
                      <a:srgbClr val="678AA2"/>
                    </a:solidFill>
                    <a:latin typeface="Trebuchet MS"/>
                    <a:ea typeface="Trebuchet MS"/>
                    <a:cs typeface="Trebuchet MS"/>
                    <a:sym typeface="Trebuchet MS"/>
                  </a:endParaRPr>
                </a:p>
              </p:txBody>
            </p:sp>
          </p:grpSp>
          <p:sp>
            <p:nvSpPr>
              <p:cNvPr id="82" name="Google Shape;82;p15"/>
              <p:cNvSpPr/>
              <p:nvPr/>
            </p:nvSpPr>
            <p:spPr>
              <a:xfrm>
                <a:off x="640080" y="3877056"/>
                <a:ext cx="19203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474F"/>
                  </a:buClr>
                  <a:buSzPts val="2480"/>
                  <a:buFont typeface="Calibri"/>
                  <a:buNone/>
                </a:pPr>
                <a:r>
                  <a:rPr b="1" i="0" lang="en-US" sz="3080" u="none" cap="none" strike="noStrike">
                    <a:solidFill>
                      <a:srgbClr val="678AA2"/>
                    </a:solidFill>
                    <a:latin typeface="Trebuchet MS"/>
                    <a:ea typeface="Trebuchet MS"/>
                    <a:cs typeface="Trebuchet MS"/>
                    <a:sym typeface="Trebuchet MS"/>
                  </a:rPr>
                  <a:t>4.</a:t>
                </a:r>
                <a:r>
                  <a:rPr b="1" lang="en-US" sz="3080">
                    <a:solidFill>
                      <a:srgbClr val="678AA2"/>
                    </a:solidFill>
                    <a:latin typeface="Trebuchet MS"/>
                    <a:ea typeface="Trebuchet MS"/>
                    <a:cs typeface="Trebuchet MS"/>
                    <a:sym typeface="Trebuchet MS"/>
                  </a:rPr>
                  <a:t>78</a:t>
                </a:r>
                <a:endParaRPr i="0" sz="3080" u="none" cap="none" strike="noStrike">
                  <a:solidFill>
                    <a:srgbClr val="678AA2"/>
                  </a:solidFill>
                  <a:latin typeface="Trebuchet MS"/>
                  <a:ea typeface="Trebuchet MS"/>
                  <a:cs typeface="Trebuchet MS"/>
                  <a:sym typeface="Trebuchet MS"/>
                </a:endParaRPr>
              </a:p>
            </p:txBody>
          </p:sp>
        </p:grpSp>
        <p:sp>
          <p:nvSpPr>
            <p:cNvPr id="83" name="Google Shape;83;p15"/>
            <p:cNvSpPr/>
            <p:nvPr/>
          </p:nvSpPr>
          <p:spPr>
            <a:xfrm>
              <a:off x="640080" y="4270248"/>
              <a:ext cx="19203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AAAAA"/>
                </a:buClr>
                <a:buSzPts val="1015"/>
                <a:buFont typeface="Calibri"/>
                <a:buNone/>
              </a:pPr>
              <a:r>
                <a:rPr i="0" lang="en-US" sz="1615" u="none" cap="none" strike="noStrike">
                  <a:solidFill>
                    <a:srgbClr val="678AA2"/>
                  </a:solidFill>
                  <a:latin typeface="Trebuchet MS"/>
                  <a:ea typeface="Trebuchet MS"/>
                  <a:cs typeface="Trebuchet MS"/>
                  <a:sym typeface="Trebuchet MS"/>
                </a:rPr>
                <a:t>Avg Overall Rating</a:t>
              </a:r>
              <a:endParaRPr i="0" sz="1615" u="none" cap="none" strike="noStrike">
                <a:solidFill>
                  <a:srgbClr val="678AA2"/>
                </a:solidFill>
                <a:latin typeface="Trebuchet MS"/>
                <a:ea typeface="Trebuchet MS"/>
                <a:cs typeface="Trebuchet MS"/>
                <a:sym typeface="Trebuchet MS"/>
              </a:endParaRPr>
            </a:p>
          </p:txBody>
        </p:sp>
      </p:grpSp>
      <p:pic>
        <p:nvPicPr>
          <p:cNvPr id="84" name="Google Shape;84;p15" title="Gemini_Generated_Image_tqm1hjtqm1hjtqm1.png"/>
          <p:cNvPicPr preferRelativeResize="0"/>
          <p:nvPr/>
        </p:nvPicPr>
        <p:blipFill rotWithShape="1">
          <a:blip r:embed="rId3">
            <a:alphaModFix/>
          </a:blip>
          <a:srcRect b="14163" l="0" r="0" t="0"/>
          <a:stretch/>
        </p:blipFill>
        <p:spPr>
          <a:xfrm>
            <a:off x="0" y="-1026475"/>
            <a:ext cx="9144000" cy="3006054"/>
          </a:xfrm>
          <a:prstGeom prst="rect">
            <a:avLst/>
          </a:prstGeom>
          <a:noFill/>
          <a:ln>
            <a:noFill/>
          </a:ln>
        </p:spPr>
      </p:pic>
      <p:sp>
        <p:nvSpPr>
          <p:cNvPr id="85" name="Google Shape;85;p15"/>
          <p:cNvSpPr/>
          <p:nvPr/>
        </p:nvSpPr>
        <p:spPr>
          <a:xfrm>
            <a:off x="274320" y="4901184"/>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800"/>
              <a:buFont typeface="Calibri"/>
              <a:buNone/>
            </a:pPr>
            <a:r>
              <a:rPr b="0" i="0" lang="en-US" sz="800" u="none" cap="none" strike="noStrike">
                <a:solidFill>
                  <a:srgbClr val="AAAAAA"/>
                </a:solidFill>
                <a:latin typeface="Calibri"/>
                <a:ea typeface="Calibri"/>
                <a:cs typeface="Calibri"/>
                <a:sym typeface="Calibri"/>
              </a:rPr>
              <a:t>WBS Coding School  |  Student Review Analysis  |  Essentis  |  March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US">
                <a:solidFill>
                  <a:srgbClr val="678AA2"/>
                </a:solidFill>
              </a:rPr>
              <a:t>WHAT WE WILL COVER IN THIS PRESENTATION</a:t>
            </a:r>
            <a:endParaRPr>
              <a:solidFill>
                <a:srgbClr val="678AA2"/>
              </a:solidFill>
            </a:endParaRPr>
          </a:p>
        </p:txBody>
      </p:sp>
      <p:sp>
        <p:nvSpPr>
          <p:cNvPr id="92" name="Google Shape;92;p1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Font typeface="Trebuchet MS"/>
              <a:buChar char="●"/>
            </a:pPr>
            <a:r>
              <a:rPr lang="en-US" sz="1600">
                <a:latin typeface="Trebuchet MS"/>
                <a:ea typeface="Trebuchet MS"/>
                <a:cs typeface="Trebuchet MS"/>
                <a:sym typeface="Trebuchet MS"/>
              </a:rPr>
              <a:t>THE OVERALL PICTURE</a:t>
            </a:r>
            <a:endParaRPr sz="1600">
              <a:latin typeface="Trebuchet MS"/>
              <a:ea typeface="Trebuchet MS"/>
              <a:cs typeface="Trebuchet MS"/>
              <a:sym typeface="Trebuchet MS"/>
            </a:endParaRPr>
          </a:p>
          <a:p>
            <a:pPr indent="-317500" lvl="1" marL="914400" rtl="0" algn="l">
              <a:spcBef>
                <a:spcPts val="0"/>
              </a:spcBef>
              <a:spcAft>
                <a:spcPts val="0"/>
              </a:spcAft>
              <a:buSzPts val="1400"/>
              <a:buFont typeface="Trebuchet MS"/>
              <a:buChar char="○"/>
            </a:pPr>
            <a:r>
              <a:rPr lang="en-US" sz="1400">
                <a:latin typeface="Trebuchet MS"/>
                <a:ea typeface="Trebuchet MS"/>
                <a:cs typeface="Trebuchet MS"/>
                <a:sym typeface="Trebuchet MS"/>
              </a:rPr>
              <a:t>Rating Distributions </a:t>
            </a:r>
            <a:endParaRPr sz="1400">
              <a:latin typeface="Trebuchet MS"/>
              <a:ea typeface="Trebuchet MS"/>
              <a:cs typeface="Trebuchet MS"/>
              <a:sym typeface="Trebuchet MS"/>
            </a:endParaRPr>
          </a:p>
          <a:p>
            <a:pPr indent="-317500" lvl="1" marL="914400" rtl="0" algn="l">
              <a:spcBef>
                <a:spcPts val="0"/>
              </a:spcBef>
              <a:spcAft>
                <a:spcPts val="0"/>
              </a:spcAft>
              <a:buSzPts val="1400"/>
              <a:buFont typeface="Trebuchet MS"/>
              <a:buChar char="○"/>
            </a:pPr>
            <a:r>
              <a:rPr lang="en-US" sz="1400">
                <a:latin typeface="Trebuchet MS"/>
                <a:ea typeface="Trebuchet MS"/>
                <a:cs typeface="Trebuchet MS"/>
                <a:sym typeface="Trebuchet MS"/>
              </a:rPr>
              <a:t>Headline Findings</a:t>
            </a:r>
            <a:endParaRPr sz="1400">
              <a:latin typeface="Trebuchet MS"/>
              <a:ea typeface="Trebuchet MS"/>
              <a:cs typeface="Trebuchet MS"/>
              <a:sym typeface="Trebuchet MS"/>
            </a:endParaRPr>
          </a:p>
          <a:p>
            <a:pPr indent="-330200" lvl="0" marL="457200" rtl="0" algn="l">
              <a:spcBef>
                <a:spcPts val="0"/>
              </a:spcBef>
              <a:spcAft>
                <a:spcPts val="0"/>
              </a:spcAft>
              <a:buSzPts val="1600"/>
              <a:buFont typeface="Trebuchet MS"/>
              <a:buChar char="●"/>
            </a:pPr>
            <a:r>
              <a:rPr lang="en-US" sz="1600">
                <a:latin typeface="Trebuchet MS"/>
                <a:ea typeface="Trebuchet MS"/>
                <a:cs typeface="Trebuchet MS"/>
                <a:sym typeface="Trebuchet MS"/>
              </a:rPr>
              <a:t>RATINGS ANALYSIS</a:t>
            </a:r>
            <a:endParaRPr sz="1600">
              <a:latin typeface="Trebuchet MS"/>
              <a:ea typeface="Trebuchet MS"/>
              <a:cs typeface="Trebuchet MS"/>
              <a:sym typeface="Trebuchet MS"/>
            </a:endParaRPr>
          </a:p>
          <a:p>
            <a:pPr indent="-317500" lvl="1" marL="914400" rtl="0" algn="l">
              <a:spcBef>
                <a:spcPts val="0"/>
              </a:spcBef>
              <a:spcAft>
                <a:spcPts val="0"/>
              </a:spcAft>
              <a:buSzPts val="1400"/>
              <a:buFont typeface="Trebuchet MS"/>
              <a:buChar char="○"/>
            </a:pPr>
            <a:r>
              <a:rPr lang="en-US" sz="1400">
                <a:latin typeface="Trebuchet MS"/>
                <a:ea typeface="Trebuchet MS"/>
                <a:cs typeface="Trebuchet MS"/>
                <a:sym typeface="Trebuchet MS"/>
              </a:rPr>
              <a:t>Instructors</a:t>
            </a:r>
            <a:endParaRPr sz="1400">
              <a:latin typeface="Trebuchet MS"/>
              <a:ea typeface="Trebuchet MS"/>
              <a:cs typeface="Trebuchet MS"/>
              <a:sym typeface="Trebuchet MS"/>
            </a:endParaRPr>
          </a:p>
          <a:p>
            <a:pPr indent="-317500" lvl="1" marL="914400" rtl="0" algn="l">
              <a:spcBef>
                <a:spcPts val="0"/>
              </a:spcBef>
              <a:spcAft>
                <a:spcPts val="0"/>
              </a:spcAft>
              <a:buSzPts val="1400"/>
              <a:buFont typeface="Trebuchet MS"/>
              <a:buChar char="○"/>
            </a:pPr>
            <a:r>
              <a:rPr lang="en-US" sz="1400">
                <a:latin typeface="Trebuchet MS"/>
                <a:ea typeface="Trebuchet MS"/>
                <a:cs typeface="Trebuchet MS"/>
                <a:sym typeface="Trebuchet MS"/>
              </a:rPr>
              <a:t>Courses</a:t>
            </a:r>
            <a:endParaRPr sz="1400">
              <a:latin typeface="Trebuchet MS"/>
              <a:ea typeface="Trebuchet MS"/>
              <a:cs typeface="Trebuchet MS"/>
              <a:sym typeface="Trebuchet MS"/>
            </a:endParaRPr>
          </a:p>
          <a:p>
            <a:pPr indent="-317500" lvl="1" marL="914400" rtl="0" algn="l">
              <a:spcBef>
                <a:spcPts val="0"/>
              </a:spcBef>
              <a:spcAft>
                <a:spcPts val="0"/>
              </a:spcAft>
              <a:buSzPts val="1400"/>
              <a:buFont typeface="Trebuchet MS"/>
              <a:buChar char="○"/>
            </a:pPr>
            <a:r>
              <a:rPr lang="en-US" sz="1400">
                <a:latin typeface="Trebuchet MS"/>
                <a:ea typeface="Trebuchet MS"/>
                <a:cs typeface="Trebuchet MS"/>
                <a:sym typeface="Trebuchet MS"/>
              </a:rPr>
              <a:t>Job Assistance</a:t>
            </a:r>
            <a:endParaRPr sz="1400">
              <a:latin typeface="Trebuchet MS"/>
              <a:ea typeface="Trebuchet MS"/>
              <a:cs typeface="Trebuchet MS"/>
              <a:sym typeface="Trebuchet MS"/>
            </a:endParaRPr>
          </a:p>
          <a:p>
            <a:pPr indent="-317500" lvl="1" marL="914400" rtl="0" algn="l">
              <a:spcBef>
                <a:spcPts val="0"/>
              </a:spcBef>
              <a:spcAft>
                <a:spcPts val="0"/>
              </a:spcAft>
              <a:buSzPts val="1400"/>
              <a:buFont typeface="Trebuchet MS"/>
              <a:buChar char="○"/>
            </a:pPr>
            <a:r>
              <a:rPr lang="en-US" sz="1400">
                <a:latin typeface="Trebuchet MS"/>
                <a:ea typeface="Trebuchet MS"/>
                <a:cs typeface="Trebuchet MS"/>
                <a:sym typeface="Trebuchet MS"/>
              </a:rPr>
              <a:t>Roles</a:t>
            </a:r>
            <a:endParaRPr sz="1400">
              <a:latin typeface="Trebuchet MS"/>
              <a:ea typeface="Trebuchet MS"/>
              <a:cs typeface="Trebuchet MS"/>
              <a:sym typeface="Trebuchet MS"/>
            </a:endParaRPr>
          </a:p>
          <a:p>
            <a:pPr indent="-317500" lvl="1" marL="914400" rtl="0" algn="l">
              <a:spcBef>
                <a:spcPts val="0"/>
              </a:spcBef>
              <a:spcAft>
                <a:spcPts val="0"/>
              </a:spcAft>
              <a:buSzPts val="1400"/>
              <a:buFont typeface="Trebuchet MS"/>
              <a:buChar char="○"/>
            </a:pPr>
            <a:r>
              <a:rPr lang="en-US" sz="1400">
                <a:latin typeface="Trebuchet MS"/>
                <a:ea typeface="Trebuchet MS"/>
                <a:cs typeface="Trebuchet MS"/>
                <a:sym typeface="Trebuchet MS"/>
              </a:rPr>
              <a:t>Time Trends</a:t>
            </a:r>
            <a:endParaRPr sz="1400">
              <a:latin typeface="Trebuchet MS"/>
              <a:ea typeface="Trebuchet MS"/>
              <a:cs typeface="Trebuchet MS"/>
              <a:sym typeface="Trebuchet MS"/>
            </a:endParaRPr>
          </a:p>
          <a:p>
            <a:pPr indent="-330200" lvl="0" marL="457200" rtl="0" algn="l">
              <a:spcBef>
                <a:spcPts val="0"/>
              </a:spcBef>
              <a:spcAft>
                <a:spcPts val="0"/>
              </a:spcAft>
              <a:buSzPts val="1600"/>
              <a:buFont typeface="Trebuchet MS"/>
              <a:buChar char="●"/>
            </a:pPr>
            <a:r>
              <a:rPr lang="en-US" sz="1600">
                <a:latin typeface="Trebuchet MS"/>
                <a:ea typeface="Trebuchet MS"/>
                <a:cs typeface="Trebuchet MS"/>
                <a:sym typeface="Trebuchet MS"/>
              </a:rPr>
              <a:t>SENTIMENT ANALYSIS</a:t>
            </a:r>
            <a:endParaRPr sz="1600">
              <a:latin typeface="Trebuchet MS"/>
              <a:ea typeface="Trebuchet MS"/>
              <a:cs typeface="Trebuchet MS"/>
              <a:sym typeface="Trebuchet MS"/>
            </a:endParaRPr>
          </a:p>
          <a:p>
            <a:pPr indent="-317500" lvl="1" marL="914400" rtl="0" algn="l">
              <a:spcBef>
                <a:spcPts val="0"/>
              </a:spcBef>
              <a:spcAft>
                <a:spcPts val="0"/>
              </a:spcAft>
              <a:buSzPts val="1400"/>
              <a:buFont typeface="Trebuchet MS"/>
              <a:buChar char="○"/>
            </a:pPr>
            <a:r>
              <a:rPr lang="en-US" sz="1400">
                <a:latin typeface="Trebuchet MS"/>
                <a:ea typeface="Trebuchet MS"/>
                <a:cs typeface="Trebuchet MS"/>
                <a:sym typeface="Trebuchet MS"/>
              </a:rPr>
              <a:t>Text analysis</a:t>
            </a:r>
            <a:endParaRPr sz="1400">
              <a:latin typeface="Trebuchet MS"/>
              <a:ea typeface="Trebuchet MS"/>
              <a:cs typeface="Trebuchet MS"/>
              <a:sym typeface="Trebuchet MS"/>
            </a:endParaRPr>
          </a:p>
          <a:p>
            <a:pPr indent="-317500" lvl="1" marL="914400" rtl="0" algn="l">
              <a:spcBef>
                <a:spcPts val="0"/>
              </a:spcBef>
              <a:spcAft>
                <a:spcPts val="0"/>
              </a:spcAft>
              <a:buSzPts val="1400"/>
              <a:buFont typeface="Trebuchet MS"/>
              <a:buChar char="○"/>
            </a:pPr>
            <a:r>
              <a:rPr lang="en-US" sz="1400">
                <a:latin typeface="Trebuchet MS"/>
                <a:ea typeface="Trebuchet MS"/>
                <a:cs typeface="Trebuchet MS"/>
                <a:sym typeface="Trebuchet MS"/>
              </a:rPr>
              <a:t>Theme Extraction</a:t>
            </a:r>
            <a:endParaRPr sz="1400">
              <a:latin typeface="Trebuchet MS"/>
              <a:ea typeface="Trebuchet MS"/>
              <a:cs typeface="Trebuchet MS"/>
              <a:sym typeface="Trebuchet MS"/>
            </a:endParaRPr>
          </a:p>
          <a:p>
            <a:pPr indent="-317500" lvl="1" marL="914400" rtl="0" algn="l">
              <a:spcBef>
                <a:spcPts val="0"/>
              </a:spcBef>
              <a:spcAft>
                <a:spcPts val="0"/>
              </a:spcAft>
              <a:buSzPts val="1400"/>
              <a:buFont typeface="Trebuchet MS"/>
              <a:buChar char="○"/>
            </a:pPr>
            <a:r>
              <a:rPr lang="en-US" sz="1400">
                <a:latin typeface="Trebuchet MS"/>
                <a:ea typeface="Trebuchet MS"/>
                <a:cs typeface="Trebuchet MS"/>
                <a:sym typeface="Trebuchet MS"/>
              </a:rPr>
              <a:t>Translation Methods</a:t>
            </a:r>
            <a:endParaRPr sz="1400">
              <a:latin typeface="Trebuchet MS"/>
              <a:ea typeface="Trebuchet MS"/>
              <a:cs typeface="Trebuchet MS"/>
              <a:sym typeface="Trebuchet MS"/>
            </a:endParaRPr>
          </a:p>
        </p:txBody>
      </p:sp>
      <p:sp>
        <p:nvSpPr>
          <p:cNvPr id="93" name="Google Shape;93;p1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lnSpcReduction="10000"/>
          </a:bodyPr>
          <a:lstStyle/>
          <a:p>
            <a:pPr indent="-330200" lvl="0" marL="457200" rtl="0" algn="l">
              <a:spcBef>
                <a:spcPts val="0"/>
              </a:spcBef>
              <a:spcAft>
                <a:spcPts val="0"/>
              </a:spcAft>
              <a:buSzPts val="1600"/>
              <a:buFont typeface="Trebuchet MS"/>
              <a:buChar char="●"/>
            </a:pPr>
            <a:r>
              <a:rPr lang="en-US" sz="1600">
                <a:latin typeface="Trebuchet MS"/>
                <a:ea typeface="Trebuchet MS"/>
                <a:cs typeface="Trebuchet MS"/>
                <a:sym typeface="Trebuchet MS"/>
              </a:rPr>
              <a:t>REOCCURING THEMES</a:t>
            </a:r>
            <a:endParaRPr sz="1600">
              <a:latin typeface="Trebuchet MS"/>
              <a:ea typeface="Trebuchet MS"/>
              <a:cs typeface="Trebuchet MS"/>
              <a:sym typeface="Trebuchet MS"/>
            </a:endParaRPr>
          </a:p>
          <a:p>
            <a:pPr indent="-317500" lvl="1" marL="914400" rtl="0" algn="l">
              <a:spcBef>
                <a:spcPts val="0"/>
              </a:spcBef>
              <a:spcAft>
                <a:spcPts val="0"/>
              </a:spcAft>
              <a:buSzPts val="1400"/>
              <a:buFont typeface="Trebuchet MS"/>
              <a:buChar char="○"/>
            </a:pPr>
            <a:r>
              <a:rPr lang="en-US" sz="1400">
                <a:latin typeface="Trebuchet MS"/>
                <a:ea typeface="Trebuchet MS"/>
                <a:cs typeface="Trebuchet MS"/>
                <a:sym typeface="Trebuchet MS"/>
              </a:rPr>
              <a:t>Motivations</a:t>
            </a:r>
            <a:endParaRPr sz="1400">
              <a:latin typeface="Trebuchet MS"/>
              <a:ea typeface="Trebuchet MS"/>
              <a:cs typeface="Trebuchet MS"/>
              <a:sym typeface="Trebuchet MS"/>
            </a:endParaRPr>
          </a:p>
          <a:p>
            <a:pPr indent="-317500" lvl="1" marL="914400" rtl="0" algn="l">
              <a:spcBef>
                <a:spcPts val="0"/>
              </a:spcBef>
              <a:spcAft>
                <a:spcPts val="0"/>
              </a:spcAft>
              <a:buSzPts val="1400"/>
              <a:buFont typeface="Trebuchet MS"/>
              <a:buChar char="○"/>
            </a:pPr>
            <a:r>
              <a:rPr lang="en-US" sz="1400">
                <a:latin typeface="Trebuchet MS"/>
                <a:ea typeface="Trebuchet MS"/>
                <a:cs typeface="Trebuchet MS"/>
                <a:sym typeface="Trebuchet MS"/>
              </a:rPr>
              <a:t>Experience Mentions</a:t>
            </a:r>
            <a:endParaRPr sz="1400">
              <a:latin typeface="Trebuchet MS"/>
              <a:ea typeface="Trebuchet MS"/>
              <a:cs typeface="Trebuchet MS"/>
              <a:sym typeface="Trebuchet MS"/>
            </a:endParaRPr>
          </a:p>
          <a:p>
            <a:pPr indent="-317500" lvl="1" marL="914400" rtl="0" algn="l">
              <a:spcBef>
                <a:spcPts val="0"/>
              </a:spcBef>
              <a:spcAft>
                <a:spcPts val="0"/>
              </a:spcAft>
              <a:buSzPts val="1400"/>
              <a:buFont typeface="Trebuchet MS"/>
              <a:buChar char="○"/>
            </a:pPr>
            <a:r>
              <a:rPr lang="en-US" sz="1400">
                <a:latin typeface="Trebuchet MS"/>
                <a:ea typeface="Trebuchet MS"/>
                <a:cs typeface="Trebuchet MS"/>
                <a:sym typeface="Trebuchet MS"/>
              </a:rPr>
              <a:t>Product Aspects</a:t>
            </a:r>
            <a:endParaRPr sz="1400">
              <a:latin typeface="Trebuchet MS"/>
              <a:ea typeface="Trebuchet MS"/>
              <a:cs typeface="Trebuchet MS"/>
              <a:sym typeface="Trebuchet MS"/>
            </a:endParaRPr>
          </a:p>
          <a:p>
            <a:pPr indent="-330200" lvl="0" marL="457200" rtl="0" algn="l">
              <a:spcBef>
                <a:spcPts val="0"/>
              </a:spcBef>
              <a:spcAft>
                <a:spcPts val="0"/>
              </a:spcAft>
              <a:buSzPts val="1600"/>
              <a:buFont typeface="Trebuchet MS"/>
              <a:buChar char="●"/>
            </a:pPr>
            <a:r>
              <a:rPr lang="en-US" sz="1600">
                <a:latin typeface="Trebuchet MS"/>
                <a:ea typeface="Trebuchet MS"/>
                <a:cs typeface="Trebuchet MS"/>
                <a:sym typeface="Trebuchet MS"/>
              </a:rPr>
              <a:t>MARKETING OPPORTUNITIES</a:t>
            </a:r>
            <a:endParaRPr sz="1600">
              <a:latin typeface="Trebuchet MS"/>
              <a:ea typeface="Trebuchet MS"/>
              <a:cs typeface="Trebuchet MS"/>
              <a:sym typeface="Trebuchet MS"/>
            </a:endParaRPr>
          </a:p>
          <a:p>
            <a:pPr indent="-317500" lvl="1" marL="914400" rtl="0" algn="l">
              <a:spcBef>
                <a:spcPts val="0"/>
              </a:spcBef>
              <a:spcAft>
                <a:spcPts val="0"/>
              </a:spcAft>
              <a:buSzPts val="1400"/>
              <a:buFont typeface="Trebuchet MS"/>
              <a:buChar char="○"/>
            </a:pPr>
            <a:r>
              <a:rPr lang="en-US" sz="1400">
                <a:latin typeface="Trebuchet MS"/>
                <a:ea typeface="Trebuchet MS"/>
                <a:cs typeface="Trebuchet MS"/>
                <a:sym typeface="Trebuchet MS"/>
              </a:rPr>
              <a:t>Competitive Selling Points</a:t>
            </a:r>
            <a:endParaRPr sz="1400">
              <a:latin typeface="Trebuchet MS"/>
              <a:ea typeface="Trebuchet MS"/>
              <a:cs typeface="Trebuchet MS"/>
              <a:sym typeface="Trebuchet MS"/>
            </a:endParaRPr>
          </a:p>
          <a:p>
            <a:pPr indent="-317500" lvl="1" marL="914400" rtl="0" algn="l">
              <a:spcBef>
                <a:spcPts val="0"/>
              </a:spcBef>
              <a:spcAft>
                <a:spcPts val="0"/>
              </a:spcAft>
              <a:buSzPts val="1400"/>
              <a:buFont typeface="Trebuchet MS"/>
              <a:buChar char="○"/>
            </a:pPr>
            <a:r>
              <a:rPr lang="en-US" sz="1400">
                <a:latin typeface="Trebuchet MS"/>
                <a:ea typeface="Trebuchet MS"/>
                <a:cs typeface="Trebuchet MS"/>
                <a:sym typeface="Trebuchet MS"/>
              </a:rPr>
              <a:t>Testimonials</a:t>
            </a:r>
            <a:endParaRPr sz="1400">
              <a:latin typeface="Trebuchet MS"/>
              <a:ea typeface="Trebuchet MS"/>
              <a:cs typeface="Trebuchet MS"/>
              <a:sym typeface="Trebuchet MS"/>
            </a:endParaRPr>
          </a:p>
          <a:p>
            <a:pPr indent="-317500" lvl="1" marL="914400" rtl="0" algn="l">
              <a:spcBef>
                <a:spcPts val="0"/>
              </a:spcBef>
              <a:spcAft>
                <a:spcPts val="0"/>
              </a:spcAft>
              <a:buSzPts val="1400"/>
              <a:buFont typeface="Trebuchet MS"/>
              <a:buChar char="○"/>
            </a:pPr>
            <a:r>
              <a:rPr lang="en-US" sz="1400">
                <a:latin typeface="Trebuchet MS"/>
                <a:ea typeface="Trebuchet MS"/>
                <a:cs typeface="Trebuchet MS"/>
                <a:sym typeface="Trebuchet MS"/>
              </a:rPr>
              <a:t>Quote Diversity</a:t>
            </a:r>
            <a:endParaRPr sz="1400">
              <a:latin typeface="Trebuchet MS"/>
              <a:ea typeface="Trebuchet MS"/>
              <a:cs typeface="Trebuchet MS"/>
              <a:sym typeface="Trebuchet MS"/>
            </a:endParaRPr>
          </a:p>
          <a:p>
            <a:pPr indent="-330200" lvl="0" marL="457200" rtl="0" algn="l">
              <a:spcBef>
                <a:spcPts val="0"/>
              </a:spcBef>
              <a:spcAft>
                <a:spcPts val="0"/>
              </a:spcAft>
              <a:buSzPts val="1600"/>
              <a:buFont typeface="Trebuchet MS"/>
              <a:buChar char="●"/>
            </a:pPr>
            <a:r>
              <a:rPr lang="en-US" sz="1600">
                <a:latin typeface="Trebuchet MS"/>
                <a:ea typeface="Trebuchet MS"/>
                <a:cs typeface="Trebuchet MS"/>
                <a:sym typeface="Trebuchet MS"/>
              </a:rPr>
              <a:t>PRODUCT IMPROVEMENT </a:t>
            </a:r>
            <a:endParaRPr sz="1600">
              <a:latin typeface="Trebuchet MS"/>
              <a:ea typeface="Trebuchet MS"/>
              <a:cs typeface="Trebuchet MS"/>
              <a:sym typeface="Trebuchet MS"/>
            </a:endParaRPr>
          </a:p>
          <a:p>
            <a:pPr indent="-317500" lvl="1" marL="914400" rtl="0" algn="l">
              <a:spcBef>
                <a:spcPts val="0"/>
              </a:spcBef>
              <a:spcAft>
                <a:spcPts val="0"/>
              </a:spcAft>
              <a:buSzPts val="1400"/>
              <a:buFont typeface="Trebuchet MS"/>
              <a:buChar char="○"/>
            </a:pPr>
            <a:r>
              <a:rPr lang="en-US" sz="1400">
                <a:latin typeface="Trebuchet MS"/>
                <a:ea typeface="Trebuchet MS"/>
                <a:cs typeface="Trebuchet MS"/>
                <a:sym typeface="Trebuchet MS"/>
              </a:rPr>
              <a:t>Job Support Gap</a:t>
            </a:r>
            <a:endParaRPr sz="1400">
              <a:latin typeface="Trebuchet MS"/>
              <a:ea typeface="Trebuchet MS"/>
              <a:cs typeface="Trebuchet MS"/>
              <a:sym typeface="Trebuchet MS"/>
            </a:endParaRPr>
          </a:p>
          <a:p>
            <a:pPr indent="-317500" lvl="1" marL="914400" rtl="0" algn="l">
              <a:spcBef>
                <a:spcPts val="0"/>
              </a:spcBef>
              <a:spcAft>
                <a:spcPts val="0"/>
              </a:spcAft>
              <a:buSzPts val="1400"/>
              <a:buFont typeface="Trebuchet MS"/>
              <a:buChar char="○"/>
            </a:pPr>
            <a:r>
              <a:rPr lang="en-US" sz="1400">
                <a:latin typeface="Trebuchet MS"/>
                <a:ea typeface="Trebuchet MS"/>
                <a:cs typeface="Trebuchet MS"/>
                <a:sym typeface="Trebuchet MS"/>
              </a:rPr>
              <a:t>Expectations Management</a:t>
            </a:r>
            <a:endParaRPr sz="1400">
              <a:latin typeface="Trebuchet MS"/>
              <a:ea typeface="Trebuchet MS"/>
              <a:cs typeface="Trebuchet MS"/>
              <a:sym typeface="Trebuchet MS"/>
            </a:endParaRPr>
          </a:p>
          <a:p>
            <a:pPr indent="-317500" lvl="1" marL="914400" rtl="0" algn="l">
              <a:spcBef>
                <a:spcPts val="0"/>
              </a:spcBef>
              <a:spcAft>
                <a:spcPts val="0"/>
              </a:spcAft>
              <a:buSzPts val="1400"/>
              <a:buFont typeface="Trebuchet MS"/>
              <a:buChar char="○"/>
            </a:pPr>
            <a:r>
              <a:rPr lang="en-US" sz="1400">
                <a:latin typeface="Trebuchet MS"/>
                <a:ea typeface="Trebuchet MS"/>
                <a:cs typeface="Trebuchet MS"/>
                <a:sym typeface="Trebuchet MS"/>
              </a:rPr>
              <a:t>Data Collection</a:t>
            </a:r>
            <a:endParaRPr sz="1400">
              <a:latin typeface="Trebuchet MS"/>
              <a:ea typeface="Trebuchet MS"/>
              <a:cs typeface="Trebuchet MS"/>
              <a:sym typeface="Trebuchet MS"/>
            </a:endParaRPr>
          </a:p>
          <a:p>
            <a:pPr indent="-317500" lvl="0" marL="457200" rtl="0" algn="l">
              <a:spcBef>
                <a:spcPts val="0"/>
              </a:spcBef>
              <a:spcAft>
                <a:spcPts val="0"/>
              </a:spcAft>
              <a:buSzPts val="1400"/>
              <a:buFont typeface="Trebuchet MS"/>
              <a:buChar char="●"/>
            </a:pPr>
            <a:r>
              <a:rPr lang="en-US">
                <a:latin typeface="Trebuchet MS"/>
                <a:ea typeface="Trebuchet MS"/>
                <a:cs typeface="Trebuchet MS"/>
                <a:sym typeface="Trebuchet MS"/>
              </a:rPr>
              <a:t>OVERVIEW OF DELIVERABLES</a:t>
            </a:r>
            <a:endParaRPr sz="1400">
              <a:latin typeface="Trebuchet MS"/>
              <a:ea typeface="Trebuchet MS"/>
              <a:cs typeface="Trebuchet MS"/>
              <a:sym typeface="Trebuchet MS"/>
            </a:endParaRPr>
          </a:p>
        </p:txBody>
      </p:sp>
      <p:sp>
        <p:nvSpPr>
          <p:cNvPr id="94" name="Google Shape;94;p16"/>
          <p:cNvSpPr/>
          <p:nvPr/>
        </p:nvSpPr>
        <p:spPr>
          <a:xfrm>
            <a:off x="274320" y="4901184"/>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800"/>
              <a:buFont typeface="Calibri"/>
              <a:buNone/>
            </a:pPr>
            <a:r>
              <a:rPr b="0" i="0" lang="en-US" sz="800" u="none" cap="none" strike="noStrike">
                <a:solidFill>
                  <a:srgbClr val="AAAAAA"/>
                </a:solidFill>
                <a:latin typeface="Calibri"/>
                <a:ea typeface="Calibri"/>
                <a:cs typeface="Calibri"/>
                <a:sym typeface="Calibri"/>
              </a:rPr>
              <a:t>WBS Coding School  |  Student Review Analysis  |  Essentis  |  March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p:nvPr/>
        </p:nvSpPr>
        <p:spPr>
          <a:xfrm>
            <a:off x="0" y="0"/>
            <a:ext cx="9144000" cy="658368"/>
          </a:xfrm>
          <a:prstGeom prst="rect">
            <a:avLst/>
          </a:prstGeom>
          <a:solidFill>
            <a:srgbClr val="2C2C2C"/>
          </a:solidFill>
          <a:ln cap="flat" cmpd="sng" w="12700">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7"/>
          <p:cNvSpPr/>
          <p:nvPr/>
        </p:nvSpPr>
        <p:spPr>
          <a:xfrm>
            <a:off x="0" y="0"/>
            <a:ext cx="164592" cy="658368"/>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7"/>
          <p:cNvSpPr/>
          <p:nvPr/>
        </p:nvSpPr>
        <p:spPr>
          <a:xfrm>
            <a:off x="292608" y="64008"/>
            <a:ext cx="7772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Overall Picture</a:t>
            </a:r>
            <a:endParaRPr b="0" i="0" sz="2000" u="none" cap="none" strike="noStrike">
              <a:solidFill>
                <a:schemeClr val="dk1"/>
              </a:solidFill>
              <a:latin typeface="Calibri"/>
              <a:ea typeface="Calibri"/>
              <a:cs typeface="Calibri"/>
              <a:sym typeface="Calibri"/>
            </a:endParaRPr>
          </a:p>
        </p:txBody>
      </p:sp>
      <p:sp>
        <p:nvSpPr>
          <p:cNvPr id="103" name="Google Shape;103;p17"/>
          <p:cNvSpPr/>
          <p:nvPr/>
        </p:nvSpPr>
        <p:spPr>
          <a:xfrm>
            <a:off x="292608" y="384048"/>
            <a:ext cx="77724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000"/>
              <a:buFont typeface="Calibri"/>
              <a:buNone/>
            </a:pPr>
            <a:r>
              <a:rPr b="0" i="0" lang="en-US" sz="1000" u="none" cap="none" strike="noStrike">
                <a:solidFill>
                  <a:srgbClr val="AAAAAA"/>
                </a:solidFill>
                <a:latin typeface="Calibri"/>
                <a:ea typeface="Calibri"/>
                <a:cs typeface="Calibri"/>
                <a:sym typeface="Calibri"/>
              </a:rPr>
              <a:t>818 reviews  |  February 2019 to December 2025</a:t>
            </a:r>
            <a:endParaRPr b="0" i="0" sz="1000" u="none" cap="none" strike="noStrike">
              <a:solidFill>
                <a:schemeClr val="dk1"/>
              </a:solidFill>
              <a:latin typeface="Calibri"/>
              <a:ea typeface="Calibri"/>
              <a:cs typeface="Calibri"/>
              <a:sym typeface="Calibri"/>
            </a:endParaRPr>
          </a:p>
        </p:txBody>
      </p:sp>
      <p:sp>
        <p:nvSpPr>
          <p:cNvPr id="104" name="Google Shape;104;p17"/>
          <p:cNvSpPr/>
          <p:nvPr/>
        </p:nvSpPr>
        <p:spPr>
          <a:xfrm>
            <a:off x="0" y="4892040"/>
            <a:ext cx="9144000" cy="251460"/>
          </a:xfrm>
          <a:prstGeom prst="rect">
            <a:avLst/>
          </a:prstGeom>
          <a:solidFill>
            <a:srgbClr val="2C2C2C"/>
          </a:solidFill>
          <a:ln cap="flat" cmpd="sng" w="12700">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7"/>
          <p:cNvSpPr/>
          <p:nvPr/>
        </p:nvSpPr>
        <p:spPr>
          <a:xfrm>
            <a:off x="274320" y="4901184"/>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800"/>
              <a:buFont typeface="Calibri"/>
              <a:buNone/>
            </a:pPr>
            <a:r>
              <a:rPr b="0" i="0" lang="en-US" sz="800" u="none" cap="none" strike="noStrike">
                <a:solidFill>
                  <a:srgbClr val="AAAAAA"/>
                </a:solidFill>
                <a:latin typeface="Calibri"/>
                <a:ea typeface="Calibri"/>
                <a:cs typeface="Calibri"/>
                <a:sym typeface="Calibri"/>
              </a:rPr>
              <a:t>WBS Coding School  |  Student Review Analysis  |  Essentis  |  March 2026</a:t>
            </a:r>
            <a:endParaRPr b="0" i="0" sz="800" u="none" cap="none" strike="noStrike">
              <a:solidFill>
                <a:schemeClr val="dk1"/>
              </a:solidFill>
              <a:latin typeface="Calibri"/>
              <a:ea typeface="Calibri"/>
              <a:cs typeface="Calibri"/>
              <a:sym typeface="Calibri"/>
            </a:endParaRPr>
          </a:p>
        </p:txBody>
      </p:sp>
      <p:sp>
        <p:nvSpPr>
          <p:cNvPr id="106" name="Google Shape;106;p17"/>
          <p:cNvSpPr/>
          <p:nvPr/>
        </p:nvSpPr>
        <p:spPr>
          <a:xfrm>
            <a:off x="8686800" y="4901184"/>
            <a:ext cx="3657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AAAAA"/>
              </a:buClr>
              <a:buSzPts val="800"/>
              <a:buFont typeface="Calibri"/>
              <a:buNone/>
            </a:pPr>
            <a:r>
              <a:rPr b="0" i="0" lang="en-US" sz="800" u="none" cap="none" strike="noStrike">
                <a:solidFill>
                  <a:srgbClr val="AAAAAA"/>
                </a:solidFill>
                <a:latin typeface="Calibri"/>
                <a:ea typeface="Calibri"/>
                <a:cs typeface="Calibri"/>
                <a:sym typeface="Calibri"/>
              </a:rPr>
              <a:t>3</a:t>
            </a:r>
            <a:endParaRPr b="0" i="0" sz="800" u="none" cap="none" strike="noStrike">
              <a:solidFill>
                <a:schemeClr val="dk1"/>
              </a:solidFill>
              <a:latin typeface="Calibri"/>
              <a:ea typeface="Calibri"/>
              <a:cs typeface="Calibri"/>
              <a:sym typeface="Calibri"/>
            </a:endParaRPr>
          </a:p>
        </p:txBody>
      </p:sp>
      <p:sp>
        <p:nvSpPr>
          <p:cNvPr id="107" name="Google Shape;107;p17"/>
          <p:cNvSpPr/>
          <p:nvPr/>
        </p:nvSpPr>
        <p:spPr>
          <a:xfrm>
            <a:off x="274320" y="822960"/>
            <a:ext cx="1965960" cy="960120"/>
          </a:xfrm>
          <a:prstGeom prst="rect">
            <a:avLst/>
          </a:prstGeom>
          <a:solidFill>
            <a:srgbClr val="FFFFFF"/>
          </a:solidFill>
          <a:ln cap="flat" cmpd="sng" w="9525">
            <a:solidFill>
              <a:srgbClr val="EEEEEE"/>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7"/>
          <p:cNvSpPr/>
          <p:nvPr/>
        </p:nvSpPr>
        <p:spPr>
          <a:xfrm>
            <a:off x="274320" y="822960"/>
            <a:ext cx="54864" cy="96012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7"/>
          <p:cNvSpPr/>
          <p:nvPr/>
        </p:nvSpPr>
        <p:spPr>
          <a:xfrm>
            <a:off x="411480" y="932688"/>
            <a:ext cx="1783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2800"/>
              <a:buFont typeface="Calibri"/>
              <a:buNone/>
            </a:pPr>
            <a:r>
              <a:rPr b="1" i="0" lang="en-US" sz="2800" u="none" cap="none" strike="noStrike">
                <a:solidFill>
                  <a:srgbClr val="1565A0"/>
                </a:solidFill>
                <a:latin typeface="Calibri"/>
                <a:ea typeface="Calibri"/>
                <a:cs typeface="Calibri"/>
                <a:sym typeface="Calibri"/>
              </a:rPr>
              <a:t>4.78 / 5</a:t>
            </a:r>
            <a:endParaRPr b="0" i="0" sz="2800" u="none" cap="none" strike="noStrike">
              <a:solidFill>
                <a:srgbClr val="1565A0"/>
              </a:solidFill>
              <a:latin typeface="Calibri"/>
              <a:ea typeface="Calibri"/>
              <a:cs typeface="Calibri"/>
              <a:sym typeface="Calibri"/>
            </a:endParaRPr>
          </a:p>
        </p:txBody>
      </p:sp>
      <p:sp>
        <p:nvSpPr>
          <p:cNvPr id="110" name="Google Shape;110;p17"/>
          <p:cNvSpPr/>
          <p:nvPr/>
        </p:nvSpPr>
        <p:spPr>
          <a:xfrm>
            <a:off x="411480" y="1325880"/>
            <a:ext cx="17830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100"/>
              <a:buFont typeface="Calibri"/>
              <a:buNone/>
            </a:pPr>
            <a:r>
              <a:rPr b="1" i="0" lang="en-US" sz="1100" u="none" cap="none" strike="noStrike">
                <a:solidFill>
                  <a:srgbClr val="2C2C2C"/>
                </a:solidFill>
                <a:latin typeface="Calibri"/>
                <a:ea typeface="Calibri"/>
                <a:cs typeface="Calibri"/>
                <a:sym typeface="Calibri"/>
              </a:rPr>
              <a:t>Avg Overall Rating</a:t>
            </a:r>
            <a:endParaRPr b="0" i="0" sz="1100" u="none" cap="none" strike="noStrike">
              <a:solidFill>
                <a:schemeClr val="dk1"/>
              </a:solidFill>
              <a:latin typeface="Calibri"/>
              <a:ea typeface="Calibri"/>
              <a:cs typeface="Calibri"/>
              <a:sym typeface="Calibri"/>
            </a:endParaRPr>
          </a:p>
        </p:txBody>
      </p:sp>
      <p:sp>
        <p:nvSpPr>
          <p:cNvPr id="111" name="Google Shape;111;p17"/>
          <p:cNvSpPr/>
          <p:nvPr/>
        </p:nvSpPr>
        <p:spPr>
          <a:xfrm>
            <a:off x="411480" y="1508760"/>
            <a:ext cx="17830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Median 5.0</a:t>
            </a:r>
            <a:endParaRPr b="0" i="0" sz="900" u="none" cap="none" strike="noStrike">
              <a:solidFill>
                <a:schemeClr val="dk1"/>
              </a:solidFill>
              <a:latin typeface="Calibri"/>
              <a:ea typeface="Calibri"/>
              <a:cs typeface="Calibri"/>
              <a:sym typeface="Calibri"/>
            </a:endParaRPr>
          </a:p>
        </p:txBody>
      </p:sp>
      <p:sp>
        <p:nvSpPr>
          <p:cNvPr id="112" name="Google Shape;112;p17"/>
          <p:cNvSpPr/>
          <p:nvPr/>
        </p:nvSpPr>
        <p:spPr>
          <a:xfrm>
            <a:off x="2377440" y="822960"/>
            <a:ext cx="1965960" cy="960120"/>
          </a:xfrm>
          <a:prstGeom prst="rect">
            <a:avLst/>
          </a:prstGeom>
          <a:solidFill>
            <a:srgbClr val="FFFFFF"/>
          </a:solidFill>
          <a:ln cap="flat" cmpd="sng" w="9525">
            <a:solidFill>
              <a:srgbClr val="EEEEEE"/>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7"/>
          <p:cNvSpPr/>
          <p:nvPr/>
        </p:nvSpPr>
        <p:spPr>
          <a:xfrm>
            <a:off x="2377440" y="822960"/>
            <a:ext cx="54864" cy="96012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7"/>
          <p:cNvSpPr/>
          <p:nvPr/>
        </p:nvSpPr>
        <p:spPr>
          <a:xfrm>
            <a:off x="2514600" y="932688"/>
            <a:ext cx="1783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2800"/>
              <a:buFont typeface="Calibri"/>
              <a:buNone/>
            </a:pPr>
            <a:r>
              <a:rPr b="1" i="0" lang="en-US" sz="2800" u="none" cap="none" strike="noStrike">
                <a:solidFill>
                  <a:srgbClr val="1565A0"/>
                </a:solidFill>
                <a:latin typeface="Calibri"/>
                <a:ea typeface="Calibri"/>
                <a:cs typeface="Calibri"/>
                <a:sym typeface="Calibri"/>
              </a:rPr>
              <a:t>96.7%</a:t>
            </a:r>
            <a:endParaRPr b="0" i="0" sz="2800" u="none" cap="none" strike="noStrike">
              <a:solidFill>
                <a:srgbClr val="1565A0"/>
              </a:solidFill>
              <a:latin typeface="Calibri"/>
              <a:ea typeface="Calibri"/>
              <a:cs typeface="Calibri"/>
              <a:sym typeface="Calibri"/>
            </a:endParaRPr>
          </a:p>
        </p:txBody>
      </p:sp>
      <p:sp>
        <p:nvSpPr>
          <p:cNvPr id="115" name="Google Shape;115;p17"/>
          <p:cNvSpPr/>
          <p:nvPr/>
        </p:nvSpPr>
        <p:spPr>
          <a:xfrm>
            <a:off x="2514600" y="1325880"/>
            <a:ext cx="17830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100"/>
              <a:buFont typeface="Calibri"/>
              <a:buNone/>
            </a:pPr>
            <a:r>
              <a:rPr b="1" i="0" lang="en-US" sz="1100" u="none" cap="none" strike="noStrike">
                <a:solidFill>
                  <a:srgbClr val="2C2C2C"/>
                </a:solidFill>
                <a:latin typeface="Calibri"/>
                <a:ea typeface="Calibri"/>
                <a:cs typeface="Calibri"/>
                <a:sym typeface="Calibri"/>
              </a:rPr>
              <a:t>Positive Sentiment</a:t>
            </a:r>
            <a:endParaRPr b="0" i="0" sz="1100" u="none" cap="none" strike="noStrike">
              <a:solidFill>
                <a:schemeClr val="dk1"/>
              </a:solidFill>
              <a:latin typeface="Calibri"/>
              <a:ea typeface="Calibri"/>
              <a:cs typeface="Calibri"/>
              <a:sym typeface="Calibri"/>
            </a:endParaRPr>
          </a:p>
        </p:txBody>
      </p:sp>
      <p:sp>
        <p:nvSpPr>
          <p:cNvPr id="116" name="Google Shape;116;p17"/>
          <p:cNvSpPr/>
          <p:nvPr/>
        </p:nvSpPr>
        <p:spPr>
          <a:xfrm>
            <a:off x="2514600" y="1508760"/>
            <a:ext cx="17830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791 of 818 reviews</a:t>
            </a:r>
            <a:endParaRPr b="0" i="0" sz="900" u="none" cap="none" strike="noStrike">
              <a:solidFill>
                <a:schemeClr val="dk1"/>
              </a:solidFill>
              <a:latin typeface="Calibri"/>
              <a:ea typeface="Calibri"/>
              <a:cs typeface="Calibri"/>
              <a:sym typeface="Calibri"/>
            </a:endParaRPr>
          </a:p>
        </p:txBody>
      </p:sp>
      <p:sp>
        <p:nvSpPr>
          <p:cNvPr id="117" name="Google Shape;117;p17"/>
          <p:cNvSpPr/>
          <p:nvPr/>
        </p:nvSpPr>
        <p:spPr>
          <a:xfrm>
            <a:off x="4480560" y="822960"/>
            <a:ext cx="1965960" cy="960120"/>
          </a:xfrm>
          <a:prstGeom prst="rect">
            <a:avLst/>
          </a:prstGeom>
          <a:solidFill>
            <a:srgbClr val="FFFFFF"/>
          </a:solidFill>
          <a:ln cap="flat" cmpd="sng" w="9525">
            <a:solidFill>
              <a:srgbClr val="EEEEEE"/>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7"/>
          <p:cNvSpPr/>
          <p:nvPr/>
        </p:nvSpPr>
        <p:spPr>
          <a:xfrm>
            <a:off x="4480560" y="822960"/>
            <a:ext cx="54864" cy="96012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7"/>
          <p:cNvSpPr/>
          <p:nvPr/>
        </p:nvSpPr>
        <p:spPr>
          <a:xfrm>
            <a:off x="4617720" y="932688"/>
            <a:ext cx="1783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2800"/>
              <a:buFont typeface="Calibri"/>
              <a:buNone/>
            </a:pPr>
            <a:r>
              <a:rPr b="1" i="0" lang="en-US" sz="2800" u="none" cap="none" strike="noStrike">
                <a:solidFill>
                  <a:srgbClr val="1565A0"/>
                </a:solidFill>
                <a:latin typeface="Calibri"/>
                <a:ea typeface="Calibri"/>
                <a:cs typeface="Calibri"/>
                <a:sym typeface="Calibri"/>
              </a:rPr>
              <a:t>4.85</a:t>
            </a:r>
            <a:endParaRPr b="0" i="0" sz="2800" u="none" cap="none" strike="noStrike">
              <a:solidFill>
                <a:srgbClr val="1565A0"/>
              </a:solidFill>
              <a:latin typeface="Calibri"/>
              <a:ea typeface="Calibri"/>
              <a:cs typeface="Calibri"/>
              <a:sym typeface="Calibri"/>
            </a:endParaRPr>
          </a:p>
        </p:txBody>
      </p:sp>
      <p:sp>
        <p:nvSpPr>
          <p:cNvPr id="120" name="Google Shape;120;p17"/>
          <p:cNvSpPr/>
          <p:nvPr/>
        </p:nvSpPr>
        <p:spPr>
          <a:xfrm>
            <a:off x="4617720" y="1325880"/>
            <a:ext cx="17830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100"/>
              <a:buFont typeface="Calibri"/>
              <a:buNone/>
            </a:pPr>
            <a:r>
              <a:rPr b="1" i="0" lang="en-US" sz="1100" u="none" cap="none" strike="noStrike">
                <a:solidFill>
                  <a:srgbClr val="2C2C2C"/>
                </a:solidFill>
                <a:latin typeface="Calibri"/>
                <a:ea typeface="Calibri"/>
                <a:cs typeface="Calibri"/>
                <a:sym typeface="Calibri"/>
              </a:rPr>
              <a:t>Instructor Rating</a:t>
            </a:r>
            <a:endParaRPr b="0" i="0" sz="1100" u="none" cap="none" strike="noStrike">
              <a:solidFill>
                <a:schemeClr val="dk1"/>
              </a:solidFill>
              <a:latin typeface="Calibri"/>
              <a:ea typeface="Calibri"/>
              <a:cs typeface="Calibri"/>
              <a:sym typeface="Calibri"/>
            </a:endParaRPr>
          </a:p>
        </p:txBody>
      </p:sp>
      <p:sp>
        <p:nvSpPr>
          <p:cNvPr id="121" name="Google Shape;121;p17"/>
          <p:cNvSpPr/>
          <p:nvPr/>
        </p:nvSpPr>
        <p:spPr>
          <a:xfrm>
            <a:off x="4617720" y="1508760"/>
            <a:ext cx="17830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Highest rated dimension</a:t>
            </a:r>
            <a:endParaRPr b="0" i="0" sz="900" u="none" cap="none" strike="noStrike">
              <a:solidFill>
                <a:schemeClr val="dk1"/>
              </a:solidFill>
              <a:latin typeface="Calibri"/>
              <a:ea typeface="Calibri"/>
              <a:cs typeface="Calibri"/>
              <a:sym typeface="Calibri"/>
            </a:endParaRPr>
          </a:p>
        </p:txBody>
      </p:sp>
      <p:sp>
        <p:nvSpPr>
          <p:cNvPr id="122" name="Google Shape;122;p17"/>
          <p:cNvSpPr/>
          <p:nvPr/>
        </p:nvSpPr>
        <p:spPr>
          <a:xfrm>
            <a:off x="6583680" y="822960"/>
            <a:ext cx="2286000" cy="960120"/>
          </a:xfrm>
          <a:prstGeom prst="rect">
            <a:avLst/>
          </a:prstGeom>
          <a:solidFill>
            <a:srgbClr val="FFFFFF"/>
          </a:solidFill>
          <a:ln cap="flat" cmpd="sng" w="9525">
            <a:solidFill>
              <a:srgbClr val="EEEEEE"/>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p:nvPr/>
        </p:nvSpPr>
        <p:spPr>
          <a:xfrm>
            <a:off x="6583680" y="822960"/>
            <a:ext cx="54864" cy="96012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7"/>
          <p:cNvSpPr/>
          <p:nvPr/>
        </p:nvSpPr>
        <p:spPr>
          <a:xfrm>
            <a:off x="6720840" y="932688"/>
            <a:ext cx="21031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2800"/>
              <a:buFont typeface="Calibri"/>
              <a:buNone/>
            </a:pPr>
            <a:r>
              <a:rPr b="1" i="0" lang="en-US" sz="2800" u="none" cap="none" strike="noStrike">
                <a:solidFill>
                  <a:srgbClr val="1565A0"/>
                </a:solidFill>
                <a:latin typeface="Calibri"/>
                <a:ea typeface="Calibri"/>
                <a:cs typeface="Calibri"/>
                <a:sym typeface="Calibri"/>
              </a:rPr>
              <a:t>4.54</a:t>
            </a:r>
            <a:endParaRPr b="0" i="0" sz="2800" u="none" cap="none" strike="noStrike">
              <a:solidFill>
                <a:srgbClr val="1565A0"/>
              </a:solidFill>
              <a:latin typeface="Calibri"/>
              <a:ea typeface="Calibri"/>
              <a:cs typeface="Calibri"/>
              <a:sym typeface="Calibri"/>
            </a:endParaRPr>
          </a:p>
        </p:txBody>
      </p:sp>
      <p:sp>
        <p:nvSpPr>
          <p:cNvPr id="125" name="Google Shape;125;p17"/>
          <p:cNvSpPr/>
          <p:nvPr/>
        </p:nvSpPr>
        <p:spPr>
          <a:xfrm>
            <a:off x="6720840" y="1325880"/>
            <a:ext cx="21031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100"/>
              <a:buFont typeface="Calibri"/>
              <a:buNone/>
            </a:pPr>
            <a:r>
              <a:rPr b="1" i="0" lang="en-US" sz="1100" u="none" cap="none" strike="noStrike">
                <a:solidFill>
                  <a:srgbClr val="2C2C2C"/>
                </a:solidFill>
                <a:latin typeface="Calibri"/>
                <a:ea typeface="Calibri"/>
                <a:cs typeface="Calibri"/>
                <a:sym typeface="Calibri"/>
              </a:rPr>
              <a:t>Job Assistance Rating</a:t>
            </a:r>
            <a:endParaRPr b="0" i="0" sz="1100" u="none" cap="none" strike="noStrike">
              <a:solidFill>
                <a:schemeClr val="dk1"/>
              </a:solidFill>
              <a:latin typeface="Calibri"/>
              <a:ea typeface="Calibri"/>
              <a:cs typeface="Calibri"/>
              <a:sym typeface="Calibri"/>
            </a:endParaRPr>
          </a:p>
        </p:txBody>
      </p:sp>
      <p:sp>
        <p:nvSpPr>
          <p:cNvPr id="126" name="Google Shape;126;p17"/>
          <p:cNvSpPr/>
          <p:nvPr/>
        </p:nvSpPr>
        <p:spPr>
          <a:xfrm>
            <a:off x="6720840" y="1508760"/>
            <a:ext cx="21031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Lowest rated dimension</a:t>
            </a:r>
            <a:endParaRPr b="0" i="0" sz="900" u="none" cap="none" strike="noStrike">
              <a:solidFill>
                <a:schemeClr val="dk1"/>
              </a:solidFill>
              <a:latin typeface="Calibri"/>
              <a:ea typeface="Calibri"/>
              <a:cs typeface="Calibri"/>
              <a:sym typeface="Calibri"/>
            </a:endParaRPr>
          </a:p>
        </p:txBody>
      </p:sp>
      <p:sp>
        <p:nvSpPr>
          <p:cNvPr id="127" name="Google Shape;127;p17"/>
          <p:cNvSpPr/>
          <p:nvPr/>
        </p:nvSpPr>
        <p:spPr>
          <a:xfrm>
            <a:off x="274320" y="1920240"/>
            <a:ext cx="5303520" cy="2560320"/>
          </a:xfrm>
          <a:prstGeom prst="rect">
            <a:avLst/>
          </a:prstGeom>
          <a:solidFill>
            <a:srgbClr val="FFFFFF"/>
          </a:solidFill>
          <a:ln cap="flat" cmpd="sng" w="9525">
            <a:solidFill>
              <a:srgbClr val="EEEEEE"/>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7"/>
          <p:cNvSpPr/>
          <p:nvPr/>
        </p:nvSpPr>
        <p:spPr>
          <a:xfrm>
            <a:off x="457200" y="2011680"/>
            <a:ext cx="4937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200"/>
              <a:buFont typeface="Calibri"/>
              <a:buNone/>
            </a:pPr>
            <a:r>
              <a:rPr b="1" i="0" lang="en-US" sz="1200" u="none" cap="none" strike="noStrike">
                <a:solidFill>
                  <a:srgbClr val="2C2C2C"/>
                </a:solidFill>
                <a:latin typeface="Calibri"/>
                <a:ea typeface="Calibri"/>
                <a:cs typeface="Calibri"/>
                <a:sym typeface="Calibri"/>
              </a:rPr>
              <a:t>Rating Distribution</a:t>
            </a:r>
            <a:endParaRPr b="0" i="0" sz="1200" u="none" cap="none" strike="noStrike">
              <a:solidFill>
                <a:schemeClr val="dk1"/>
              </a:solidFill>
              <a:latin typeface="Calibri"/>
              <a:ea typeface="Calibri"/>
              <a:cs typeface="Calibri"/>
              <a:sym typeface="Calibri"/>
            </a:endParaRPr>
          </a:p>
        </p:txBody>
      </p:sp>
      <p:sp>
        <p:nvSpPr>
          <p:cNvPr id="129" name="Google Shape;129;p17"/>
          <p:cNvSpPr/>
          <p:nvPr/>
        </p:nvSpPr>
        <p:spPr>
          <a:xfrm>
            <a:off x="457200" y="2395728"/>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0" lang="en-US" sz="1000" u="none" cap="none" strike="noStrike">
                <a:solidFill>
                  <a:srgbClr val="2C2C2C"/>
                </a:solidFill>
                <a:latin typeface="Calibri"/>
                <a:ea typeface="Calibri"/>
                <a:cs typeface="Calibri"/>
                <a:sym typeface="Calibri"/>
              </a:rPr>
              <a:t>5 stars</a:t>
            </a:r>
            <a:endParaRPr b="0" i="0" sz="1000" u="none" cap="none" strike="noStrike">
              <a:solidFill>
                <a:schemeClr val="dk1"/>
              </a:solidFill>
              <a:latin typeface="Calibri"/>
              <a:ea typeface="Calibri"/>
              <a:cs typeface="Calibri"/>
              <a:sym typeface="Calibri"/>
            </a:endParaRPr>
          </a:p>
        </p:txBody>
      </p:sp>
      <p:sp>
        <p:nvSpPr>
          <p:cNvPr id="130" name="Google Shape;130;p17"/>
          <p:cNvSpPr/>
          <p:nvPr/>
        </p:nvSpPr>
        <p:spPr>
          <a:xfrm>
            <a:off x="1417320" y="2441448"/>
            <a:ext cx="2154326" cy="201168"/>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7"/>
          <p:cNvSpPr/>
          <p:nvPr/>
        </p:nvSpPr>
        <p:spPr>
          <a:xfrm>
            <a:off x="1417320" y="2441448"/>
            <a:ext cx="3474720" cy="201168"/>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7"/>
          <p:cNvSpPr/>
          <p:nvPr/>
        </p:nvSpPr>
        <p:spPr>
          <a:xfrm>
            <a:off x="1417320" y="2441448"/>
            <a:ext cx="2154326" cy="201168"/>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7"/>
          <p:cNvSpPr/>
          <p:nvPr/>
        </p:nvSpPr>
        <p:spPr>
          <a:xfrm>
            <a:off x="457200" y="2798064"/>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0" lang="en-US" sz="1000" u="none" cap="none" strike="noStrike">
                <a:solidFill>
                  <a:srgbClr val="2C2C2C"/>
                </a:solidFill>
                <a:latin typeface="Calibri"/>
                <a:ea typeface="Calibri"/>
                <a:cs typeface="Calibri"/>
                <a:sym typeface="Calibri"/>
              </a:rPr>
              <a:t>4 stars</a:t>
            </a:r>
            <a:endParaRPr b="0" i="0" sz="1000" u="none" cap="none" strike="noStrike">
              <a:solidFill>
                <a:schemeClr val="dk1"/>
              </a:solidFill>
              <a:latin typeface="Calibri"/>
              <a:ea typeface="Calibri"/>
              <a:cs typeface="Calibri"/>
              <a:sym typeface="Calibri"/>
            </a:endParaRPr>
          </a:p>
        </p:txBody>
      </p:sp>
      <p:sp>
        <p:nvSpPr>
          <p:cNvPr id="134" name="Google Shape;134;p17"/>
          <p:cNvSpPr/>
          <p:nvPr/>
        </p:nvSpPr>
        <p:spPr>
          <a:xfrm>
            <a:off x="1417320" y="2843784"/>
            <a:ext cx="972922" cy="201168"/>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7"/>
          <p:cNvSpPr/>
          <p:nvPr/>
        </p:nvSpPr>
        <p:spPr>
          <a:xfrm>
            <a:off x="1417320" y="2843784"/>
            <a:ext cx="3474720" cy="201168"/>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7"/>
          <p:cNvSpPr/>
          <p:nvPr/>
        </p:nvSpPr>
        <p:spPr>
          <a:xfrm>
            <a:off x="1417320" y="2843784"/>
            <a:ext cx="972922" cy="201168"/>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7"/>
          <p:cNvSpPr/>
          <p:nvPr/>
        </p:nvSpPr>
        <p:spPr>
          <a:xfrm>
            <a:off x="457200" y="32004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0" lang="en-US" sz="1000" u="none" cap="none" strike="noStrike">
                <a:solidFill>
                  <a:srgbClr val="2C2C2C"/>
                </a:solidFill>
                <a:latin typeface="Calibri"/>
                <a:ea typeface="Calibri"/>
                <a:cs typeface="Calibri"/>
                <a:sym typeface="Calibri"/>
              </a:rPr>
              <a:t>3 stars</a:t>
            </a:r>
            <a:endParaRPr b="0" i="0" sz="1000" u="none" cap="none" strike="noStrike">
              <a:solidFill>
                <a:schemeClr val="dk1"/>
              </a:solidFill>
              <a:latin typeface="Calibri"/>
              <a:ea typeface="Calibri"/>
              <a:cs typeface="Calibri"/>
              <a:sym typeface="Calibri"/>
            </a:endParaRPr>
          </a:p>
        </p:txBody>
      </p:sp>
      <p:sp>
        <p:nvSpPr>
          <p:cNvPr id="138" name="Google Shape;138;p17"/>
          <p:cNvSpPr/>
          <p:nvPr/>
        </p:nvSpPr>
        <p:spPr>
          <a:xfrm>
            <a:off x="1417320" y="3246120"/>
            <a:ext cx="173736" cy="201168"/>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7"/>
          <p:cNvSpPr/>
          <p:nvPr/>
        </p:nvSpPr>
        <p:spPr>
          <a:xfrm>
            <a:off x="1417320" y="3246120"/>
            <a:ext cx="3474720" cy="201168"/>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7"/>
          <p:cNvSpPr/>
          <p:nvPr/>
        </p:nvSpPr>
        <p:spPr>
          <a:xfrm>
            <a:off x="1417320" y="3246120"/>
            <a:ext cx="173736" cy="201168"/>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7"/>
          <p:cNvSpPr/>
          <p:nvPr/>
        </p:nvSpPr>
        <p:spPr>
          <a:xfrm>
            <a:off x="457200" y="3602736"/>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0" lang="en-US" sz="1000" u="none" cap="none" strike="noStrike">
                <a:solidFill>
                  <a:srgbClr val="2C2C2C"/>
                </a:solidFill>
                <a:latin typeface="Calibri"/>
                <a:ea typeface="Calibri"/>
                <a:cs typeface="Calibri"/>
                <a:sym typeface="Calibri"/>
              </a:rPr>
              <a:t>2 stars</a:t>
            </a:r>
            <a:endParaRPr b="0" i="0" sz="1000" u="none" cap="none" strike="noStrike">
              <a:solidFill>
                <a:schemeClr val="dk1"/>
              </a:solidFill>
              <a:latin typeface="Calibri"/>
              <a:ea typeface="Calibri"/>
              <a:cs typeface="Calibri"/>
              <a:sym typeface="Calibri"/>
            </a:endParaRPr>
          </a:p>
        </p:txBody>
      </p:sp>
      <p:sp>
        <p:nvSpPr>
          <p:cNvPr id="142" name="Google Shape;142;p17"/>
          <p:cNvSpPr/>
          <p:nvPr/>
        </p:nvSpPr>
        <p:spPr>
          <a:xfrm>
            <a:off x="1417320" y="3648456"/>
            <a:ext cx="104242" cy="201168"/>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7"/>
          <p:cNvSpPr/>
          <p:nvPr/>
        </p:nvSpPr>
        <p:spPr>
          <a:xfrm>
            <a:off x="1417320" y="3648456"/>
            <a:ext cx="3474720" cy="201168"/>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7"/>
          <p:cNvSpPr/>
          <p:nvPr/>
        </p:nvSpPr>
        <p:spPr>
          <a:xfrm>
            <a:off x="1417320" y="3648456"/>
            <a:ext cx="104242" cy="201168"/>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7"/>
          <p:cNvSpPr/>
          <p:nvPr/>
        </p:nvSpPr>
        <p:spPr>
          <a:xfrm>
            <a:off x="457200" y="4005072"/>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0" lang="en-US" sz="1000" u="none" cap="none" strike="noStrike">
                <a:solidFill>
                  <a:srgbClr val="2C2C2C"/>
                </a:solidFill>
                <a:latin typeface="Calibri"/>
                <a:ea typeface="Calibri"/>
                <a:cs typeface="Calibri"/>
                <a:sym typeface="Calibri"/>
              </a:rPr>
              <a:t>1 star</a:t>
            </a:r>
            <a:endParaRPr b="0" i="0" sz="1000" u="none" cap="none" strike="noStrike">
              <a:solidFill>
                <a:schemeClr val="dk1"/>
              </a:solidFill>
              <a:latin typeface="Calibri"/>
              <a:ea typeface="Calibri"/>
              <a:cs typeface="Calibri"/>
              <a:sym typeface="Calibri"/>
            </a:endParaRPr>
          </a:p>
        </p:txBody>
      </p:sp>
      <p:sp>
        <p:nvSpPr>
          <p:cNvPr id="146" name="Google Shape;146;p17"/>
          <p:cNvSpPr/>
          <p:nvPr/>
        </p:nvSpPr>
        <p:spPr>
          <a:xfrm>
            <a:off x="1417320" y="4050792"/>
            <a:ext cx="69494" cy="201168"/>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7"/>
          <p:cNvSpPr/>
          <p:nvPr/>
        </p:nvSpPr>
        <p:spPr>
          <a:xfrm>
            <a:off x="1417320" y="4050792"/>
            <a:ext cx="3474720" cy="201168"/>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7"/>
          <p:cNvSpPr/>
          <p:nvPr/>
        </p:nvSpPr>
        <p:spPr>
          <a:xfrm>
            <a:off x="1417320" y="4050792"/>
            <a:ext cx="69494" cy="201168"/>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 name="Google Shape;149;p17"/>
          <p:cNvGrpSpPr/>
          <p:nvPr/>
        </p:nvGrpSpPr>
        <p:grpSpPr>
          <a:xfrm>
            <a:off x="4480548" y="2400291"/>
            <a:ext cx="1097280" cy="1883664"/>
            <a:chOff x="4937760" y="2395728"/>
            <a:chExt cx="1097280" cy="1883664"/>
          </a:xfrm>
        </p:grpSpPr>
        <p:sp>
          <p:nvSpPr>
            <p:cNvPr id="150" name="Google Shape;150;p17"/>
            <p:cNvSpPr/>
            <p:nvPr/>
          </p:nvSpPr>
          <p:spPr>
            <a:xfrm>
              <a:off x="4937760" y="2395728"/>
              <a:ext cx="457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00"/>
                <a:buFont typeface="Calibri"/>
                <a:buNone/>
              </a:pPr>
              <a:r>
                <a:rPr b="1" i="0" lang="en-US" sz="1000" u="none" cap="none" strike="noStrike">
                  <a:solidFill>
                    <a:srgbClr val="1565A0"/>
                  </a:solidFill>
                  <a:latin typeface="Calibri"/>
                  <a:ea typeface="Calibri"/>
                  <a:cs typeface="Calibri"/>
                  <a:sym typeface="Calibri"/>
                </a:rPr>
                <a:t>62%</a:t>
              </a:r>
              <a:endParaRPr b="0" i="0" sz="1000" u="none" cap="none" strike="noStrike">
                <a:solidFill>
                  <a:srgbClr val="1565A0"/>
                </a:solidFill>
                <a:latin typeface="Calibri"/>
                <a:ea typeface="Calibri"/>
                <a:cs typeface="Calibri"/>
                <a:sym typeface="Calibri"/>
              </a:endParaRPr>
            </a:p>
          </p:txBody>
        </p:sp>
        <p:sp>
          <p:nvSpPr>
            <p:cNvPr id="151" name="Google Shape;151;p17"/>
            <p:cNvSpPr/>
            <p:nvPr/>
          </p:nvSpPr>
          <p:spPr>
            <a:xfrm>
              <a:off x="5394960" y="2395728"/>
              <a:ext cx="640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n=508</a:t>
              </a:r>
              <a:endParaRPr b="0" i="0" sz="900" u="none" cap="none" strike="noStrike">
                <a:solidFill>
                  <a:schemeClr val="dk1"/>
                </a:solidFill>
                <a:latin typeface="Calibri"/>
                <a:ea typeface="Calibri"/>
                <a:cs typeface="Calibri"/>
                <a:sym typeface="Calibri"/>
              </a:endParaRPr>
            </a:p>
          </p:txBody>
        </p:sp>
        <p:sp>
          <p:nvSpPr>
            <p:cNvPr id="152" name="Google Shape;152;p17"/>
            <p:cNvSpPr/>
            <p:nvPr/>
          </p:nvSpPr>
          <p:spPr>
            <a:xfrm>
              <a:off x="4937760" y="2798064"/>
              <a:ext cx="457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00"/>
                <a:buFont typeface="Calibri"/>
                <a:buNone/>
              </a:pPr>
              <a:r>
                <a:rPr b="1" i="0" lang="en-US" sz="1000" u="none" cap="none" strike="noStrike">
                  <a:solidFill>
                    <a:srgbClr val="1565A0"/>
                  </a:solidFill>
                  <a:latin typeface="Calibri"/>
                  <a:ea typeface="Calibri"/>
                  <a:cs typeface="Calibri"/>
                  <a:sym typeface="Calibri"/>
                </a:rPr>
                <a:t>28%</a:t>
              </a:r>
              <a:endParaRPr b="0" i="0" sz="1000" u="none" cap="none" strike="noStrike">
                <a:solidFill>
                  <a:srgbClr val="1565A0"/>
                </a:solidFill>
                <a:latin typeface="Calibri"/>
                <a:ea typeface="Calibri"/>
                <a:cs typeface="Calibri"/>
                <a:sym typeface="Calibri"/>
              </a:endParaRPr>
            </a:p>
          </p:txBody>
        </p:sp>
        <p:sp>
          <p:nvSpPr>
            <p:cNvPr id="153" name="Google Shape;153;p17"/>
            <p:cNvSpPr/>
            <p:nvPr/>
          </p:nvSpPr>
          <p:spPr>
            <a:xfrm>
              <a:off x="5394960" y="2798064"/>
              <a:ext cx="640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n=229</a:t>
              </a:r>
              <a:endParaRPr b="0" i="0" sz="900" u="none" cap="none" strike="noStrike">
                <a:solidFill>
                  <a:schemeClr val="dk1"/>
                </a:solidFill>
                <a:latin typeface="Calibri"/>
                <a:ea typeface="Calibri"/>
                <a:cs typeface="Calibri"/>
                <a:sym typeface="Calibri"/>
              </a:endParaRPr>
            </a:p>
          </p:txBody>
        </p:sp>
        <p:sp>
          <p:nvSpPr>
            <p:cNvPr id="154" name="Google Shape;154;p17"/>
            <p:cNvSpPr/>
            <p:nvPr/>
          </p:nvSpPr>
          <p:spPr>
            <a:xfrm>
              <a:off x="4937760" y="3200400"/>
              <a:ext cx="457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00"/>
                <a:buFont typeface="Calibri"/>
                <a:buNone/>
              </a:pPr>
              <a:r>
                <a:rPr b="1" i="0" lang="en-US" sz="1000" u="none" cap="none" strike="noStrike">
                  <a:solidFill>
                    <a:srgbClr val="1565A0"/>
                  </a:solidFill>
                  <a:latin typeface="Calibri"/>
                  <a:ea typeface="Calibri"/>
                  <a:cs typeface="Calibri"/>
                  <a:sym typeface="Calibri"/>
                </a:rPr>
                <a:t>5%</a:t>
              </a:r>
              <a:endParaRPr b="0" i="0" sz="1000" u="none" cap="none" strike="noStrike">
                <a:solidFill>
                  <a:srgbClr val="1565A0"/>
                </a:solidFill>
                <a:latin typeface="Calibri"/>
                <a:ea typeface="Calibri"/>
                <a:cs typeface="Calibri"/>
                <a:sym typeface="Calibri"/>
              </a:endParaRPr>
            </a:p>
          </p:txBody>
        </p:sp>
        <p:sp>
          <p:nvSpPr>
            <p:cNvPr id="155" name="Google Shape;155;p17"/>
            <p:cNvSpPr/>
            <p:nvPr/>
          </p:nvSpPr>
          <p:spPr>
            <a:xfrm>
              <a:off x="5394960" y="3200400"/>
              <a:ext cx="640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n=41</a:t>
              </a:r>
              <a:endParaRPr b="0" i="0" sz="900" u="none" cap="none" strike="noStrike">
                <a:solidFill>
                  <a:schemeClr val="dk1"/>
                </a:solidFill>
                <a:latin typeface="Calibri"/>
                <a:ea typeface="Calibri"/>
                <a:cs typeface="Calibri"/>
                <a:sym typeface="Calibri"/>
              </a:endParaRPr>
            </a:p>
          </p:txBody>
        </p:sp>
        <p:sp>
          <p:nvSpPr>
            <p:cNvPr id="156" name="Google Shape;156;p17"/>
            <p:cNvSpPr/>
            <p:nvPr/>
          </p:nvSpPr>
          <p:spPr>
            <a:xfrm>
              <a:off x="4937760" y="3602736"/>
              <a:ext cx="457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00"/>
                <a:buFont typeface="Calibri"/>
                <a:buNone/>
              </a:pPr>
              <a:r>
                <a:rPr b="1" i="0" lang="en-US" sz="1000" u="none" cap="none" strike="noStrike">
                  <a:solidFill>
                    <a:srgbClr val="1565A0"/>
                  </a:solidFill>
                  <a:latin typeface="Calibri"/>
                  <a:ea typeface="Calibri"/>
                  <a:cs typeface="Calibri"/>
                  <a:sym typeface="Calibri"/>
                </a:rPr>
                <a:t>3%</a:t>
              </a:r>
              <a:endParaRPr b="0" i="0" sz="1000" u="none" cap="none" strike="noStrike">
                <a:solidFill>
                  <a:srgbClr val="1565A0"/>
                </a:solidFill>
                <a:latin typeface="Calibri"/>
                <a:ea typeface="Calibri"/>
                <a:cs typeface="Calibri"/>
                <a:sym typeface="Calibri"/>
              </a:endParaRPr>
            </a:p>
          </p:txBody>
        </p:sp>
        <p:sp>
          <p:nvSpPr>
            <p:cNvPr id="157" name="Google Shape;157;p17"/>
            <p:cNvSpPr/>
            <p:nvPr/>
          </p:nvSpPr>
          <p:spPr>
            <a:xfrm>
              <a:off x="5394960" y="3602736"/>
              <a:ext cx="640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n=25</a:t>
              </a:r>
              <a:endParaRPr b="0" i="0" sz="900" u="none" cap="none" strike="noStrike">
                <a:solidFill>
                  <a:schemeClr val="dk1"/>
                </a:solidFill>
                <a:latin typeface="Calibri"/>
                <a:ea typeface="Calibri"/>
                <a:cs typeface="Calibri"/>
                <a:sym typeface="Calibri"/>
              </a:endParaRPr>
            </a:p>
          </p:txBody>
        </p:sp>
        <p:sp>
          <p:nvSpPr>
            <p:cNvPr id="158" name="Google Shape;158;p17"/>
            <p:cNvSpPr/>
            <p:nvPr/>
          </p:nvSpPr>
          <p:spPr>
            <a:xfrm>
              <a:off x="4937760" y="4005072"/>
              <a:ext cx="457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00"/>
                <a:buFont typeface="Calibri"/>
                <a:buNone/>
              </a:pPr>
              <a:r>
                <a:rPr b="1" i="0" lang="en-US" sz="1000" u="none" cap="none" strike="noStrike">
                  <a:solidFill>
                    <a:srgbClr val="1565A0"/>
                  </a:solidFill>
                  <a:latin typeface="Calibri"/>
                  <a:ea typeface="Calibri"/>
                  <a:cs typeface="Calibri"/>
                  <a:sym typeface="Calibri"/>
                </a:rPr>
                <a:t>2%</a:t>
              </a:r>
              <a:endParaRPr b="0" i="0" sz="1000" u="none" cap="none" strike="noStrike">
                <a:solidFill>
                  <a:srgbClr val="1565A0"/>
                </a:solidFill>
                <a:latin typeface="Calibri"/>
                <a:ea typeface="Calibri"/>
                <a:cs typeface="Calibri"/>
                <a:sym typeface="Calibri"/>
              </a:endParaRPr>
            </a:p>
          </p:txBody>
        </p:sp>
        <p:sp>
          <p:nvSpPr>
            <p:cNvPr id="159" name="Google Shape;159;p17"/>
            <p:cNvSpPr/>
            <p:nvPr/>
          </p:nvSpPr>
          <p:spPr>
            <a:xfrm>
              <a:off x="5394960" y="4005072"/>
              <a:ext cx="640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n=15</a:t>
              </a:r>
              <a:endParaRPr b="0" i="0" sz="900" u="none" cap="none" strike="noStrike">
                <a:solidFill>
                  <a:schemeClr val="dk1"/>
                </a:solidFill>
                <a:latin typeface="Calibri"/>
                <a:ea typeface="Calibri"/>
                <a:cs typeface="Calibri"/>
                <a:sym typeface="Calibri"/>
              </a:endParaRPr>
            </a:p>
          </p:txBody>
        </p:sp>
      </p:grpSp>
      <p:sp>
        <p:nvSpPr>
          <p:cNvPr id="160" name="Google Shape;160;p17"/>
          <p:cNvSpPr/>
          <p:nvPr/>
        </p:nvSpPr>
        <p:spPr>
          <a:xfrm>
            <a:off x="5760720" y="1920240"/>
            <a:ext cx="3108960" cy="2560320"/>
          </a:xfrm>
          <a:prstGeom prst="rect">
            <a:avLst/>
          </a:prstGeom>
          <a:solidFill>
            <a:srgbClr val="F0F7FF"/>
          </a:solidFill>
          <a:ln cap="flat" cmpd="sng" w="9525">
            <a:solidFill>
              <a:srgbClr val="F0F7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7"/>
          <p:cNvSpPr/>
          <p:nvPr/>
        </p:nvSpPr>
        <p:spPr>
          <a:xfrm>
            <a:off x="5760720" y="1920240"/>
            <a:ext cx="3108960" cy="54864"/>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7"/>
          <p:cNvSpPr/>
          <p:nvPr/>
        </p:nvSpPr>
        <p:spPr>
          <a:xfrm>
            <a:off x="5897880" y="1993392"/>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100"/>
              <a:buFont typeface="Calibri"/>
              <a:buNone/>
            </a:pPr>
            <a:r>
              <a:rPr b="1" i="0" lang="en-US" sz="1100" u="none" cap="none" strike="noStrike">
                <a:solidFill>
                  <a:srgbClr val="1565A0"/>
                </a:solidFill>
                <a:latin typeface="Calibri"/>
                <a:ea typeface="Calibri"/>
                <a:cs typeface="Calibri"/>
                <a:sym typeface="Calibri"/>
              </a:rPr>
              <a:t>Key Takeaway</a:t>
            </a:r>
            <a:endParaRPr b="0" i="0" sz="1100" u="none" cap="none" strike="noStrike">
              <a:solidFill>
                <a:srgbClr val="1565A0"/>
              </a:solidFill>
              <a:latin typeface="Calibri"/>
              <a:ea typeface="Calibri"/>
              <a:cs typeface="Calibri"/>
              <a:sym typeface="Calibri"/>
            </a:endParaRPr>
          </a:p>
        </p:txBody>
      </p:sp>
      <p:sp>
        <p:nvSpPr>
          <p:cNvPr id="163" name="Google Shape;163;p17"/>
          <p:cNvSpPr/>
          <p:nvPr/>
        </p:nvSpPr>
        <p:spPr>
          <a:xfrm>
            <a:off x="5897880" y="2286000"/>
            <a:ext cx="283464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0" lang="en-US" u="none" cap="none" strike="noStrike">
                <a:solidFill>
                  <a:srgbClr val="2C2C2C"/>
                </a:solidFill>
                <a:latin typeface="Calibri"/>
                <a:ea typeface="Calibri"/>
                <a:cs typeface="Calibri"/>
                <a:sym typeface="Calibri"/>
              </a:rPr>
              <a:t>The headline numbers are strong. The more useful question is not whether students are satisfied — they clearly are — but where the friction points are within an otherwise positive picture.</a:t>
            </a:r>
            <a:endParaRPr b="0" i="0" u="none" cap="none" strike="noStrike">
              <a:solidFill>
                <a:schemeClr val="dk1"/>
              </a:solidFill>
              <a:latin typeface="Calibri"/>
              <a:ea typeface="Calibri"/>
              <a:cs typeface="Calibri"/>
              <a:sym typeface="Calibri"/>
            </a:endParaRPr>
          </a:p>
        </p:txBody>
      </p:sp>
      <p:sp>
        <p:nvSpPr>
          <p:cNvPr id="164" name="Google Shape;164;p17"/>
          <p:cNvSpPr/>
          <p:nvPr/>
        </p:nvSpPr>
        <p:spPr>
          <a:xfrm>
            <a:off x="5897880" y="3730752"/>
            <a:ext cx="28346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1" lang="en-US" sz="1000" u="none" cap="none" strike="noStrike">
                <a:solidFill>
                  <a:srgbClr val="888888"/>
                </a:solidFill>
                <a:latin typeface="Calibri"/>
                <a:ea typeface="Calibri"/>
                <a:cs typeface="Calibri"/>
                <a:sym typeface="Calibri"/>
              </a:rPr>
              <a:t>75% of all ratings are 4.75 or above. The 27 negative and neutral reviews carry disproportionate analytical weight.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8"/>
          <p:cNvSpPr/>
          <p:nvPr/>
        </p:nvSpPr>
        <p:spPr>
          <a:xfrm>
            <a:off x="0" y="0"/>
            <a:ext cx="9144000" cy="658368"/>
          </a:xfrm>
          <a:prstGeom prst="rect">
            <a:avLst/>
          </a:prstGeom>
          <a:solidFill>
            <a:srgbClr val="2C2C2C"/>
          </a:solidFill>
          <a:ln cap="flat" cmpd="sng" w="12700">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8"/>
          <p:cNvSpPr/>
          <p:nvPr/>
        </p:nvSpPr>
        <p:spPr>
          <a:xfrm>
            <a:off x="0" y="0"/>
            <a:ext cx="164592" cy="658368"/>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8"/>
          <p:cNvSpPr/>
          <p:nvPr/>
        </p:nvSpPr>
        <p:spPr>
          <a:xfrm>
            <a:off x="292608" y="64008"/>
            <a:ext cx="7772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Ratings Analysis</a:t>
            </a:r>
            <a:endParaRPr b="0" i="0" sz="2000" u="none" cap="none" strike="noStrike">
              <a:solidFill>
                <a:schemeClr val="dk1"/>
              </a:solidFill>
              <a:latin typeface="Calibri"/>
              <a:ea typeface="Calibri"/>
              <a:cs typeface="Calibri"/>
              <a:sym typeface="Calibri"/>
            </a:endParaRPr>
          </a:p>
        </p:txBody>
      </p:sp>
      <p:sp>
        <p:nvSpPr>
          <p:cNvPr id="173" name="Google Shape;173;p18"/>
          <p:cNvSpPr/>
          <p:nvPr/>
        </p:nvSpPr>
        <p:spPr>
          <a:xfrm>
            <a:off x="292608" y="384048"/>
            <a:ext cx="77724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000"/>
              <a:buFont typeface="Calibri"/>
              <a:buNone/>
            </a:pPr>
            <a:r>
              <a:rPr b="0" i="0" lang="en-US" sz="1000" u="none" cap="none" strike="noStrike">
                <a:solidFill>
                  <a:srgbClr val="AAAAAA"/>
                </a:solidFill>
                <a:latin typeface="Calibri"/>
                <a:ea typeface="Calibri"/>
                <a:cs typeface="Calibri"/>
                <a:sym typeface="Calibri"/>
              </a:rPr>
              <a:t>By dimension, course, role, and time</a:t>
            </a:r>
            <a:endParaRPr b="0" i="0" sz="1000" u="none" cap="none" strike="noStrike">
              <a:solidFill>
                <a:schemeClr val="dk1"/>
              </a:solidFill>
              <a:latin typeface="Calibri"/>
              <a:ea typeface="Calibri"/>
              <a:cs typeface="Calibri"/>
              <a:sym typeface="Calibri"/>
            </a:endParaRPr>
          </a:p>
        </p:txBody>
      </p:sp>
      <p:sp>
        <p:nvSpPr>
          <p:cNvPr id="174" name="Google Shape;174;p18"/>
          <p:cNvSpPr/>
          <p:nvPr/>
        </p:nvSpPr>
        <p:spPr>
          <a:xfrm>
            <a:off x="0" y="4892040"/>
            <a:ext cx="9144000" cy="251460"/>
          </a:xfrm>
          <a:prstGeom prst="rect">
            <a:avLst/>
          </a:prstGeom>
          <a:solidFill>
            <a:srgbClr val="2C2C2C"/>
          </a:solidFill>
          <a:ln cap="flat" cmpd="sng" w="12700">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8"/>
          <p:cNvSpPr/>
          <p:nvPr/>
        </p:nvSpPr>
        <p:spPr>
          <a:xfrm>
            <a:off x="274320" y="4901184"/>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800"/>
              <a:buFont typeface="Calibri"/>
              <a:buNone/>
            </a:pPr>
            <a:r>
              <a:rPr b="0" i="0" lang="en-US" sz="800" u="none" cap="none" strike="noStrike">
                <a:solidFill>
                  <a:srgbClr val="AAAAAA"/>
                </a:solidFill>
                <a:latin typeface="Calibri"/>
                <a:ea typeface="Calibri"/>
                <a:cs typeface="Calibri"/>
                <a:sym typeface="Calibri"/>
              </a:rPr>
              <a:t>WBS Coding School  |  Student Review Analysis  |  Essentis  |  March 2026</a:t>
            </a:r>
            <a:endParaRPr b="0" i="0" sz="800" u="none" cap="none" strike="noStrike">
              <a:solidFill>
                <a:schemeClr val="dk1"/>
              </a:solidFill>
              <a:latin typeface="Calibri"/>
              <a:ea typeface="Calibri"/>
              <a:cs typeface="Calibri"/>
              <a:sym typeface="Calibri"/>
            </a:endParaRPr>
          </a:p>
        </p:txBody>
      </p:sp>
      <p:sp>
        <p:nvSpPr>
          <p:cNvPr id="176" name="Google Shape;176;p18"/>
          <p:cNvSpPr/>
          <p:nvPr/>
        </p:nvSpPr>
        <p:spPr>
          <a:xfrm>
            <a:off x="8686800" y="4901184"/>
            <a:ext cx="3657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AAAAA"/>
              </a:buClr>
              <a:buSzPts val="800"/>
              <a:buFont typeface="Calibri"/>
              <a:buNone/>
            </a:pPr>
            <a:r>
              <a:rPr b="0" i="0" lang="en-US" sz="800" u="none" cap="none" strike="noStrike">
                <a:solidFill>
                  <a:srgbClr val="AAAAAA"/>
                </a:solidFill>
                <a:latin typeface="Calibri"/>
                <a:ea typeface="Calibri"/>
                <a:cs typeface="Calibri"/>
                <a:sym typeface="Calibri"/>
              </a:rPr>
              <a:t>4</a:t>
            </a:r>
            <a:endParaRPr b="0" i="0" sz="800" u="none" cap="none" strike="noStrike">
              <a:solidFill>
                <a:schemeClr val="dk1"/>
              </a:solidFill>
              <a:latin typeface="Calibri"/>
              <a:ea typeface="Calibri"/>
              <a:cs typeface="Calibri"/>
              <a:sym typeface="Calibri"/>
            </a:endParaRPr>
          </a:p>
        </p:txBody>
      </p:sp>
      <p:sp>
        <p:nvSpPr>
          <p:cNvPr id="177" name="Google Shape;177;p18"/>
          <p:cNvSpPr/>
          <p:nvPr/>
        </p:nvSpPr>
        <p:spPr>
          <a:xfrm>
            <a:off x="274320" y="822960"/>
            <a:ext cx="4114800" cy="2834640"/>
          </a:xfrm>
          <a:prstGeom prst="rect">
            <a:avLst/>
          </a:prstGeom>
          <a:solidFill>
            <a:srgbClr val="FFFFFF"/>
          </a:solidFill>
          <a:ln cap="flat" cmpd="sng" w="9525">
            <a:solidFill>
              <a:srgbClr val="EEEEEE"/>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8"/>
          <p:cNvSpPr/>
          <p:nvPr/>
        </p:nvSpPr>
        <p:spPr>
          <a:xfrm>
            <a:off x="457200" y="914400"/>
            <a:ext cx="3749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200"/>
              <a:buFont typeface="Calibri"/>
              <a:buNone/>
            </a:pPr>
            <a:r>
              <a:rPr b="1" i="0" lang="en-US" sz="1200" u="none" cap="none" strike="noStrike">
                <a:solidFill>
                  <a:srgbClr val="2C2C2C"/>
                </a:solidFill>
                <a:latin typeface="Calibri"/>
                <a:ea typeface="Calibri"/>
                <a:cs typeface="Calibri"/>
                <a:sym typeface="Calibri"/>
              </a:rPr>
              <a:t>Rating Dimensions</a:t>
            </a:r>
            <a:endParaRPr b="0" i="0" sz="1200" u="none" cap="none" strike="noStrike">
              <a:solidFill>
                <a:schemeClr val="dk1"/>
              </a:solidFill>
              <a:latin typeface="Calibri"/>
              <a:ea typeface="Calibri"/>
              <a:cs typeface="Calibri"/>
              <a:sym typeface="Calibri"/>
            </a:endParaRPr>
          </a:p>
        </p:txBody>
      </p:sp>
      <p:sp>
        <p:nvSpPr>
          <p:cNvPr id="179" name="Google Shape;179;p18"/>
          <p:cNvSpPr/>
          <p:nvPr/>
        </p:nvSpPr>
        <p:spPr>
          <a:xfrm>
            <a:off x="457200" y="1298448"/>
            <a:ext cx="1737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0" lang="en-US" sz="1000" u="none" cap="none" strike="noStrike">
                <a:solidFill>
                  <a:srgbClr val="2C2C2C"/>
                </a:solidFill>
                <a:latin typeface="Calibri"/>
                <a:ea typeface="Calibri"/>
                <a:cs typeface="Calibri"/>
                <a:sym typeface="Calibri"/>
              </a:rPr>
              <a:t>Instructors</a:t>
            </a:r>
            <a:endParaRPr b="0" i="0" sz="1000" u="none" cap="none" strike="noStrike">
              <a:solidFill>
                <a:schemeClr val="dk1"/>
              </a:solidFill>
              <a:latin typeface="Calibri"/>
              <a:ea typeface="Calibri"/>
              <a:cs typeface="Calibri"/>
              <a:sym typeface="Calibri"/>
            </a:endParaRPr>
          </a:p>
        </p:txBody>
      </p:sp>
      <p:sp>
        <p:nvSpPr>
          <p:cNvPr id="180" name="Google Shape;180;p18"/>
          <p:cNvSpPr/>
          <p:nvPr/>
        </p:nvSpPr>
        <p:spPr>
          <a:xfrm>
            <a:off x="2240280" y="1335024"/>
            <a:ext cx="1408176" cy="182880"/>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8"/>
          <p:cNvSpPr/>
          <p:nvPr/>
        </p:nvSpPr>
        <p:spPr>
          <a:xfrm>
            <a:off x="2240280" y="1335024"/>
            <a:ext cx="1463040" cy="182880"/>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8"/>
          <p:cNvSpPr/>
          <p:nvPr/>
        </p:nvSpPr>
        <p:spPr>
          <a:xfrm>
            <a:off x="2240280" y="1335024"/>
            <a:ext cx="1408200" cy="18300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8"/>
          <p:cNvSpPr/>
          <p:nvPr/>
        </p:nvSpPr>
        <p:spPr>
          <a:xfrm>
            <a:off x="457200" y="1828800"/>
            <a:ext cx="1737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0" lang="en-US" sz="1000" u="none" cap="none" strike="noStrike">
                <a:solidFill>
                  <a:srgbClr val="2C2C2C"/>
                </a:solidFill>
                <a:latin typeface="Calibri"/>
                <a:ea typeface="Calibri"/>
                <a:cs typeface="Calibri"/>
                <a:sym typeface="Calibri"/>
              </a:rPr>
              <a:t>Star Rating</a:t>
            </a:r>
            <a:endParaRPr b="0" i="0" sz="1000" u="none" cap="none" strike="noStrike">
              <a:solidFill>
                <a:schemeClr val="dk1"/>
              </a:solidFill>
              <a:latin typeface="Calibri"/>
              <a:ea typeface="Calibri"/>
              <a:cs typeface="Calibri"/>
              <a:sym typeface="Calibri"/>
            </a:endParaRPr>
          </a:p>
        </p:txBody>
      </p:sp>
      <p:sp>
        <p:nvSpPr>
          <p:cNvPr id="184" name="Google Shape;184;p18"/>
          <p:cNvSpPr/>
          <p:nvPr/>
        </p:nvSpPr>
        <p:spPr>
          <a:xfrm>
            <a:off x="2240280" y="1865376"/>
            <a:ext cx="1404518" cy="182880"/>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8"/>
          <p:cNvSpPr/>
          <p:nvPr/>
        </p:nvSpPr>
        <p:spPr>
          <a:xfrm>
            <a:off x="2240280" y="1865376"/>
            <a:ext cx="1463040" cy="182880"/>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8"/>
          <p:cNvSpPr/>
          <p:nvPr/>
        </p:nvSpPr>
        <p:spPr>
          <a:xfrm>
            <a:off x="2240280" y="1865376"/>
            <a:ext cx="1404600" cy="18300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8"/>
          <p:cNvSpPr/>
          <p:nvPr/>
        </p:nvSpPr>
        <p:spPr>
          <a:xfrm>
            <a:off x="457200" y="2359152"/>
            <a:ext cx="1737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0" lang="en-US" sz="1000" u="none" cap="none" strike="noStrike">
                <a:solidFill>
                  <a:srgbClr val="2C2C2C"/>
                </a:solidFill>
                <a:latin typeface="Calibri"/>
                <a:ea typeface="Calibri"/>
                <a:cs typeface="Calibri"/>
                <a:sym typeface="Calibri"/>
              </a:rPr>
              <a:t>Curriculum</a:t>
            </a:r>
            <a:endParaRPr b="0" i="0" sz="1000" u="none" cap="none" strike="noStrike">
              <a:solidFill>
                <a:schemeClr val="dk1"/>
              </a:solidFill>
              <a:latin typeface="Calibri"/>
              <a:ea typeface="Calibri"/>
              <a:cs typeface="Calibri"/>
              <a:sym typeface="Calibri"/>
            </a:endParaRPr>
          </a:p>
        </p:txBody>
      </p:sp>
      <p:sp>
        <p:nvSpPr>
          <p:cNvPr id="188" name="Google Shape;188;p18"/>
          <p:cNvSpPr/>
          <p:nvPr/>
        </p:nvSpPr>
        <p:spPr>
          <a:xfrm>
            <a:off x="2240280" y="2395728"/>
            <a:ext cx="1382573" cy="182880"/>
          </a:xfrm>
          <a:prstGeom prst="rect">
            <a:avLst/>
          </a:prstGeom>
          <a:solidFill>
            <a:srgbClr val="E8A030"/>
          </a:solidFill>
          <a:ln cap="flat" cmpd="sng" w="12700">
            <a:solidFill>
              <a:srgbClr val="E8A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8"/>
          <p:cNvSpPr/>
          <p:nvPr/>
        </p:nvSpPr>
        <p:spPr>
          <a:xfrm>
            <a:off x="2240280" y="2395728"/>
            <a:ext cx="1463040" cy="182880"/>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8"/>
          <p:cNvSpPr/>
          <p:nvPr/>
        </p:nvSpPr>
        <p:spPr>
          <a:xfrm>
            <a:off x="2240280" y="2395728"/>
            <a:ext cx="1382700" cy="18300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8"/>
          <p:cNvSpPr/>
          <p:nvPr/>
        </p:nvSpPr>
        <p:spPr>
          <a:xfrm>
            <a:off x="457200" y="2889504"/>
            <a:ext cx="1737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0" lang="en-US" sz="1000" u="none" cap="none" strike="noStrike">
                <a:solidFill>
                  <a:srgbClr val="2C2C2C"/>
                </a:solidFill>
                <a:latin typeface="Calibri"/>
                <a:ea typeface="Calibri"/>
                <a:cs typeface="Calibri"/>
                <a:sym typeface="Calibri"/>
              </a:rPr>
              <a:t>Job Assistance</a:t>
            </a:r>
            <a:endParaRPr b="0" i="0" sz="1000" u="none" cap="none" strike="noStrike">
              <a:solidFill>
                <a:schemeClr val="dk1"/>
              </a:solidFill>
              <a:latin typeface="Calibri"/>
              <a:ea typeface="Calibri"/>
              <a:cs typeface="Calibri"/>
              <a:sym typeface="Calibri"/>
            </a:endParaRPr>
          </a:p>
        </p:txBody>
      </p:sp>
      <p:sp>
        <p:nvSpPr>
          <p:cNvPr id="192" name="Google Shape;192;p18"/>
          <p:cNvSpPr/>
          <p:nvPr/>
        </p:nvSpPr>
        <p:spPr>
          <a:xfrm>
            <a:off x="2240280" y="2926080"/>
            <a:ext cx="1294790" cy="182880"/>
          </a:xfrm>
          <a:prstGeom prst="rect">
            <a:avLst/>
          </a:prstGeom>
          <a:solidFill>
            <a:srgbClr val="C23038"/>
          </a:solidFill>
          <a:ln cap="flat" cmpd="sng" w="12700">
            <a:solidFill>
              <a:srgbClr val="C230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8"/>
          <p:cNvSpPr/>
          <p:nvPr/>
        </p:nvSpPr>
        <p:spPr>
          <a:xfrm>
            <a:off x="2240280" y="2926080"/>
            <a:ext cx="1463040" cy="182880"/>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8"/>
          <p:cNvSpPr/>
          <p:nvPr/>
        </p:nvSpPr>
        <p:spPr>
          <a:xfrm>
            <a:off x="2240280" y="2926080"/>
            <a:ext cx="1294800" cy="18300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5" name="Google Shape;195;p18"/>
          <p:cNvGrpSpPr/>
          <p:nvPr/>
        </p:nvGrpSpPr>
        <p:grpSpPr>
          <a:xfrm>
            <a:off x="1069840" y="1289310"/>
            <a:ext cx="1170432" cy="1847088"/>
            <a:chOff x="3749040" y="1298448"/>
            <a:chExt cx="1170432" cy="1847088"/>
          </a:xfrm>
        </p:grpSpPr>
        <p:sp>
          <p:nvSpPr>
            <p:cNvPr id="196" name="Google Shape;196;p18"/>
            <p:cNvSpPr/>
            <p:nvPr/>
          </p:nvSpPr>
          <p:spPr>
            <a:xfrm>
              <a:off x="3749040" y="1298448"/>
              <a:ext cx="50292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474F"/>
                </a:buClr>
                <a:buSzPts val="1200"/>
                <a:buFont typeface="Calibri"/>
                <a:buNone/>
              </a:pPr>
              <a:r>
                <a:rPr b="1" i="0" lang="en-US" sz="1200" u="none" cap="none" strike="noStrike">
                  <a:solidFill>
                    <a:srgbClr val="1565A0"/>
                  </a:solidFill>
                  <a:latin typeface="Calibri"/>
                  <a:ea typeface="Calibri"/>
                  <a:cs typeface="Calibri"/>
                  <a:sym typeface="Calibri"/>
                </a:rPr>
                <a:t>4.85</a:t>
              </a:r>
              <a:endParaRPr b="0" i="0" sz="1200" u="none" cap="none" strike="noStrike">
                <a:solidFill>
                  <a:srgbClr val="1565A0"/>
                </a:solidFill>
                <a:latin typeface="Calibri"/>
                <a:ea typeface="Calibri"/>
                <a:cs typeface="Calibri"/>
                <a:sym typeface="Calibri"/>
              </a:endParaRPr>
            </a:p>
          </p:txBody>
        </p:sp>
        <p:sp>
          <p:nvSpPr>
            <p:cNvPr id="197" name="Google Shape;197;p18"/>
            <p:cNvSpPr/>
            <p:nvPr/>
          </p:nvSpPr>
          <p:spPr>
            <a:xfrm>
              <a:off x="4279392" y="1298448"/>
              <a:ext cx="640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1565A0"/>
                  </a:solidFill>
                  <a:latin typeface="Calibri"/>
                  <a:ea typeface="Calibri"/>
                  <a:cs typeface="Calibri"/>
                  <a:sym typeface="Calibri"/>
                </a:rPr>
                <a:t>n=266</a:t>
              </a:r>
              <a:endParaRPr b="0" i="0" sz="900" u="none" cap="none" strike="noStrike">
                <a:solidFill>
                  <a:srgbClr val="1565A0"/>
                </a:solidFill>
                <a:latin typeface="Calibri"/>
                <a:ea typeface="Calibri"/>
                <a:cs typeface="Calibri"/>
                <a:sym typeface="Calibri"/>
              </a:endParaRPr>
            </a:p>
          </p:txBody>
        </p:sp>
        <p:sp>
          <p:nvSpPr>
            <p:cNvPr id="198" name="Google Shape;198;p18"/>
            <p:cNvSpPr/>
            <p:nvPr/>
          </p:nvSpPr>
          <p:spPr>
            <a:xfrm>
              <a:off x="3749040" y="1828800"/>
              <a:ext cx="50292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474F"/>
                </a:buClr>
                <a:buSzPts val="1200"/>
                <a:buFont typeface="Calibri"/>
                <a:buNone/>
              </a:pPr>
              <a:r>
                <a:rPr b="1" i="0" lang="en-US" sz="1200" u="none" cap="none" strike="noStrike">
                  <a:solidFill>
                    <a:srgbClr val="1565A0"/>
                  </a:solidFill>
                  <a:latin typeface="Calibri"/>
                  <a:ea typeface="Calibri"/>
                  <a:cs typeface="Calibri"/>
                  <a:sym typeface="Calibri"/>
                </a:rPr>
                <a:t>4.84</a:t>
              </a:r>
              <a:endParaRPr b="0" i="0" sz="1200" u="none" cap="none" strike="noStrike">
                <a:solidFill>
                  <a:srgbClr val="1565A0"/>
                </a:solidFill>
                <a:latin typeface="Calibri"/>
                <a:ea typeface="Calibri"/>
                <a:cs typeface="Calibri"/>
                <a:sym typeface="Calibri"/>
              </a:endParaRPr>
            </a:p>
          </p:txBody>
        </p:sp>
        <p:sp>
          <p:nvSpPr>
            <p:cNvPr id="199" name="Google Shape;199;p18"/>
            <p:cNvSpPr/>
            <p:nvPr/>
          </p:nvSpPr>
          <p:spPr>
            <a:xfrm>
              <a:off x="4279392" y="1828800"/>
              <a:ext cx="640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1565A0"/>
                  </a:solidFill>
                  <a:latin typeface="Calibri"/>
                  <a:ea typeface="Calibri"/>
                  <a:cs typeface="Calibri"/>
                  <a:sym typeface="Calibri"/>
                </a:rPr>
                <a:t>n=818</a:t>
              </a:r>
              <a:endParaRPr b="0" i="0" sz="900" u="none" cap="none" strike="noStrike">
                <a:solidFill>
                  <a:srgbClr val="1565A0"/>
                </a:solidFill>
                <a:latin typeface="Calibri"/>
                <a:ea typeface="Calibri"/>
                <a:cs typeface="Calibri"/>
                <a:sym typeface="Calibri"/>
              </a:endParaRPr>
            </a:p>
          </p:txBody>
        </p:sp>
        <p:sp>
          <p:nvSpPr>
            <p:cNvPr id="200" name="Google Shape;200;p18"/>
            <p:cNvSpPr/>
            <p:nvPr/>
          </p:nvSpPr>
          <p:spPr>
            <a:xfrm>
              <a:off x="3749040" y="2359152"/>
              <a:ext cx="50292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A030"/>
                </a:buClr>
                <a:buSzPts val="1200"/>
                <a:buFont typeface="Calibri"/>
                <a:buNone/>
              </a:pPr>
              <a:r>
                <a:rPr b="1" i="0" lang="en-US" sz="1200" u="none" cap="none" strike="noStrike">
                  <a:solidFill>
                    <a:srgbClr val="1565A0"/>
                  </a:solidFill>
                  <a:latin typeface="Calibri"/>
                  <a:ea typeface="Calibri"/>
                  <a:cs typeface="Calibri"/>
                  <a:sym typeface="Calibri"/>
                </a:rPr>
                <a:t>4.78</a:t>
              </a:r>
              <a:endParaRPr b="0" i="0" sz="1200" u="none" cap="none" strike="noStrike">
                <a:solidFill>
                  <a:srgbClr val="1565A0"/>
                </a:solidFill>
                <a:latin typeface="Calibri"/>
                <a:ea typeface="Calibri"/>
                <a:cs typeface="Calibri"/>
                <a:sym typeface="Calibri"/>
              </a:endParaRPr>
            </a:p>
          </p:txBody>
        </p:sp>
        <p:sp>
          <p:nvSpPr>
            <p:cNvPr id="201" name="Google Shape;201;p18"/>
            <p:cNvSpPr/>
            <p:nvPr/>
          </p:nvSpPr>
          <p:spPr>
            <a:xfrm>
              <a:off x="4279392" y="2359152"/>
              <a:ext cx="640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1565A0"/>
                  </a:solidFill>
                  <a:latin typeface="Calibri"/>
                  <a:ea typeface="Calibri"/>
                  <a:cs typeface="Calibri"/>
                  <a:sym typeface="Calibri"/>
                </a:rPr>
                <a:t>n=583</a:t>
              </a:r>
              <a:endParaRPr b="0" i="0" sz="900" u="none" cap="none" strike="noStrike">
                <a:solidFill>
                  <a:srgbClr val="1565A0"/>
                </a:solidFill>
                <a:latin typeface="Calibri"/>
                <a:ea typeface="Calibri"/>
                <a:cs typeface="Calibri"/>
                <a:sym typeface="Calibri"/>
              </a:endParaRPr>
            </a:p>
          </p:txBody>
        </p:sp>
        <p:sp>
          <p:nvSpPr>
            <p:cNvPr id="202" name="Google Shape;202;p18"/>
            <p:cNvSpPr/>
            <p:nvPr/>
          </p:nvSpPr>
          <p:spPr>
            <a:xfrm>
              <a:off x="3749040" y="2889504"/>
              <a:ext cx="50292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23038"/>
                </a:buClr>
                <a:buSzPts val="1200"/>
                <a:buFont typeface="Calibri"/>
                <a:buNone/>
              </a:pPr>
              <a:r>
                <a:rPr b="1" i="0" lang="en-US" sz="1200" u="none" cap="none" strike="noStrike">
                  <a:solidFill>
                    <a:srgbClr val="1565A0"/>
                  </a:solidFill>
                  <a:latin typeface="Calibri"/>
                  <a:ea typeface="Calibri"/>
                  <a:cs typeface="Calibri"/>
                  <a:sym typeface="Calibri"/>
                </a:rPr>
                <a:t>4.54</a:t>
              </a:r>
              <a:endParaRPr b="0" i="0" sz="1200" u="none" cap="none" strike="noStrike">
                <a:solidFill>
                  <a:srgbClr val="1565A0"/>
                </a:solidFill>
                <a:latin typeface="Calibri"/>
                <a:ea typeface="Calibri"/>
                <a:cs typeface="Calibri"/>
                <a:sym typeface="Calibri"/>
              </a:endParaRPr>
            </a:p>
          </p:txBody>
        </p:sp>
        <p:sp>
          <p:nvSpPr>
            <p:cNvPr id="203" name="Google Shape;203;p18"/>
            <p:cNvSpPr/>
            <p:nvPr/>
          </p:nvSpPr>
          <p:spPr>
            <a:xfrm>
              <a:off x="4279392" y="2889504"/>
              <a:ext cx="640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1565A0"/>
                  </a:solidFill>
                  <a:latin typeface="Calibri"/>
                  <a:ea typeface="Calibri"/>
                  <a:cs typeface="Calibri"/>
                  <a:sym typeface="Calibri"/>
                </a:rPr>
                <a:t>n=566</a:t>
              </a:r>
              <a:endParaRPr b="0" i="0" sz="900" u="none" cap="none" strike="noStrike">
                <a:solidFill>
                  <a:srgbClr val="1565A0"/>
                </a:solidFill>
                <a:latin typeface="Calibri"/>
                <a:ea typeface="Calibri"/>
                <a:cs typeface="Calibri"/>
                <a:sym typeface="Calibri"/>
              </a:endParaRPr>
            </a:p>
          </p:txBody>
        </p:sp>
      </p:grpSp>
      <p:sp>
        <p:nvSpPr>
          <p:cNvPr id="204" name="Google Shape;204;p18"/>
          <p:cNvSpPr/>
          <p:nvPr/>
        </p:nvSpPr>
        <p:spPr>
          <a:xfrm>
            <a:off x="274320" y="3767328"/>
            <a:ext cx="4114800" cy="713232"/>
          </a:xfrm>
          <a:prstGeom prst="rect">
            <a:avLst/>
          </a:prstGeom>
          <a:solidFill>
            <a:srgbClr val="F0F7FF"/>
          </a:solidFill>
          <a:ln cap="flat" cmpd="sng" w="9525">
            <a:solidFill>
              <a:srgbClr val="F0F7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8"/>
          <p:cNvSpPr/>
          <p:nvPr/>
        </p:nvSpPr>
        <p:spPr>
          <a:xfrm>
            <a:off x="411480" y="3813048"/>
            <a:ext cx="384048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3038"/>
              </a:buClr>
              <a:buSzPts val="950"/>
              <a:buFont typeface="Calibri"/>
              <a:buNone/>
            </a:pPr>
            <a:r>
              <a:rPr b="0" i="1" lang="en-US" sz="950" u="none" cap="none" strike="noStrike">
                <a:solidFill>
                  <a:srgbClr val="1565A0"/>
                </a:solidFill>
                <a:latin typeface="Calibri"/>
                <a:ea typeface="Calibri"/>
                <a:cs typeface="Calibri"/>
                <a:sym typeface="Calibri"/>
              </a:rPr>
              <a:t>Job assistance scores 0.31 points below instructors across 566 reviews — the most consistent improvement signal in the dataset.</a:t>
            </a:r>
            <a:endParaRPr b="0" i="0" sz="950" u="none" cap="none" strike="noStrike">
              <a:solidFill>
                <a:srgbClr val="1565A0"/>
              </a:solidFill>
              <a:latin typeface="Calibri"/>
              <a:ea typeface="Calibri"/>
              <a:cs typeface="Calibri"/>
              <a:sym typeface="Calibri"/>
            </a:endParaRPr>
          </a:p>
        </p:txBody>
      </p:sp>
      <p:sp>
        <p:nvSpPr>
          <p:cNvPr id="206" name="Google Shape;206;p18"/>
          <p:cNvSpPr/>
          <p:nvPr/>
        </p:nvSpPr>
        <p:spPr>
          <a:xfrm>
            <a:off x="4617720" y="822960"/>
            <a:ext cx="4251960" cy="1965960"/>
          </a:xfrm>
          <a:prstGeom prst="rect">
            <a:avLst/>
          </a:prstGeom>
          <a:solidFill>
            <a:srgbClr val="FFFFFF"/>
          </a:solidFill>
          <a:ln cap="flat" cmpd="sng" w="9525">
            <a:solidFill>
              <a:srgbClr val="EEEEEE"/>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8"/>
          <p:cNvSpPr/>
          <p:nvPr/>
        </p:nvSpPr>
        <p:spPr>
          <a:xfrm>
            <a:off x="4773168" y="914400"/>
            <a:ext cx="39136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200"/>
              <a:buFont typeface="Calibri"/>
              <a:buNone/>
            </a:pPr>
            <a:r>
              <a:rPr b="1" i="0" lang="en-US" sz="1200" u="none" cap="none" strike="noStrike">
                <a:solidFill>
                  <a:srgbClr val="2C2C2C"/>
                </a:solidFill>
                <a:latin typeface="Calibri"/>
                <a:ea typeface="Calibri"/>
                <a:cs typeface="Calibri"/>
                <a:sym typeface="Calibri"/>
              </a:rPr>
              <a:t>Avg Rating by Course</a:t>
            </a:r>
            <a:endParaRPr b="0" i="0" sz="1200" u="none" cap="none" strike="noStrike">
              <a:solidFill>
                <a:schemeClr val="dk1"/>
              </a:solidFill>
              <a:latin typeface="Calibri"/>
              <a:ea typeface="Calibri"/>
              <a:cs typeface="Calibri"/>
              <a:sym typeface="Calibri"/>
            </a:endParaRPr>
          </a:p>
        </p:txBody>
      </p:sp>
      <p:sp>
        <p:nvSpPr>
          <p:cNvPr id="208" name="Google Shape;208;p18"/>
          <p:cNvSpPr/>
          <p:nvPr/>
        </p:nvSpPr>
        <p:spPr>
          <a:xfrm>
            <a:off x="4773168" y="1298448"/>
            <a:ext cx="2011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00"/>
              <a:buFont typeface="Calibri"/>
              <a:buNone/>
            </a:pPr>
            <a:r>
              <a:rPr b="0" i="0" lang="en-US" sz="900" u="none" cap="none" strike="noStrike">
                <a:solidFill>
                  <a:srgbClr val="2C2C2C"/>
                </a:solidFill>
                <a:latin typeface="Calibri"/>
                <a:ea typeface="Calibri"/>
                <a:cs typeface="Calibri"/>
                <a:sym typeface="Calibri"/>
              </a:rPr>
              <a:t>Data Science</a:t>
            </a:r>
            <a:endParaRPr b="0" i="0" sz="900" u="none" cap="none" strike="noStrike">
              <a:solidFill>
                <a:schemeClr val="dk1"/>
              </a:solidFill>
              <a:latin typeface="Calibri"/>
              <a:ea typeface="Calibri"/>
              <a:cs typeface="Calibri"/>
              <a:sym typeface="Calibri"/>
            </a:endParaRPr>
          </a:p>
        </p:txBody>
      </p:sp>
      <p:sp>
        <p:nvSpPr>
          <p:cNvPr id="209" name="Google Shape;209;p18"/>
          <p:cNvSpPr/>
          <p:nvPr/>
        </p:nvSpPr>
        <p:spPr>
          <a:xfrm>
            <a:off x="6812280" y="1344168"/>
            <a:ext cx="1316736" cy="182880"/>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8"/>
          <p:cNvSpPr/>
          <p:nvPr/>
        </p:nvSpPr>
        <p:spPr>
          <a:xfrm>
            <a:off x="6812280" y="1344168"/>
            <a:ext cx="1371600" cy="182880"/>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8"/>
          <p:cNvSpPr/>
          <p:nvPr/>
        </p:nvSpPr>
        <p:spPr>
          <a:xfrm>
            <a:off x="6812280" y="1344168"/>
            <a:ext cx="1316700" cy="18300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8"/>
          <p:cNvSpPr/>
          <p:nvPr/>
        </p:nvSpPr>
        <p:spPr>
          <a:xfrm>
            <a:off x="4773168" y="1700784"/>
            <a:ext cx="2011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00"/>
              <a:buFont typeface="Calibri"/>
              <a:buNone/>
            </a:pPr>
            <a:r>
              <a:rPr b="0" i="0" lang="en-US" sz="900" u="none" cap="none" strike="noStrike">
                <a:solidFill>
                  <a:srgbClr val="2C2C2C"/>
                </a:solidFill>
                <a:latin typeface="Calibri"/>
                <a:ea typeface="Calibri"/>
                <a:cs typeface="Calibri"/>
                <a:sym typeface="Calibri"/>
              </a:rPr>
              <a:t>Marketing Analytics</a:t>
            </a:r>
            <a:endParaRPr b="0" i="0" sz="900" u="none" cap="none" strike="noStrike">
              <a:solidFill>
                <a:schemeClr val="dk1"/>
              </a:solidFill>
              <a:latin typeface="Calibri"/>
              <a:ea typeface="Calibri"/>
              <a:cs typeface="Calibri"/>
              <a:sym typeface="Calibri"/>
            </a:endParaRPr>
          </a:p>
        </p:txBody>
      </p:sp>
      <p:sp>
        <p:nvSpPr>
          <p:cNvPr id="213" name="Google Shape;213;p18"/>
          <p:cNvSpPr/>
          <p:nvPr/>
        </p:nvSpPr>
        <p:spPr>
          <a:xfrm>
            <a:off x="6812280" y="1746504"/>
            <a:ext cx="1289304" cy="182880"/>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8"/>
          <p:cNvSpPr/>
          <p:nvPr/>
        </p:nvSpPr>
        <p:spPr>
          <a:xfrm>
            <a:off x="6812280" y="1746504"/>
            <a:ext cx="1371600" cy="182880"/>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8"/>
          <p:cNvSpPr/>
          <p:nvPr/>
        </p:nvSpPr>
        <p:spPr>
          <a:xfrm>
            <a:off x="6812280" y="1746504"/>
            <a:ext cx="1289400" cy="18300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8"/>
          <p:cNvSpPr/>
          <p:nvPr/>
        </p:nvSpPr>
        <p:spPr>
          <a:xfrm>
            <a:off x="4773168" y="2103120"/>
            <a:ext cx="2011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00"/>
              <a:buFont typeface="Calibri"/>
              <a:buNone/>
            </a:pPr>
            <a:r>
              <a:rPr b="0" i="0" lang="en-US" sz="900" u="none" cap="none" strike="noStrike">
                <a:solidFill>
                  <a:srgbClr val="2C2C2C"/>
                </a:solidFill>
                <a:latin typeface="Calibri"/>
                <a:ea typeface="Calibri"/>
                <a:cs typeface="Calibri"/>
                <a:sym typeface="Calibri"/>
              </a:rPr>
              <a:t>Full-Stack Web &amp; App</a:t>
            </a:r>
            <a:endParaRPr b="0" i="0" sz="900" u="none" cap="none" strike="noStrike">
              <a:solidFill>
                <a:schemeClr val="dk1"/>
              </a:solidFill>
              <a:latin typeface="Calibri"/>
              <a:ea typeface="Calibri"/>
              <a:cs typeface="Calibri"/>
              <a:sym typeface="Calibri"/>
            </a:endParaRPr>
          </a:p>
        </p:txBody>
      </p:sp>
      <p:sp>
        <p:nvSpPr>
          <p:cNvPr id="217" name="Google Shape;217;p18"/>
          <p:cNvSpPr/>
          <p:nvPr/>
        </p:nvSpPr>
        <p:spPr>
          <a:xfrm>
            <a:off x="6812280" y="2148840"/>
            <a:ext cx="1275588" cy="182880"/>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8"/>
          <p:cNvSpPr/>
          <p:nvPr/>
        </p:nvSpPr>
        <p:spPr>
          <a:xfrm>
            <a:off x="6812280" y="2148840"/>
            <a:ext cx="1371600" cy="182880"/>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8"/>
          <p:cNvSpPr/>
          <p:nvPr/>
        </p:nvSpPr>
        <p:spPr>
          <a:xfrm>
            <a:off x="6812280" y="2148840"/>
            <a:ext cx="1275600" cy="18300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8"/>
          <p:cNvSpPr/>
          <p:nvPr/>
        </p:nvSpPr>
        <p:spPr>
          <a:xfrm>
            <a:off x="4773168" y="2505456"/>
            <a:ext cx="2011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00"/>
              <a:buFont typeface="Calibri"/>
              <a:buNone/>
            </a:pPr>
            <a:r>
              <a:rPr b="0" i="0" lang="en-US" sz="900" u="none" cap="none" strike="noStrike">
                <a:solidFill>
                  <a:srgbClr val="2C2C2C"/>
                </a:solidFill>
                <a:latin typeface="Calibri"/>
                <a:ea typeface="Calibri"/>
                <a:cs typeface="Calibri"/>
                <a:sym typeface="Calibri"/>
              </a:rPr>
              <a:t>Product Design</a:t>
            </a:r>
            <a:endParaRPr b="0" i="0" sz="900" u="none" cap="none" strike="noStrike">
              <a:solidFill>
                <a:schemeClr val="dk1"/>
              </a:solidFill>
              <a:latin typeface="Calibri"/>
              <a:ea typeface="Calibri"/>
              <a:cs typeface="Calibri"/>
              <a:sym typeface="Calibri"/>
            </a:endParaRPr>
          </a:p>
        </p:txBody>
      </p:sp>
      <p:sp>
        <p:nvSpPr>
          <p:cNvPr id="221" name="Google Shape;221;p18"/>
          <p:cNvSpPr/>
          <p:nvPr/>
        </p:nvSpPr>
        <p:spPr>
          <a:xfrm>
            <a:off x="6812280" y="2551176"/>
            <a:ext cx="1261872" cy="182880"/>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8"/>
          <p:cNvSpPr/>
          <p:nvPr/>
        </p:nvSpPr>
        <p:spPr>
          <a:xfrm>
            <a:off x="6812280" y="2551176"/>
            <a:ext cx="1371600" cy="182880"/>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8"/>
          <p:cNvSpPr/>
          <p:nvPr/>
        </p:nvSpPr>
        <p:spPr>
          <a:xfrm>
            <a:off x="6812280" y="2551176"/>
            <a:ext cx="1261800" cy="18300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4" name="Google Shape;224;p18"/>
          <p:cNvGrpSpPr/>
          <p:nvPr/>
        </p:nvGrpSpPr>
        <p:grpSpPr>
          <a:xfrm>
            <a:off x="6008275" y="1261861"/>
            <a:ext cx="548640" cy="1463040"/>
            <a:chOff x="8229600" y="1298448"/>
            <a:chExt cx="548640" cy="1463040"/>
          </a:xfrm>
        </p:grpSpPr>
        <p:sp>
          <p:nvSpPr>
            <p:cNvPr id="225" name="Google Shape;225;p18"/>
            <p:cNvSpPr/>
            <p:nvPr/>
          </p:nvSpPr>
          <p:spPr>
            <a:xfrm>
              <a:off x="8229600" y="1298448"/>
              <a:ext cx="548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00"/>
                <a:buFont typeface="Calibri"/>
                <a:buNone/>
              </a:pPr>
              <a:r>
                <a:rPr b="1" i="0" lang="en-US" sz="1000" u="none" cap="none" strike="noStrike">
                  <a:solidFill>
                    <a:srgbClr val="1565A0"/>
                  </a:solidFill>
                  <a:latin typeface="Calibri"/>
                  <a:ea typeface="Calibri"/>
                  <a:cs typeface="Calibri"/>
                  <a:sym typeface="Calibri"/>
                </a:rPr>
                <a:t>4.78</a:t>
              </a:r>
              <a:endParaRPr b="0" i="0" sz="1000" u="none" cap="none" strike="noStrike">
                <a:solidFill>
                  <a:srgbClr val="1565A0"/>
                </a:solidFill>
                <a:latin typeface="Calibri"/>
                <a:ea typeface="Calibri"/>
                <a:cs typeface="Calibri"/>
                <a:sym typeface="Calibri"/>
              </a:endParaRPr>
            </a:p>
          </p:txBody>
        </p:sp>
        <p:sp>
          <p:nvSpPr>
            <p:cNvPr id="226" name="Google Shape;226;p18"/>
            <p:cNvSpPr/>
            <p:nvPr/>
          </p:nvSpPr>
          <p:spPr>
            <a:xfrm>
              <a:off x="8229600" y="1700784"/>
              <a:ext cx="548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00"/>
                <a:buFont typeface="Calibri"/>
                <a:buNone/>
              </a:pPr>
              <a:r>
                <a:rPr b="1" i="0" lang="en-US" sz="1000" u="none" cap="none" strike="noStrike">
                  <a:solidFill>
                    <a:srgbClr val="1565A0"/>
                  </a:solidFill>
                  <a:latin typeface="Calibri"/>
                  <a:ea typeface="Calibri"/>
                  <a:cs typeface="Calibri"/>
                  <a:sym typeface="Calibri"/>
                </a:rPr>
                <a:t>4.74</a:t>
              </a:r>
              <a:endParaRPr b="0" i="0" sz="1000" u="none" cap="none" strike="noStrike">
                <a:solidFill>
                  <a:srgbClr val="1565A0"/>
                </a:solidFill>
                <a:latin typeface="Calibri"/>
                <a:ea typeface="Calibri"/>
                <a:cs typeface="Calibri"/>
                <a:sym typeface="Calibri"/>
              </a:endParaRPr>
            </a:p>
          </p:txBody>
        </p:sp>
        <p:sp>
          <p:nvSpPr>
            <p:cNvPr id="227" name="Google Shape;227;p18"/>
            <p:cNvSpPr/>
            <p:nvPr/>
          </p:nvSpPr>
          <p:spPr>
            <a:xfrm>
              <a:off x="8229600" y="2103120"/>
              <a:ext cx="548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00"/>
                <a:buFont typeface="Calibri"/>
                <a:buNone/>
              </a:pPr>
              <a:r>
                <a:rPr b="1" i="0" lang="en-US" sz="1000" u="none" cap="none" strike="noStrike">
                  <a:solidFill>
                    <a:srgbClr val="1565A0"/>
                  </a:solidFill>
                  <a:latin typeface="Calibri"/>
                  <a:ea typeface="Calibri"/>
                  <a:cs typeface="Calibri"/>
                  <a:sym typeface="Calibri"/>
                </a:rPr>
                <a:t>4.71</a:t>
              </a:r>
              <a:endParaRPr b="0" i="0" sz="1000" u="none" cap="none" strike="noStrike">
                <a:solidFill>
                  <a:srgbClr val="1565A0"/>
                </a:solidFill>
                <a:latin typeface="Calibri"/>
                <a:ea typeface="Calibri"/>
                <a:cs typeface="Calibri"/>
                <a:sym typeface="Calibri"/>
              </a:endParaRPr>
            </a:p>
          </p:txBody>
        </p:sp>
        <p:sp>
          <p:nvSpPr>
            <p:cNvPr id="228" name="Google Shape;228;p18"/>
            <p:cNvSpPr/>
            <p:nvPr/>
          </p:nvSpPr>
          <p:spPr>
            <a:xfrm>
              <a:off x="8229600" y="2505456"/>
              <a:ext cx="548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00"/>
                <a:buFont typeface="Calibri"/>
                <a:buNone/>
              </a:pPr>
              <a:r>
                <a:rPr b="1" i="0" lang="en-US" sz="1000" u="none" cap="none" strike="noStrike">
                  <a:solidFill>
                    <a:srgbClr val="1565A0"/>
                  </a:solidFill>
                  <a:latin typeface="Calibri"/>
                  <a:ea typeface="Calibri"/>
                  <a:cs typeface="Calibri"/>
                  <a:sym typeface="Calibri"/>
                </a:rPr>
                <a:t>4.69</a:t>
              </a:r>
              <a:endParaRPr b="0" i="0" sz="1000" u="none" cap="none" strike="noStrike">
                <a:solidFill>
                  <a:srgbClr val="1565A0"/>
                </a:solidFill>
                <a:latin typeface="Calibri"/>
                <a:ea typeface="Calibri"/>
                <a:cs typeface="Calibri"/>
                <a:sym typeface="Calibri"/>
              </a:endParaRPr>
            </a:p>
          </p:txBody>
        </p:sp>
      </p:grpSp>
      <p:sp>
        <p:nvSpPr>
          <p:cNvPr id="229" name="Google Shape;229;p18"/>
          <p:cNvSpPr/>
          <p:nvPr/>
        </p:nvSpPr>
        <p:spPr>
          <a:xfrm>
            <a:off x="4617720" y="2926080"/>
            <a:ext cx="4251960" cy="1554480"/>
          </a:xfrm>
          <a:prstGeom prst="rect">
            <a:avLst/>
          </a:prstGeom>
          <a:solidFill>
            <a:srgbClr val="FFFFFF"/>
          </a:solidFill>
          <a:ln cap="flat" cmpd="sng" w="9525">
            <a:solidFill>
              <a:srgbClr val="EEEEEE"/>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8"/>
          <p:cNvSpPr/>
          <p:nvPr/>
        </p:nvSpPr>
        <p:spPr>
          <a:xfrm>
            <a:off x="4773168" y="3017520"/>
            <a:ext cx="39136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200"/>
              <a:buFont typeface="Calibri"/>
              <a:buNone/>
            </a:pPr>
            <a:r>
              <a:rPr b="1" i="0" lang="en-US" sz="1200" u="none" cap="none" strike="noStrike">
                <a:solidFill>
                  <a:srgbClr val="2C2C2C"/>
                </a:solidFill>
                <a:latin typeface="Calibri"/>
                <a:ea typeface="Calibri"/>
                <a:cs typeface="Calibri"/>
                <a:sym typeface="Calibri"/>
              </a:rPr>
              <a:t>Student vs Graduate Rating Gap</a:t>
            </a:r>
            <a:endParaRPr b="0" i="0" sz="1200" u="none" cap="none" strike="noStrike">
              <a:solidFill>
                <a:schemeClr val="dk1"/>
              </a:solidFill>
              <a:latin typeface="Calibri"/>
              <a:ea typeface="Calibri"/>
              <a:cs typeface="Calibri"/>
              <a:sym typeface="Calibri"/>
            </a:endParaRPr>
          </a:p>
        </p:txBody>
      </p:sp>
      <p:sp>
        <p:nvSpPr>
          <p:cNvPr id="231" name="Google Shape;231;p18"/>
          <p:cNvSpPr/>
          <p:nvPr/>
        </p:nvSpPr>
        <p:spPr>
          <a:xfrm>
            <a:off x="4773168" y="3383280"/>
            <a:ext cx="21945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0" lang="en-US" sz="1000" u="none" cap="none" strike="noStrike">
                <a:solidFill>
                  <a:srgbClr val="2C2C2C"/>
                </a:solidFill>
                <a:latin typeface="Calibri"/>
                <a:ea typeface="Calibri"/>
                <a:cs typeface="Calibri"/>
                <a:sym typeface="Calibri"/>
              </a:rPr>
              <a:t>Students (enrolled)</a:t>
            </a:r>
            <a:endParaRPr b="0" i="0" sz="1000" u="none" cap="none" strike="noStrike">
              <a:solidFill>
                <a:schemeClr val="dk1"/>
              </a:solidFill>
              <a:latin typeface="Calibri"/>
              <a:ea typeface="Calibri"/>
              <a:cs typeface="Calibri"/>
              <a:sym typeface="Calibri"/>
            </a:endParaRPr>
          </a:p>
        </p:txBody>
      </p:sp>
      <p:sp>
        <p:nvSpPr>
          <p:cNvPr id="232" name="Google Shape;232;p18"/>
          <p:cNvSpPr/>
          <p:nvPr/>
        </p:nvSpPr>
        <p:spPr>
          <a:xfrm>
            <a:off x="6995160" y="3429000"/>
            <a:ext cx="1034186" cy="182880"/>
          </a:xfrm>
          <a:prstGeom prst="rect">
            <a:avLst/>
          </a:prstGeom>
          <a:solidFill>
            <a:srgbClr val="E8A030"/>
          </a:solidFill>
          <a:ln cap="flat" cmpd="sng" w="12700">
            <a:solidFill>
              <a:srgbClr val="E8A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8"/>
          <p:cNvSpPr/>
          <p:nvPr/>
        </p:nvSpPr>
        <p:spPr>
          <a:xfrm>
            <a:off x="6995160" y="3429000"/>
            <a:ext cx="1188720" cy="182880"/>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8"/>
          <p:cNvSpPr/>
          <p:nvPr/>
        </p:nvSpPr>
        <p:spPr>
          <a:xfrm>
            <a:off x="6995160" y="3429000"/>
            <a:ext cx="1034100" cy="18300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8"/>
          <p:cNvSpPr/>
          <p:nvPr/>
        </p:nvSpPr>
        <p:spPr>
          <a:xfrm>
            <a:off x="4773168" y="3858768"/>
            <a:ext cx="21945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0" lang="en-US" sz="1000" u="none" cap="none" strike="noStrike">
                <a:solidFill>
                  <a:srgbClr val="2C2C2C"/>
                </a:solidFill>
                <a:latin typeface="Calibri"/>
                <a:ea typeface="Calibri"/>
                <a:cs typeface="Calibri"/>
                <a:sym typeface="Calibri"/>
              </a:rPr>
              <a:t>Graduates (retrospective)</a:t>
            </a:r>
            <a:endParaRPr b="0" i="0" sz="1000" u="none" cap="none" strike="noStrike">
              <a:solidFill>
                <a:schemeClr val="dk1"/>
              </a:solidFill>
              <a:latin typeface="Calibri"/>
              <a:ea typeface="Calibri"/>
              <a:cs typeface="Calibri"/>
              <a:sym typeface="Calibri"/>
            </a:endParaRPr>
          </a:p>
        </p:txBody>
      </p:sp>
      <p:sp>
        <p:nvSpPr>
          <p:cNvPr id="236" name="Google Shape;236;p18"/>
          <p:cNvSpPr/>
          <p:nvPr/>
        </p:nvSpPr>
        <p:spPr>
          <a:xfrm>
            <a:off x="6995160" y="3904488"/>
            <a:ext cx="1105510" cy="182880"/>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8"/>
          <p:cNvSpPr/>
          <p:nvPr/>
        </p:nvSpPr>
        <p:spPr>
          <a:xfrm>
            <a:off x="6995160" y="3904488"/>
            <a:ext cx="1188720" cy="182880"/>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8"/>
          <p:cNvSpPr/>
          <p:nvPr/>
        </p:nvSpPr>
        <p:spPr>
          <a:xfrm>
            <a:off x="6995160" y="3904488"/>
            <a:ext cx="1105500" cy="18300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9" name="Google Shape;239;p18"/>
          <p:cNvGrpSpPr/>
          <p:nvPr/>
        </p:nvGrpSpPr>
        <p:grpSpPr>
          <a:xfrm>
            <a:off x="6281938" y="3383255"/>
            <a:ext cx="502920" cy="731520"/>
            <a:chOff x="8247888" y="3383280"/>
            <a:chExt cx="502920" cy="731520"/>
          </a:xfrm>
        </p:grpSpPr>
        <p:sp>
          <p:nvSpPr>
            <p:cNvPr id="240" name="Google Shape;240;p18"/>
            <p:cNvSpPr/>
            <p:nvPr/>
          </p:nvSpPr>
          <p:spPr>
            <a:xfrm>
              <a:off x="8247888" y="3383280"/>
              <a:ext cx="502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30"/>
                </a:buClr>
                <a:buSzPts val="1000"/>
                <a:buFont typeface="Calibri"/>
                <a:buNone/>
              </a:pPr>
              <a:r>
                <a:rPr b="1" i="0" lang="en-US" sz="1000" u="none" cap="none" strike="noStrike">
                  <a:solidFill>
                    <a:srgbClr val="1565A0"/>
                  </a:solidFill>
                  <a:latin typeface="Calibri"/>
                  <a:ea typeface="Calibri"/>
                  <a:cs typeface="Calibri"/>
                  <a:sym typeface="Calibri"/>
                </a:rPr>
                <a:t>4.49</a:t>
              </a:r>
              <a:endParaRPr b="0" i="0" sz="1000" u="none" cap="none" strike="noStrike">
                <a:solidFill>
                  <a:srgbClr val="1565A0"/>
                </a:solidFill>
                <a:latin typeface="Calibri"/>
                <a:ea typeface="Calibri"/>
                <a:cs typeface="Calibri"/>
                <a:sym typeface="Calibri"/>
              </a:endParaRPr>
            </a:p>
          </p:txBody>
        </p:sp>
        <p:sp>
          <p:nvSpPr>
            <p:cNvPr id="241" name="Google Shape;241;p18"/>
            <p:cNvSpPr/>
            <p:nvPr/>
          </p:nvSpPr>
          <p:spPr>
            <a:xfrm>
              <a:off x="8247888" y="3858768"/>
              <a:ext cx="502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00"/>
                <a:buFont typeface="Calibri"/>
                <a:buNone/>
              </a:pPr>
              <a:r>
                <a:rPr b="1" i="0" lang="en-US" sz="1000" u="none" cap="none" strike="noStrike">
                  <a:solidFill>
                    <a:srgbClr val="1565A0"/>
                  </a:solidFill>
                  <a:latin typeface="Calibri"/>
                  <a:ea typeface="Calibri"/>
                  <a:cs typeface="Calibri"/>
                  <a:sym typeface="Calibri"/>
                </a:rPr>
                <a:t>4.73</a:t>
              </a:r>
              <a:endParaRPr b="0" i="0" sz="1000" u="none" cap="none" strike="noStrike">
                <a:solidFill>
                  <a:srgbClr val="1565A0"/>
                </a:solidFill>
                <a:latin typeface="Calibri"/>
                <a:ea typeface="Calibri"/>
                <a:cs typeface="Calibri"/>
                <a:sym typeface="Calibri"/>
              </a:endParaRPr>
            </a:p>
          </p:txBody>
        </p:sp>
      </p:grpSp>
      <p:sp>
        <p:nvSpPr>
          <p:cNvPr id="242" name="Google Shape;242;p18"/>
          <p:cNvSpPr/>
          <p:nvPr/>
        </p:nvSpPr>
        <p:spPr>
          <a:xfrm>
            <a:off x="4786943" y="4114932"/>
            <a:ext cx="3913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1" lang="en-US" sz="900" u="none" cap="none" strike="noStrike">
                <a:solidFill>
                  <a:srgbClr val="888888"/>
                </a:solidFill>
                <a:latin typeface="Calibri"/>
                <a:ea typeface="Calibri"/>
                <a:cs typeface="Calibri"/>
                <a:sym typeface="Calibri"/>
              </a:rPr>
              <a:t>The course experience is rated more positively in retrospect. Expectation-setting during enrollment may need attention.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9"/>
          <p:cNvSpPr/>
          <p:nvPr/>
        </p:nvSpPr>
        <p:spPr>
          <a:xfrm>
            <a:off x="0" y="0"/>
            <a:ext cx="9144000" cy="658368"/>
          </a:xfrm>
          <a:prstGeom prst="rect">
            <a:avLst/>
          </a:prstGeom>
          <a:solidFill>
            <a:srgbClr val="2C2C2C"/>
          </a:solidFill>
          <a:ln cap="flat" cmpd="sng" w="12700">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9"/>
          <p:cNvSpPr/>
          <p:nvPr/>
        </p:nvSpPr>
        <p:spPr>
          <a:xfrm>
            <a:off x="0" y="0"/>
            <a:ext cx="164592" cy="658368"/>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9"/>
          <p:cNvSpPr/>
          <p:nvPr/>
        </p:nvSpPr>
        <p:spPr>
          <a:xfrm>
            <a:off x="292608" y="64008"/>
            <a:ext cx="7772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Sentiment Analysis</a:t>
            </a:r>
            <a:endParaRPr b="0" i="0" sz="2000" u="none" cap="none" strike="noStrike">
              <a:solidFill>
                <a:schemeClr val="dk1"/>
              </a:solidFill>
              <a:latin typeface="Calibri"/>
              <a:ea typeface="Calibri"/>
              <a:cs typeface="Calibri"/>
              <a:sym typeface="Calibri"/>
            </a:endParaRPr>
          </a:p>
        </p:txBody>
      </p:sp>
      <p:sp>
        <p:nvSpPr>
          <p:cNvPr id="251" name="Google Shape;251;p19"/>
          <p:cNvSpPr/>
          <p:nvPr/>
        </p:nvSpPr>
        <p:spPr>
          <a:xfrm>
            <a:off x="292608" y="384048"/>
            <a:ext cx="77724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000"/>
              <a:buFont typeface="Calibri"/>
              <a:buNone/>
            </a:pPr>
            <a:r>
              <a:rPr b="0" i="0" lang="en-US" sz="1000" u="none" cap="none" strike="noStrike">
                <a:solidFill>
                  <a:srgbClr val="AAAAAA"/>
                </a:solidFill>
                <a:latin typeface="Calibri"/>
                <a:ea typeface="Calibri"/>
                <a:cs typeface="Calibri"/>
                <a:sym typeface="Calibri"/>
              </a:rPr>
              <a:t>VADER compound scores — scale of −1 (negative) to +1 (positive)</a:t>
            </a:r>
            <a:endParaRPr b="0" i="0" sz="1000" u="none" cap="none" strike="noStrike">
              <a:solidFill>
                <a:schemeClr val="dk1"/>
              </a:solidFill>
              <a:latin typeface="Calibri"/>
              <a:ea typeface="Calibri"/>
              <a:cs typeface="Calibri"/>
              <a:sym typeface="Calibri"/>
            </a:endParaRPr>
          </a:p>
        </p:txBody>
      </p:sp>
      <p:sp>
        <p:nvSpPr>
          <p:cNvPr id="252" name="Google Shape;252;p19"/>
          <p:cNvSpPr/>
          <p:nvPr/>
        </p:nvSpPr>
        <p:spPr>
          <a:xfrm>
            <a:off x="0" y="4892040"/>
            <a:ext cx="9144000" cy="251460"/>
          </a:xfrm>
          <a:prstGeom prst="rect">
            <a:avLst/>
          </a:prstGeom>
          <a:solidFill>
            <a:srgbClr val="2C2C2C"/>
          </a:solidFill>
          <a:ln cap="flat" cmpd="sng" w="12700">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9"/>
          <p:cNvSpPr/>
          <p:nvPr/>
        </p:nvSpPr>
        <p:spPr>
          <a:xfrm>
            <a:off x="274320" y="4901184"/>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800"/>
              <a:buFont typeface="Calibri"/>
              <a:buNone/>
            </a:pPr>
            <a:r>
              <a:rPr b="0" i="0" lang="en-US" sz="800" u="none" cap="none" strike="noStrike">
                <a:solidFill>
                  <a:srgbClr val="AAAAAA"/>
                </a:solidFill>
                <a:latin typeface="Calibri"/>
                <a:ea typeface="Calibri"/>
                <a:cs typeface="Calibri"/>
                <a:sym typeface="Calibri"/>
              </a:rPr>
              <a:t>WBS Coding School  |  Student Review Analysis  |  Essentis  |  March 2026</a:t>
            </a:r>
            <a:endParaRPr b="0" i="0" sz="800" u="none" cap="none" strike="noStrike">
              <a:solidFill>
                <a:schemeClr val="dk1"/>
              </a:solidFill>
              <a:latin typeface="Calibri"/>
              <a:ea typeface="Calibri"/>
              <a:cs typeface="Calibri"/>
              <a:sym typeface="Calibri"/>
            </a:endParaRPr>
          </a:p>
        </p:txBody>
      </p:sp>
      <p:sp>
        <p:nvSpPr>
          <p:cNvPr id="254" name="Google Shape;254;p19"/>
          <p:cNvSpPr/>
          <p:nvPr/>
        </p:nvSpPr>
        <p:spPr>
          <a:xfrm>
            <a:off x="8686800" y="4901184"/>
            <a:ext cx="3657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AAAAA"/>
              </a:buClr>
              <a:buSzPts val="800"/>
              <a:buFont typeface="Calibri"/>
              <a:buNone/>
            </a:pPr>
            <a:r>
              <a:rPr b="0" i="0" lang="en-US" sz="800" u="none" cap="none" strike="noStrike">
                <a:solidFill>
                  <a:srgbClr val="AAAAAA"/>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sp>
        <p:nvSpPr>
          <p:cNvPr id="255" name="Google Shape;255;p19"/>
          <p:cNvSpPr/>
          <p:nvPr/>
        </p:nvSpPr>
        <p:spPr>
          <a:xfrm>
            <a:off x="274320" y="822960"/>
            <a:ext cx="1920240" cy="914400"/>
          </a:xfrm>
          <a:prstGeom prst="rect">
            <a:avLst/>
          </a:prstGeom>
          <a:solidFill>
            <a:srgbClr val="FFFFFF"/>
          </a:solidFill>
          <a:ln cap="flat" cmpd="sng" w="9525">
            <a:solidFill>
              <a:srgbClr val="EEEEEE"/>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9"/>
          <p:cNvSpPr/>
          <p:nvPr/>
        </p:nvSpPr>
        <p:spPr>
          <a:xfrm>
            <a:off x="274320" y="822960"/>
            <a:ext cx="54864" cy="914400"/>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9"/>
          <p:cNvSpPr/>
          <p:nvPr/>
        </p:nvSpPr>
        <p:spPr>
          <a:xfrm>
            <a:off x="411480" y="932688"/>
            <a:ext cx="17373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2800"/>
              <a:buFont typeface="Calibri"/>
              <a:buNone/>
            </a:pPr>
            <a:r>
              <a:rPr b="1" i="0" lang="en-US" sz="2800" u="none" cap="none" strike="noStrike">
                <a:solidFill>
                  <a:srgbClr val="1A1A1A"/>
                </a:solidFill>
                <a:latin typeface="Calibri"/>
                <a:ea typeface="Calibri"/>
                <a:cs typeface="Calibri"/>
                <a:sym typeface="Calibri"/>
              </a:rPr>
              <a:t>0.862</a:t>
            </a:r>
            <a:endParaRPr b="0" i="0" sz="2800" u="none" cap="none" strike="noStrike">
              <a:solidFill>
                <a:srgbClr val="1A1A1A"/>
              </a:solidFill>
              <a:latin typeface="Calibri"/>
              <a:ea typeface="Calibri"/>
              <a:cs typeface="Calibri"/>
              <a:sym typeface="Calibri"/>
            </a:endParaRPr>
          </a:p>
        </p:txBody>
      </p:sp>
      <p:sp>
        <p:nvSpPr>
          <p:cNvPr id="258" name="Google Shape;258;p19"/>
          <p:cNvSpPr/>
          <p:nvPr/>
        </p:nvSpPr>
        <p:spPr>
          <a:xfrm>
            <a:off x="411480" y="1325880"/>
            <a:ext cx="17373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100"/>
              <a:buFont typeface="Calibri"/>
              <a:buNone/>
            </a:pPr>
            <a:r>
              <a:rPr b="1" i="0" lang="en-US" sz="1100" u="none" cap="none" strike="noStrike">
                <a:solidFill>
                  <a:srgbClr val="2C2C2C"/>
                </a:solidFill>
                <a:latin typeface="Calibri"/>
                <a:ea typeface="Calibri"/>
                <a:cs typeface="Calibri"/>
                <a:sym typeface="Calibri"/>
              </a:rPr>
              <a:t>Avg Compound Score</a:t>
            </a:r>
            <a:endParaRPr b="0" i="0" sz="1100" u="none" cap="none" strike="noStrike">
              <a:solidFill>
                <a:schemeClr val="dk1"/>
              </a:solidFill>
              <a:latin typeface="Calibri"/>
              <a:ea typeface="Calibri"/>
              <a:cs typeface="Calibri"/>
              <a:sym typeface="Calibri"/>
            </a:endParaRPr>
          </a:p>
        </p:txBody>
      </p:sp>
      <p:sp>
        <p:nvSpPr>
          <p:cNvPr id="259" name="Google Shape;259;p19"/>
          <p:cNvSpPr/>
          <p:nvPr/>
        </p:nvSpPr>
        <p:spPr>
          <a:xfrm>
            <a:off x="411480" y="1508760"/>
            <a:ext cx="1737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Median 0.964</a:t>
            </a:r>
            <a:endParaRPr b="0" i="0" sz="900" u="none" cap="none" strike="noStrike">
              <a:solidFill>
                <a:schemeClr val="dk1"/>
              </a:solidFill>
              <a:latin typeface="Calibri"/>
              <a:ea typeface="Calibri"/>
              <a:cs typeface="Calibri"/>
              <a:sym typeface="Calibri"/>
            </a:endParaRPr>
          </a:p>
        </p:txBody>
      </p:sp>
      <p:sp>
        <p:nvSpPr>
          <p:cNvPr id="260" name="Google Shape;260;p19"/>
          <p:cNvSpPr/>
          <p:nvPr/>
        </p:nvSpPr>
        <p:spPr>
          <a:xfrm>
            <a:off x="2331720" y="822960"/>
            <a:ext cx="1920240" cy="914400"/>
          </a:xfrm>
          <a:prstGeom prst="rect">
            <a:avLst/>
          </a:prstGeom>
          <a:solidFill>
            <a:srgbClr val="FFFFFF"/>
          </a:solidFill>
          <a:ln cap="flat" cmpd="sng" w="9525">
            <a:solidFill>
              <a:srgbClr val="EEEEEE"/>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9"/>
          <p:cNvSpPr/>
          <p:nvPr/>
        </p:nvSpPr>
        <p:spPr>
          <a:xfrm>
            <a:off x="2331720" y="822960"/>
            <a:ext cx="54864" cy="914400"/>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9"/>
          <p:cNvSpPr/>
          <p:nvPr/>
        </p:nvSpPr>
        <p:spPr>
          <a:xfrm>
            <a:off x="2468880" y="932688"/>
            <a:ext cx="17373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2800"/>
              <a:buFont typeface="Calibri"/>
              <a:buNone/>
            </a:pPr>
            <a:r>
              <a:rPr b="1" i="0" lang="en-US" sz="2800" u="none" cap="none" strike="noStrike">
                <a:solidFill>
                  <a:srgbClr val="1A1A1A"/>
                </a:solidFill>
                <a:latin typeface="Calibri"/>
                <a:ea typeface="Calibri"/>
                <a:cs typeface="Calibri"/>
                <a:sym typeface="Calibri"/>
              </a:rPr>
              <a:t>96.7%</a:t>
            </a:r>
            <a:endParaRPr b="0" i="0" sz="2800" u="none" cap="none" strike="noStrike">
              <a:solidFill>
                <a:srgbClr val="1A1A1A"/>
              </a:solidFill>
              <a:latin typeface="Calibri"/>
              <a:ea typeface="Calibri"/>
              <a:cs typeface="Calibri"/>
              <a:sym typeface="Calibri"/>
            </a:endParaRPr>
          </a:p>
        </p:txBody>
      </p:sp>
      <p:sp>
        <p:nvSpPr>
          <p:cNvPr id="263" name="Google Shape;263;p19"/>
          <p:cNvSpPr/>
          <p:nvPr/>
        </p:nvSpPr>
        <p:spPr>
          <a:xfrm>
            <a:off x="2468880" y="1325880"/>
            <a:ext cx="17373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100"/>
              <a:buFont typeface="Calibri"/>
              <a:buNone/>
            </a:pPr>
            <a:r>
              <a:rPr b="1" i="0" lang="en-US" sz="1100" u="none" cap="none" strike="noStrike">
                <a:solidFill>
                  <a:srgbClr val="2C2C2C"/>
                </a:solidFill>
                <a:latin typeface="Calibri"/>
                <a:ea typeface="Calibri"/>
                <a:cs typeface="Calibri"/>
                <a:sym typeface="Calibri"/>
              </a:rPr>
              <a:t>Positive Reviews</a:t>
            </a:r>
            <a:endParaRPr b="0" i="0" sz="1100" u="none" cap="none" strike="noStrike">
              <a:solidFill>
                <a:schemeClr val="dk1"/>
              </a:solidFill>
              <a:latin typeface="Calibri"/>
              <a:ea typeface="Calibri"/>
              <a:cs typeface="Calibri"/>
              <a:sym typeface="Calibri"/>
            </a:endParaRPr>
          </a:p>
        </p:txBody>
      </p:sp>
      <p:sp>
        <p:nvSpPr>
          <p:cNvPr id="264" name="Google Shape;264;p19"/>
          <p:cNvSpPr/>
          <p:nvPr/>
        </p:nvSpPr>
        <p:spPr>
          <a:xfrm>
            <a:off x="2468880" y="1508760"/>
            <a:ext cx="1737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791 of 818</a:t>
            </a:r>
            <a:endParaRPr b="0" i="0" sz="900" u="none" cap="none" strike="noStrike">
              <a:solidFill>
                <a:schemeClr val="dk1"/>
              </a:solidFill>
              <a:latin typeface="Calibri"/>
              <a:ea typeface="Calibri"/>
              <a:cs typeface="Calibri"/>
              <a:sym typeface="Calibri"/>
            </a:endParaRPr>
          </a:p>
        </p:txBody>
      </p:sp>
      <p:sp>
        <p:nvSpPr>
          <p:cNvPr id="265" name="Google Shape;265;p19"/>
          <p:cNvSpPr/>
          <p:nvPr/>
        </p:nvSpPr>
        <p:spPr>
          <a:xfrm>
            <a:off x="4389120" y="822960"/>
            <a:ext cx="1920240" cy="914400"/>
          </a:xfrm>
          <a:prstGeom prst="rect">
            <a:avLst/>
          </a:prstGeom>
          <a:solidFill>
            <a:srgbClr val="FFFFFF"/>
          </a:solidFill>
          <a:ln cap="flat" cmpd="sng" w="9525">
            <a:solidFill>
              <a:srgbClr val="EEEEEE"/>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9"/>
          <p:cNvSpPr/>
          <p:nvPr/>
        </p:nvSpPr>
        <p:spPr>
          <a:xfrm>
            <a:off x="4389120" y="822960"/>
            <a:ext cx="54864" cy="914400"/>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9"/>
          <p:cNvSpPr/>
          <p:nvPr/>
        </p:nvSpPr>
        <p:spPr>
          <a:xfrm>
            <a:off x="4526280" y="932688"/>
            <a:ext cx="17373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2800"/>
              <a:buFont typeface="Calibri"/>
              <a:buNone/>
            </a:pPr>
            <a:r>
              <a:rPr b="1" i="0" lang="en-US" sz="2800" u="none" cap="none" strike="noStrike">
                <a:solidFill>
                  <a:srgbClr val="1A1A1A"/>
                </a:solidFill>
                <a:latin typeface="Calibri"/>
                <a:ea typeface="Calibri"/>
                <a:cs typeface="Calibri"/>
                <a:sym typeface="Calibri"/>
              </a:rPr>
              <a:t>1.7%</a:t>
            </a:r>
            <a:endParaRPr b="0" i="0" sz="2800" u="none" cap="none" strike="noStrike">
              <a:solidFill>
                <a:srgbClr val="1A1A1A"/>
              </a:solidFill>
              <a:latin typeface="Calibri"/>
              <a:ea typeface="Calibri"/>
              <a:cs typeface="Calibri"/>
              <a:sym typeface="Calibri"/>
            </a:endParaRPr>
          </a:p>
        </p:txBody>
      </p:sp>
      <p:sp>
        <p:nvSpPr>
          <p:cNvPr id="268" name="Google Shape;268;p19"/>
          <p:cNvSpPr/>
          <p:nvPr/>
        </p:nvSpPr>
        <p:spPr>
          <a:xfrm>
            <a:off x="4526280" y="1325880"/>
            <a:ext cx="17373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100"/>
              <a:buFont typeface="Calibri"/>
              <a:buNone/>
            </a:pPr>
            <a:r>
              <a:rPr b="1" i="0" lang="en-US" sz="1100" u="none" cap="none" strike="noStrike">
                <a:solidFill>
                  <a:srgbClr val="2C2C2C"/>
                </a:solidFill>
                <a:latin typeface="Calibri"/>
                <a:ea typeface="Calibri"/>
                <a:cs typeface="Calibri"/>
                <a:sym typeface="Calibri"/>
              </a:rPr>
              <a:t>Negative Reviews</a:t>
            </a:r>
            <a:endParaRPr b="0" i="0" sz="1100" u="none" cap="none" strike="noStrike">
              <a:solidFill>
                <a:schemeClr val="dk1"/>
              </a:solidFill>
              <a:latin typeface="Calibri"/>
              <a:ea typeface="Calibri"/>
              <a:cs typeface="Calibri"/>
              <a:sym typeface="Calibri"/>
            </a:endParaRPr>
          </a:p>
        </p:txBody>
      </p:sp>
      <p:sp>
        <p:nvSpPr>
          <p:cNvPr id="269" name="Google Shape;269;p19"/>
          <p:cNvSpPr/>
          <p:nvPr/>
        </p:nvSpPr>
        <p:spPr>
          <a:xfrm>
            <a:off x="4526280" y="1508760"/>
            <a:ext cx="1737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14 reviews</a:t>
            </a:r>
            <a:endParaRPr b="0" i="0" sz="900" u="none" cap="none" strike="noStrike">
              <a:solidFill>
                <a:schemeClr val="dk1"/>
              </a:solidFill>
              <a:latin typeface="Calibri"/>
              <a:ea typeface="Calibri"/>
              <a:cs typeface="Calibri"/>
              <a:sym typeface="Calibri"/>
            </a:endParaRPr>
          </a:p>
        </p:txBody>
      </p:sp>
      <p:sp>
        <p:nvSpPr>
          <p:cNvPr id="270" name="Google Shape;270;p19"/>
          <p:cNvSpPr/>
          <p:nvPr/>
        </p:nvSpPr>
        <p:spPr>
          <a:xfrm>
            <a:off x="6446520" y="822960"/>
            <a:ext cx="2423160" cy="914400"/>
          </a:xfrm>
          <a:prstGeom prst="rect">
            <a:avLst/>
          </a:prstGeom>
          <a:solidFill>
            <a:srgbClr val="FFFFFF"/>
          </a:solidFill>
          <a:ln cap="flat" cmpd="sng" w="9525">
            <a:solidFill>
              <a:srgbClr val="EEEEEE"/>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9"/>
          <p:cNvSpPr/>
          <p:nvPr/>
        </p:nvSpPr>
        <p:spPr>
          <a:xfrm>
            <a:off x="6446520" y="822960"/>
            <a:ext cx="54864" cy="914400"/>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9"/>
          <p:cNvSpPr/>
          <p:nvPr/>
        </p:nvSpPr>
        <p:spPr>
          <a:xfrm>
            <a:off x="6583680" y="932688"/>
            <a:ext cx="22402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2800"/>
              <a:buFont typeface="Calibri"/>
              <a:buNone/>
            </a:pPr>
            <a:r>
              <a:rPr b="1" i="0" lang="en-US" sz="2800" u="none" cap="none" strike="noStrike">
                <a:solidFill>
                  <a:srgbClr val="1A1A1A"/>
                </a:solidFill>
                <a:latin typeface="Calibri"/>
                <a:ea typeface="Calibri"/>
                <a:cs typeface="Calibri"/>
                <a:sym typeface="Calibri"/>
              </a:rPr>
              <a:t>1.6%</a:t>
            </a:r>
            <a:endParaRPr b="0" i="0" sz="2800" u="none" cap="none" strike="noStrike">
              <a:solidFill>
                <a:srgbClr val="1A1A1A"/>
              </a:solidFill>
              <a:latin typeface="Calibri"/>
              <a:ea typeface="Calibri"/>
              <a:cs typeface="Calibri"/>
              <a:sym typeface="Calibri"/>
            </a:endParaRPr>
          </a:p>
        </p:txBody>
      </p:sp>
      <p:sp>
        <p:nvSpPr>
          <p:cNvPr id="273" name="Google Shape;273;p19"/>
          <p:cNvSpPr/>
          <p:nvPr/>
        </p:nvSpPr>
        <p:spPr>
          <a:xfrm>
            <a:off x="6583680" y="1325880"/>
            <a:ext cx="22402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100"/>
              <a:buFont typeface="Calibri"/>
              <a:buNone/>
            </a:pPr>
            <a:r>
              <a:rPr b="1" i="0" lang="en-US" sz="1100" u="none" cap="none" strike="noStrike">
                <a:solidFill>
                  <a:srgbClr val="2C2C2C"/>
                </a:solidFill>
                <a:latin typeface="Calibri"/>
                <a:ea typeface="Calibri"/>
                <a:cs typeface="Calibri"/>
                <a:sym typeface="Calibri"/>
              </a:rPr>
              <a:t>Neutral Reviews</a:t>
            </a:r>
            <a:endParaRPr b="0" i="0" sz="1100" u="none" cap="none" strike="noStrike">
              <a:solidFill>
                <a:schemeClr val="dk1"/>
              </a:solidFill>
              <a:latin typeface="Calibri"/>
              <a:ea typeface="Calibri"/>
              <a:cs typeface="Calibri"/>
              <a:sym typeface="Calibri"/>
            </a:endParaRPr>
          </a:p>
        </p:txBody>
      </p:sp>
      <p:sp>
        <p:nvSpPr>
          <p:cNvPr id="274" name="Google Shape;274;p19"/>
          <p:cNvSpPr/>
          <p:nvPr/>
        </p:nvSpPr>
        <p:spPr>
          <a:xfrm>
            <a:off x="6583680" y="1508760"/>
            <a:ext cx="22402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13 reviews</a:t>
            </a:r>
            <a:endParaRPr b="0" i="0" sz="900" u="none" cap="none" strike="noStrike">
              <a:solidFill>
                <a:schemeClr val="dk1"/>
              </a:solidFill>
              <a:latin typeface="Calibri"/>
              <a:ea typeface="Calibri"/>
              <a:cs typeface="Calibri"/>
              <a:sym typeface="Calibri"/>
            </a:endParaRPr>
          </a:p>
        </p:txBody>
      </p:sp>
      <p:sp>
        <p:nvSpPr>
          <p:cNvPr id="275" name="Google Shape;275;p19"/>
          <p:cNvSpPr/>
          <p:nvPr/>
        </p:nvSpPr>
        <p:spPr>
          <a:xfrm>
            <a:off x="274320" y="1901952"/>
            <a:ext cx="5029200" cy="2578608"/>
          </a:xfrm>
          <a:prstGeom prst="rect">
            <a:avLst/>
          </a:prstGeom>
          <a:solidFill>
            <a:srgbClr val="FFFFFF"/>
          </a:solidFill>
          <a:ln cap="flat" cmpd="sng" w="9525">
            <a:solidFill>
              <a:srgbClr val="EEEEEE"/>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9"/>
          <p:cNvSpPr/>
          <p:nvPr/>
        </p:nvSpPr>
        <p:spPr>
          <a:xfrm>
            <a:off x="457200" y="1993392"/>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200"/>
              <a:buFont typeface="Calibri"/>
              <a:buNone/>
            </a:pPr>
            <a:r>
              <a:rPr b="1" i="0" lang="en-US" sz="1200" u="none" cap="none" strike="noStrike">
                <a:solidFill>
                  <a:srgbClr val="2C2C2C"/>
                </a:solidFill>
                <a:latin typeface="Calibri"/>
                <a:ea typeface="Calibri"/>
                <a:cs typeface="Calibri"/>
                <a:sym typeface="Calibri"/>
              </a:rPr>
              <a:t>Platform Sentiment Gap — Most Important Finding</a:t>
            </a:r>
            <a:endParaRPr b="0" i="0" sz="1200" u="none" cap="none" strike="noStrike">
              <a:solidFill>
                <a:schemeClr val="dk1"/>
              </a:solidFill>
              <a:latin typeface="Calibri"/>
              <a:ea typeface="Calibri"/>
              <a:cs typeface="Calibri"/>
              <a:sym typeface="Calibri"/>
            </a:endParaRPr>
          </a:p>
        </p:txBody>
      </p:sp>
      <p:sp>
        <p:nvSpPr>
          <p:cNvPr id="277" name="Google Shape;277;p19"/>
          <p:cNvSpPr/>
          <p:nvPr/>
        </p:nvSpPr>
        <p:spPr>
          <a:xfrm>
            <a:off x="457200" y="2395728"/>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0" lang="en-US" sz="1000" u="none" cap="none" strike="noStrike">
                <a:solidFill>
                  <a:srgbClr val="2C2C2C"/>
                </a:solidFill>
                <a:latin typeface="Calibri"/>
                <a:ea typeface="Calibri"/>
                <a:cs typeface="Calibri"/>
                <a:sym typeface="Calibri"/>
              </a:rPr>
              <a:t>SwitchUp</a:t>
            </a:r>
            <a:endParaRPr b="0" i="0" sz="1000" u="none" cap="none" strike="noStrike">
              <a:solidFill>
                <a:schemeClr val="dk1"/>
              </a:solidFill>
              <a:latin typeface="Calibri"/>
              <a:ea typeface="Calibri"/>
              <a:cs typeface="Calibri"/>
              <a:sym typeface="Calibri"/>
            </a:endParaRPr>
          </a:p>
        </p:txBody>
      </p:sp>
      <p:sp>
        <p:nvSpPr>
          <p:cNvPr id="278" name="Google Shape;278;p19"/>
          <p:cNvSpPr/>
          <p:nvPr/>
        </p:nvSpPr>
        <p:spPr>
          <a:xfrm>
            <a:off x="1874520" y="2441448"/>
            <a:ext cx="2306117" cy="182880"/>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9"/>
          <p:cNvSpPr/>
          <p:nvPr/>
        </p:nvSpPr>
        <p:spPr>
          <a:xfrm>
            <a:off x="1874520" y="2441448"/>
            <a:ext cx="2377440" cy="182880"/>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9"/>
          <p:cNvSpPr/>
          <p:nvPr/>
        </p:nvSpPr>
        <p:spPr>
          <a:xfrm>
            <a:off x="1874520" y="2441448"/>
            <a:ext cx="2306117" cy="18288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9"/>
          <p:cNvSpPr/>
          <p:nvPr/>
        </p:nvSpPr>
        <p:spPr>
          <a:xfrm>
            <a:off x="4315968" y="2395728"/>
            <a:ext cx="457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00"/>
              <a:buFont typeface="Calibri"/>
              <a:buNone/>
            </a:pPr>
            <a:r>
              <a:rPr b="1" i="0" lang="en-US" sz="1000" u="none" cap="none" strike="noStrike">
                <a:solidFill>
                  <a:srgbClr val="1A1A1A"/>
                </a:solidFill>
                <a:latin typeface="Calibri"/>
                <a:ea typeface="Calibri"/>
                <a:cs typeface="Calibri"/>
                <a:sym typeface="Calibri"/>
              </a:rPr>
              <a:t>0.940</a:t>
            </a:r>
            <a:endParaRPr b="0" i="0" sz="1000" u="none" cap="none" strike="noStrike">
              <a:solidFill>
                <a:srgbClr val="1A1A1A"/>
              </a:solidFill>
              <a:latin typeface="Calibri"/>
              <a:ea typeface="Calibri"/>
              <a:cs typeface="Calibri"/>
              <a:sym typeface="Calibri"/>
            </a:endParaRPr>
          </a:p>
        </p:txBody>
      </p:sp>
      <p:sp>
        <p:nvSpPr>
          <p:cNvPr id="282" name="Google Shape;282;p19"/>
          <p:cNvSpPr/>
          <p:nvPr/>
        </p:nvSpPr>
        <p:spPr>
          <a:xfrm>
            <a:off x="4800600" y="2395728"/>
            <a:ext cx="502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n=317</a:t>
            </a:r>
            <a:endParaRPr b="0" i="0" sz="900" u="none" cap="none" strike="noStrike">
              <a:solidFill>
                <a:schemeClr val="dk1"/>
              </a:solidFill>
              <a:latin typeface="Calibri"/>
              <a:ea typeface="Calibri"/>
              <a:cs typeface="Calibri"/>
              <a:sym typeface="Calibri"/>
            </a:endParaRPr>
          </a:p>
        </p:txBody>
      </p:sp>
      <p:sp>
        <p:nvSpPr>
          <p:cNvPr id="283" name="Google Shape;283;p19"/>
          <p:cNvSpPr/>
          <p:nvPr/>
        </p:nvSpPr>
        <p:spPr>
          <a:xfrm>
            <a:off x="457200" y="2926080"/>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0" lang="en-US" sz="1000" u="none" cap="none" strike="noStrike">
                <a:solidFill>
                  <a:srgbClr val="2C2C2C"/>
                </a:solidFill>
                <a:latin typeface="Calibri"/>
                <a:ea typeface="Calibri"/>
                <a:cs typeface="Calibri"/>
                <a:sym typeface="Calibri"/>
              </a:rPr>
              <a:t>Course Report</a:t>
            </a:r>
            <a:endParaRPr b="0" i="0" sz="1000" u="none" cap="none" strike="noStrike">
              <a:solidFill>
                <a:schemeClr val="dk1"/>
              </a:solidFill>
              <a:latin typeface="Calibri"/>
              <a:ea typeface="Calibri"/>
              <a:cs typeface="Calibri"/>
              <a:sym typeface="Calibri"/>
            </a:endParaRPr>
          </a:p>
        </p:txBody>
      </p:sp>
      <p:sp>
        <p:nvSpPr>
          <p:cNvPr id="284" name="Google Shape;284;p19"/>
          <p:cNvSpPr/>
          <p:nvPr/>
        </p:nvSpPr>
        <p:spPr>
          <a:xfrm>
            <a:off x="1874520" y="2971800"/>
            <a:ext cx="2306117" cy="182880"/>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9"/>
          <p:cNvSpPr/>
          <p:nvPr/>
        </p:nvSpPr>
        <p:spPr>
          <a:xfrm>
            <a:off x="1874520" y="2971800"/>
            <a:ext cx="2377440" cy="182880"/>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9"/>
          <p:cNvSpPr/>
          <p:nvPr/>
        </p:nvSpPr>
        <p:spPr>
          <a:xfrm>
            <a:off x="1874520" y="2971800"/>
            <a:ext cx="2306117" cy="18288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9"/>
          <p:cNvSpPr/>
          <p:nvPr/>
        </p:nvSpPr>
        <p:spPr>
          <a:xfrm>
            <a:off x="4315968" y="2926080"/>
            <a:ext cx="457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00"/>
              <a:buFont typeface="Calibri"/>
              <a:buNone/>
            </a:pPr>
            <a:r>
              <a:rPr b="1" i="0" lang="en-US" sz="1000" u="none" cap="none" strike="noStrike">
                <a:solidFill>
                  <a:srgbClr val="1A1A1A"/>
                </a:solidFill>
                <a:latin typeface="Calibri"/>
                <a:ea typeface="Calibri"/>
                <a:cs typeface="Calibri"/>
                <a:sym typeface="Calibri"/>
              </a:rPr>
              <a:t>0.939</a:t>
            </a:r>
            <a:endParaRPr b="0" i="0" sz="1000" u="none" cap="none" strike="noStrike">
              <a:solidFill>
                <a:srgbClr val="1A1A1A"/>
              </a:solidFill>
              <a:latin typeface="Calibri"/>
              <a:ea typeface="Calibri"/>
              <a:cs typeface="Calibri"/>
              <a:sym typeface="Calibri"/>
            </a:endParaRPr>
          </a:p>
        </p:txBody>
      </p:sp>
      <p:sp>
        <p:nvSpPr>
          <p:cNvPr id="288" name="Google Shape;288;p19"/>
          <p:cNvSpPr/>
          <p:nvPr/>
        </p:nvSpPr>
        <p:spPr>
          <a:xfrm>
            <a:off x="4800600" y="2926080"/>
            <a:ext cx="502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n=266</a:t>
            </a:r>
            <a:endParaRPr b="0" i="0" sz="900" u="none" cap="none" strike="noStrike">
              <a:solidFill>
                <a:schemeClr val="dk1"/>
              </a:solidFill>
              <a:latin typeface="Calibri"/>
              <a:ea typeface="Calibri"/>
              <a:cs typeface="Calibri"/>
              <a:sym typeface="Calibri"/>
            </a:endParaRPr>
          </a:p>
        </p:txBody>
      </p:sp>
      <p:sp>
        <p:nvSpPr>
          <p:cNvPr id="289" name="Google Shape;289;p19"/>
          <p:cNvSpPr/>
          <p:nvPr/>
        </p:nvSpPr>
        <p:spPr>
          <a:xfrm>
            <a:off x="457200" y="3456432"/>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0" lang="en-US" sz="1000" u="none" cap="none" strike="noStrike">
                <a:solidFill>
                  <a:srgbClr val="2C2C2C"/>
                </a:solidFill>
                <a:latin typeface="Calibri"/>
                <a:ea typeface="Calibri"/>
                <a:cs typeface="Calibri"/>
                <a:sym typeface="Calibri"/>
              </a:rPr>
              <a:t>Google</a:t>
            </a:r>
            <a:endParaRPr b="0" i="0" sz="1000" u="none" cap="none" strike="noStrike">
              <a:solidFill>
                <a:schemeClr val="dk1"/>
              </a:solidFill>
              <a:latin typeface="Calibri"/>
              <a:ea typeface="Calibri"/>
              <a:cs typeface="Calibri"/>
              <a:sym typeface="Calibri"/>
            </a:endParaRPr>
          </a:p>
        </p:txBody>
      </p:sp>
      <p:sp>
        <p:nvSpPr>
          <p:cNvPr id="290" name="Google Shape;290;p19"/>
          <p:cNvSpPr/>
          <p:nvPr/>
        </p:nvSpPr>
        <p:spPr>
          <a:xfrm>
            <a:off x="1874520" y="3502152"/>
            <a:ext cx="1640434" cy="182880"/>
          </a:xfrm>
          <a:prstGeom prst="rect">
            <a:avLst/>
          </a:prstGeom>
          <a:solidFill>
            <a:srgbClr val="C23038"/>
          </a:solidFill>
          <a:ln cap="flat" cmpd="sng" w="12700">
            <a:solidFill>
              <a:srgbClr val="C230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9"/>
          <p:cNvSpPr/>
          <p:nvPr/>
        </p:nvSpPr>
        <p:spPr>
          <a:xfrm>
            <a:off x="1874520" y="3502152"/>
            <a:ext cx="2377440" cy="182880"/>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9"/>
          <p:cNvSpPr/>
          <p:nvPr/>
        </p:nvSpPr>
        <p:spPr>
          <a:xfrm>
            <a:off x="1874520" y="3502152"/>
            <a:ext cx="1640434" cy="18288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9"/>
          <p:cNvSpPr/>
          <p:nvPr/>
        </p:nvSpPr>
        <p:spPr>
          <a:xfrm>
            <a:off x="4315968" y="3456432"/>
            <a:ext cx="457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3038"/>
              </a:buClr>
              <a:buSzPts val="1000"/>
              <a:buFont typeface="Calibri"/>
              <a:buNone/>
            </a:pPr>
            <a:r>
              <a:rPr b="1" i="0" lang="en-US" sz="1000" u="none" cap="none" strike="noStrike">
                <a:solidFill>
                  <a:srgbClr val="1A1A1A"/>
                </a:solidFill>
                <a:latin typeface="Calibri"/>
                <a:ea typeface="Calibri"/>
                <a:cs typeface="Calibri"/>
                <a:sym typeface="Calibri"/>
              </a:rPr>
              <a:t>0.668</a:t>
            </a:r>
            <a:endParaRPr b="0" i="0" sz="1000" u="none" cap="none" strike="noStrike">
              <a:solidFill>
                <a:srgbClr val="1A1A1A"/>
              </a:solidFill>
              <a:latin typeface="Calibri"/>
              <a:ea typeface="Calibri"/>
              <a:cs typeface="Calibri"/>
              <a:sym typeface="Calibri"/>
            </a:endParaRPr>
          </a:p>
        </p:txBody>
      </p:sp>
      <p:sp>
        <p:nvSpPr>
          <p:cNvPr id="294" name="Google Shape;294;p19"/>
          <p:cNvSpPr/>
          <p:nvPr/>
        </p:nvSpPr>
        <p:spPr>
          <a:xfrm>
            <a:off x="4800600" y="3456432"/>
            <a:ext cx="502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0" lang="en-US" sz="900" u="none" cap="none" strike="noStrike">
                <a:solidFill>
                  <a:srgbClr val="888888"/>
                </a:solidFill>
                <a:latin typeface="Calibri"/>
                <a:ea typeface="Calibri"/>
                <a:cs typeface="Calibri"/>
                <a:sym typeface="Calibri"/>
              </a:rPr>
              <a:t>n=235</a:t>
            </a:r>
            <a:endParaRPr b="0" i="0" sz="900" u="none" cap="none" strike="noStrike">
              <a:solidFill>
                <a:schemeClr val="dk1"/>
              </a:solidFill>
              <a:latin typeface="Calibri"/>
              <a:ea typeface="Calibri"/>
              <a:cs typeface="Calibri"/>
              <a:sym typeface="Calibri"/>
            </a:endParaRPr>
          </a:p>
        </p:txBody>
      </p:sp>
      <p:sp>
        <p:nvSpPr>
          <p:cNvPr id="295" name="Google Shape;295;p19"/>
          <p:cNvSpPr/>
          <p:nvPr/>
        </p:nvSpPr>
        <p:spPr>
          <a:xfrm>
            <a:off x="457200" y="4059936"/>
            <a:ext cx="46634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1" lang="en-US" sz="900" u="none" cap="none" strike="noStrike">
                <a:solidFill>
                  <a:srgbClr val="888888"/>
                </a:solidFill>
                <a:latin typeface="Calibri"/>
                <a:ea typeface="Calibri"/>
                <a:cs typeface="Calibri"/>
                <a:sym typeface="Calibri"/>
              </a:rPr>
              <a:t>Google reviews score 29% lower than specialist platforms. This reflects a broader, less self-selected audience — not a quality problem.</a:t>
            </a:r>
            <a:endParaRPr b="0" i="0" sz="900" u="none" cap="none" strike="noStrike">
              <a:solidFill>
                <a:schemeClr val="dk1"/>
              </a:solidFill>
              <a:latin typeface="Calibri"/>
              <a:ea typeface="Calibri"/>
              <a:cs typeface="Calibri"/>
              <a:sym typeface="Calibri"/>
            </a:endParaRPr>
          </a:p>
        </p:txBody>
      </p:sp>
      <p:sp>
        <p:nvSpPr>
          <p:cNvPr id="296" name="Google Shape;296;p19"/>
          <p:cNvSpPr/>
          <p:nvPr/>
        </p:nvSpPr>
        <p:spPr>
          <a:xfrm>
            <a:off x="5440680" y="1901952"/>
            <a:ext cx="3429000" cy="1234440"/>
          </a:xfrm>
          <a:prstGeom prst="rect">
            <a:avLst/>
          </a:prstGeom>
          <a:solidFill>
            <a:srgbClr val="FFFFFF"/>
          </a:solidFill>
          <a:ln cap="flat" cmpd="sng" w="9525">
            <a:solidFill>
              <a:srgbClr val="EEEEEE"/>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9"/>
          <p:cNvSpPr/>
          <p:nvPr/>
        </p:nvSpPr>
        <p:spPr>
          <a:xfrm>
            <a:off x="5440680" y="1901952"/>
            <a:ext cx="3429000" cy="54864"/>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9"/>
          <p:cNvSpPr/>
          <p:nvPr/>
        </p:nvSpPr>
        <p:spPr>
          <a:xfrm>
            <a:off x="5577840" y="2011680"/>
            <a:ext cx="31546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3038"/>
              </a:buClr>
              <a:buSzPts val="1100"/>
              <a:buFont typeface="Calibri"/>
              <a:buNone/>
            </a:pPr>
            <a:r>
              <a:rPr b="1" i="0" lang="en-US" sz="1100" u="none" cap="none" strike="noStrike">
                <a:solidFill>
                  <a:srgbClr val="1565A0"/>
                </a:solidFill>
                <a:latin typeface="Calibri"/>
                <a:ea typeface="Calibri"/>
                <a:cs typeface="Calibri"/>
                <a:sym typeface="Calibri"/>
              </a:rPr>
              <a:t>2024 Sentiment Dip — Watch Point</a:t>
            </a:r>
            <a:endParaRPr b="0" i="0" sz="1100" u="none" cap="none" strike="noStrike">
              <a:solidFill>
                <a:srgbClr val="1565A0"/>
              </a:solidFill>
              <a:latin typeface="Calibri"/>
              <a:ea typeface="Calibri"/>
              <a:cs typeface="Calibri"/>
              <a:sym typeface="Calibri"/>
            </a:endParaRPr>
          </a:p>
        </p:txBody>
      </p:sp>
      <p:sp>
        <p:nvSpPr>
          <p:cNvPr id="299" name="Google Shape;299;p19"/>
          <p:cNvSpPr/>
          <p:nvPr/>
        </p:nvSpPr>
        <p:spPr>
          <a:xfrm>
            <a:off x="5577840" y="2249424"/>
            <a:ext cx="31546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0" lang="en-US" sz="1000" u="none" cap="none" strike="noStrike">
                <a:solidFill>
                  <a:srgbClr val="2C2C2C"/>
                </a:solidFill>
                <a:latin typeface="Calibri"/>
                <a:ea typeface="Calibri"/>
                <a:cs typeface="Calibri"/>
                <a:sym typeface="Calibri"/>
              </a:rPr>
              <a:t>2024 shows avg sentiment of 0.806 across 266 reviews — the largest single-year sample and the lowest on record. Worth investigating whether a specific course or operational change drove this shift.</a:t>
            </a:r>
            <a:endParaRPr b="0" i="0" sz="1000" u="none" cap="none" strike="noStrike">
              <a:solidFill>
                <a:schemeClr val="dk1"/>
              </a:solidFill>
              <a:latin typeface="Calibri"/>
              <a:ea typeface="Calibri"/>
              <a:cs typeface="Calibri"/>
              <a:sym typeface="Calibri"/>
            </a:endParaRPr>
          </a:p>
        </p:txBody>
      </p:sp>
      <p:sp>
        <p:nvSpPr>
          <p:cNvPr id="300" name="Google Shape;300;p19"/>
          <p:cNvSpPr/>
          <p:nvPr/>
        </p:nvSpPr>
        <p:spPr>
          <a:xfrm>
            <a:off x="5440680" y="3246120"/>
            <a:ext cx="3429000" cy="1234440"/>
          </a:xfrm>
          <a:prstGeom prst="rect">
            <a:avLst/>
          </a:prstGeom>
          <a:solidFill>
            <a:srgbClr val="FFFFFF"/>
          </a:solidFill>
          <a:ln cap="flat" cmpd="sng" w="9525">
            <a:solidFill>
              <a:srgbClr val="EEEEEE"/>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9"/>
          <p:cNvSpPr/>
          <p:nvPr/>
        </p:nvSpPr>
        <p:spPr>
          <a:xfrm>
            <a:off x="5440680" y="3246120"/>
            <a:ext cx="3429000" cy="54864"/>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9"/>
          <p:cNvSpPr/>
          <p:nvPr/>
        </p:nvSpPr>
        <p:spPr>
          <a:xfrm>
            <a:off x="5577840" y="3355848"/>
            <a:ext cx="31546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100"/>
              <a:buFont typeface="Calibri"/>
              <a:buNone/>
            </a:pPr>
            <a:r>
              <a:rPr b="1" i="0" lang="en-US" sz="1100" u="none" cap="none" strike="noStrike">
                <a:solidFill>
                  <a:srgbClr val="1565A0"/>
                </a:solidFill>
                <a:latin typeface="Calibri"/>
                <a:ea typeface="Calibri"/>
                <a:cs typeface="Calibri"/>
                <a:sym typeface="Calibri"/>
              </a:rPr>
              <a:t>Sentiment vs Rating Outliers</a:t>
            </a:r>
            <a:endParaRPr b="0" i="0" sz="1100" u="none" cap="none" strike="noStrike">
              <a:solidFill>
                <a:srgbClr val="1565A0"/>
              </a:solidFill>
              <a:latin typeface="Calibri"/>
              <a:ea typeface="Calibri"/>
              <a:cs typeface="Calibri"/>
              <a:sym typeface="Calibri"/>
            </a:endParaRPr>
          </a:p>
        </p:txBody>
      </p:sp>
      <p:sp>
        <p:nvSpPr>
          <p:cNvPr id="303" name="Google Shape;303;p19"/>
          <p:cNvSpPr/>
          <p:nvPr/>
        </p:nvSpPr>
        <p:spPr>
          <a:xfrm>
            <a:off x="5577840" y="3593592"/>
            <a:ext cx="31546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0" lang="en-US" sz="1000" u="none" cap="none" strike="noStrike">
                <a:solidFill>
                  <a:srgbClr val="2C2C2C"/>
                </a:solidFill>
                <a:latin typeface="Calibri"/>
                <a:ea typeface="Calibri"/>
                <a:cs typeface="Calibri"/>
                <a:sym typeface="Calibri"/>
              </a:rPr>
              <a:t>8 reviews rate 4+ stars but carry negative sentiment. Most are VADER artefacts — nuanced language like ‘intense’ and ‘challenging’ being misread. Read manually before acting on them.</a:t>
            </a:r>
            <a:endParaRPr b="0" i="0" sz="1000" u="none" cap="none" strike="noStrike">
              <a:solidFill>
                <a:schemeClr val="dk1"/>
              </a:solidFill>
              <a:latin typeface="Calibri"/>
              <a:ea typeface="Calibri"/>
              <a:cs typeface="Calibri"/>
              <a:sym typeface="Calibri"/>
            </a:endParaRPr>
          </a:p>
        </p:txBody>
      </p:sp>
      <p:sp>
        <p:nvSpPr>
          <p:cNvPr id="304" name="Google Shape;304;p19"/>
          <p:cNvSpPr/>
          <p:nvPr/>
        </p:nvSpPr>
        <p:spPr>
          <a:xfrm>
            <a:off x="5440680" y="4572000"/>
            <a:ext cx="3429000" cy="384048"/>
          </a:xfrm>
          <a:prstGeom prst="rect">
            <a:avLst/>
          </a:prstGeom>
          <a:solidFill>
            <a:srgbClr val="F0F7FF"/>
          </a:solidFill>
          <a:ln cap="flat" cmpd="sng" w="9525">
            <a:solidFill>
              <a:srgbClr val="F0F7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9"/>
          <p:cNvSpPr/>
          <p:nvPr/>
        </p:nvSpPr>
        <p:spPr>
          <a:xfrm>
            <a:off x="5577840" y="4572000"/>
            <a:ext cx="3154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3038"/>
              </a:buClr>
              <a:buSzPts val="850"/>
              <a:buFont typeface="Calibri"/>
              <a:buNone/>
            </a:pPr>
            <a:r>
              <a:rPr b="0" i="0" lang="en-US" sz="850" u="none" cap="none" strike="noStrike">
                <a:solidFill>
                  <a:srgbClr val="1565A0"/>
                </a:solidFill>
                <a:latin typeface="Calibri"/>
                <a:ea typeface="Calibri"/>
                <a:cs typeface="Calibri"/>
                <a:sym typeface="Calibri"/>
              </a:rPr>
              <a:t>2022 avg 4.71  |  2023 avg 4.78  |  2024 avg 4.82 (ratings stable, sentiment dipped)</a:t>
            </a:r>
            <a:endParaRPr b="0" i="0" sz="850" u="none" cap="none" strike="noStrike">
              <a:solidFill>
                <a:srgbClr val="1565A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0"/>
          <p:cNvSpPr/>
          <p:nvPr/>
        </p:nvSpPr>
        <p:spPr>
          <a:xfrm>
            <a:off x="0" y="0"/>
            <a:ext cx="9144000" cy="658368"/>
          </a:xfrm>
          <a:prstGeom prst="rect">
            <a:avLst/>
          </a:prstGeom>
          <a:solidFill>
            <a:srgbClr val="2C2C2C"/>
          </a:solidFill>
          <a:ln cap="flat" cmpd="sng" w="12700">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0"/>
          <p:cNvSpPr/>
          <p:nvPr/>
        </p:nvSpPr>
        <p:spPr>
          <a:xfrm>
            <a:off x="0" y="0"/>
            <a:ext cx="164592" cy="658368"/>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0"/>
          <p:cNvSpPr/>
          <p:nvPr/>
        </p:nvSpPr>
        <p:spPr>
          <a:xfrm>
            <a:off x="292608" y="64008"/>
            <a:ext cx="7772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What Students Talk About</a:t>
            </a:r>
            <a:endParaRPr b="0" i="0" sz="2000" u="none" cap="none" strike="noStrike">
              <a:solidFill>
                <a:schemeClr val="dk1"/>
              </a:solidFill>
              <a:latin typeface="Calibri"/>
              <a:ea typeface="Calibri"/>
              <a:cs typeface="Calibri"/>
              <a:sym typeface="Calibri"/>
            </a:endParaRPr>
          </a:p>
        </p:txBody>
      </p:sp>
      <p:sp>
        <p:nvSpPr>
          <p:cNvPr id="314" name="Google Shape;314;p20"/>
          <p:cNvSpPr/>
          <p:nvPr/>
        </p:nvSpPr>
        <p:spPr>
          <a:xfrm>
            <a:off x="292608" y="384048"/>
            <a:ext cx="77724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000"/>
              <a:buFont typeface="Calibri"/>
              <a:buNone/>
            </a:pPr>
            <a:r>
              <a:rPr b="0" i="0" lang="en-US" sz="1000" u="none" cap="none" strike="noStrike">
                <a:solidFill>
                  <a:srgbClr val="AAAAAA"/>
                </a:solidFill>
                <a:latin typeface="Calibri"/>
                <a:ea typeface="Calibri"/>
                <a:cs typeface="Calibri"/>
                <a:sym typeface="Calibri"/>
              </a:rPr>
              <a:t>Enrollment motivations, aspects, and experience flags</a:t>
            </a:r>
            <a:endParaRPr b="0" i="0" sz="1000" u="none" cap="none" strike="noStrike">
              <a:solidFill>
                <a:schemeClr val="dk1"/>
              </a:solidFill>
              <a:latin typeface="Calibri"/>
              <a:ea typeface="Calibri"/>
              <a:cs typeface="Calibri"/>
              <a:sym typeface="Calibri"/>
            </a:endParaRPr>
          </a:p>
        </p:txBody>
      </p:sp>
      <p:sp>
        <p:nvSpPr>
          <p:cNvPr id="315" name="Google Shape;315;p20"/>
          <p:cNvSpPr/>
          <p:nvPr/>
        </p:nvSpPr>
        <p:spPr>
          <a:xfrm>
            <a:off x="0" y="4892040"/>
            <a:ext cx="9144000" cy="251460"/>
          </a:xfrm>
          <a:prstGeom prst="rect">
            <a:avLst/>
          </a:prstGeom>
          <a:solidFill>
            <a:srgbClr val="2C2C2C"/>
          </a:solidFill>
          <a:ln cap="flat" cmpd="sng" w="12700">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0"/>
          <p:cNvSpPr/>
          <p:nvPr/>
        </p:nvSpPr>
        <p:spPr>
          <a:xfrm>
            <a:off x="274320" y="4901184"/>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800"/>
              <a:buFont typeface="Calibri"/>
              <a:buNone/>
            </a:pPr>
            <a:r>
              <a:rPr b="0" i="0" lang="en-US" sz="800" u="none" cap="none" strike="noStrike">
                <a:solidFill>
                  <a:srgbClr val="AAAAAA"/>
                </a:solidFill>
                <a:latin typeface="Calibri"/>
                <a:ea typeface="Calibri"/>
                <a:cs typeface="Calibri"/>
                <a:sym typeface="Calibri"/>
              </a:rPr>
              <a:t>WBS Coding School  |  Student Review Analysis  |  Essentis  |  March 2026</a:t>
            </a:r>
            <a:endParaRPr b="0" i="0" sz="800" u="none" cap="none" strike="noStrike">
              <a:solidFill>
                <a:schemeClr val="dk1"/>
              </a:solidFill>
              <a:latin typeface="Calibri"/>
              <a:ea typeface="Calibri"/>
              <a:cs typeface="Calibri"/>
              <a:sym typeface="Calibri"/>
            </a:endParaRPr>
          </a:p>
        </p:txBody>
      </p:sp>
      <p:sp>
        <p:nvSpPr>
          <p:cNvPr id="317" name="Google Shape;317;p20"/>
          <p:cNvSpPr/>
          <p:nvPr/>
        </p:nvSpPr>
        <p:spPr>
          <a:xfrm>
            <a:off x="8686800" y="4901184"/>
            <a:ext cx="3657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AAAAA"/>
              </a:buClr>
              <a:buSzPts val="800"/>
              <a:buFont typeface="Calibri"/>
              <a:buNone/>
            </a:pPr>
            <a:r>
              <a:rPr b="0" i="0" lang="en-US" sz="800" u="none" cap="none" strike="noStrike">
                <a:solidFill>
                  <a:srgbClr val="AAAAAA"/>
                </a:solidFill>
                <a:latin typeface="Calibri"/>
                <a:ea typeface="Calibri"/>
                <a:cs typeface="Calibri"/>
                <a:sym typeface="Calibri"/>
              </a:rPr>
              <a:t>6</a:t>
            </a:r>
            <a:endParaRPr b="0" i="0" sz="800" u="none" cap="none" strike="noStrike">
              <a:solidFill>
                <a:schemeClr val="dk1"/>
              </a:solidFill>
              <a:latin typeface="Calibri"/>
              <a:ea typeface="Calibri"/>
              <a:cs typeface="Calibri"/>
              <a:sym typeface="Calibri"/>
            </a:endParaRPr>
          </a:p>
        </p:txBody>
      </p:sp>
      <p:sp>
        <p:nvSpPr>
          <p:cNvPr id="318" name="Google Shape;318;p20"/>
          <p:cNvSpPr/>
          <p:nvPr/>
        </p:nvSpPr>
        <p:spPr>
          <a:xfrm>
            <a:off x="274320" y="822960"/>
            <a:ext cx="4114800" cy="2971800"/>
          </a:xfrm>
          <a:prstGeom prst="rect">
            <a:avLst/>
          </a:prstGeom>
          <a:solidFill>
            <a:srgbClr val="FFFFFF"/>
          </a:solidFill>
          <a:ln cap="flat" cmpd="sng" w="9525">
            <a:solidFill>
              <a:srgbClr val="EEEEEE"/>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0"/>
          <p:cNvSpPr/>
          <p:nvPr/>
        </p:nvSpPr>
        <p:spPr>
          <a:xfrm>
            <a:off x="457200" y="914400"/>
            <a:ext cx="3749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200"/>
              <a:buFont typeface="Calibri"/>
              <a:buNone/>
            </a:pPr>
            <a:r>
              <a:rPr b="1" i="0" lang="en-US" sz="1200" u="none" cap="none" strike="noStrike">
                <a:solidFill>
                  <a:srgbClr val="2C2C2C"/>
                </a:solidFill>
                <a:latin typeface="Calibri"/>
                <a:ea typeface="Calibri"/>
                <a:cs typeface="Calibri"/>
                <a:sym typeface="Calibri"/>
              </a:rPr>
              <a:t>Enrollment Motivations</a:t>
            </a:r>
            <a:endParaRPr b="0" i="0" sz="1200" u="none" cap="none" strike="noStrike">
              <a:solidFill>
                <a:schemeClr val="dk1"/>
              </a:solidFill>
              <a:latin typeface="Calibri"/>
              <a:ea typeface="Calibri"/>
              <a:cs typeface="Calibri"/>
              <a:sym typeface="Calibri"/>
            </a:endParaRPr>
          </a:p>
        </p:txBody>
      </p:sp>
      <p:sp>
        <p:nvSpPr>
          <p:cNvPr id="320" name="Google Shape;320;p20"/>
          <p:cNvSpPr/>
          <p:nvPr/>
        </p:nvSpPr>
        <p:spPr>
          <a:xfrm>
            <a:off x="457200" y="1298448"/>
            <a:ext cx="1691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0" i="0" lang="en-US" sz="950" u="none" cap="none" strike="noStrike">
                <a:solidFill>
                  <a:srgbClr val="2C2C2C"/>
                </a:solidFill>
                <a:latin typeface="Calibri"/>
                <a:ea typeface="Calibri"/>
                <a:cs typeface="Calibri"/>
                <a:sym typeface="Calibri"/>
              </a:rPr>
              <a:t>Curriculum Quality</a:t>
            </a:r>
            <a:endParaRPr b="0" i="0" sz="950" u="none" cap="none" strike="noStrike">
              <a:solidFill>
                <a:schemeClr val="dk1"/>
              </a:solidFill>
              <a:latin typeface="Calibri"/>
              <a:ea typeface="Calibri"/>
              <a:cs typeface="Calibri"/>
              <a:sym typeface="Calibri"/>
            </a:endParaRPr>
          </a:p>
        </p:txBody>
      </p:sp>
      <p:sp>
        <p:nvSpPr>
          <p:cNvPr id="321" name="Google Shape;321;p20"/>
          <p:cNvSpPr/>
          <p:nvPr/>
        </p:nvSpPr>
        <p:spPr>
          <a:xfrm>
            <a:off x="2194560" y="1344168"/>
            <a:ext cx="1645920" cy="182880"/>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0"/>
          <p:cNvSpPr/>
          <p:nvPr/>
        </p:nvSpPr>
        <p:spPr>
          <a:xfrm>
            <a:off x="2194560" y="1344168"/>
            <a:ext cx="1645920" cy="182880"/>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0"/>
          <p:cNvSpPr/>
          <p:nvPr/>
        </p:nvSpPr>
        <p:spPr>
          <a:xfrm>
            <a:off x="2194560" y="1344168"/>
            <a:ext cx="1645920" cy="18288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0"/>
          <p:cNvSpPr/>
          <p:nvPr/>
        </p:nvSpPr>
        <p:spPr>
          <a:xfrm>
            <a:off x="3886200" y="1298448"/>
            <a:ext cx="457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00"/>
              <a:buFont typeface="Calibri"/>
              <a:buNone/>
            </a:pPr>
            <a:r>
              <a:rPr b="1" i="0" lang="en-US" sz="1000" u="none" cap="none" strike="noStrike">
                <a:solidFill>
                  <a:srgbClr val="1565A0"/>
                </a:solidFill>
                <a:latin typeface="Calibri"/>
                <a:ea typeface="Calibri"/>
                <a:cs typeface="Calibri"/>
                <a:sym typeface="Calibri"/>
              </a:rPr>
              <a:t>33.0%</a:t>
            </a:r>
            <a:endParaRPr b="0" i="0" sz="1000" u="none" cap="none" strike="noStrike">
              <a:solidFill>
                <a:srgbClr val="1565A0"/>
              </a:solidFill>
              <a:latin typeface="Calibri"/>
              <a:ea typeface="Calibri"/>
              <a:cs typeface="Calibri"/>
              <a:sym typeface="Calibri"/>
            </a:endParaRPr>
          </a:p>
        </p:txBody>
      </p:sp>
      <p:sp>
        <p:nvSpPr>
          <p:cNvPr id="325" name="Google Shape;325;p20"/>
          <p:cNvSpPr/>
          <p:nvPr/>
        </p:nvSpPr>
        <p:spPr>
          <a:xfrm>
            <a:off x="457200" y="1700784"/>
            <a:ext cx="1691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0" i="0" lang="en-US" sz="950" u="none" cap="none" strike="noStrike">
                <a:solidFill>
                  <a:srgbClr val="2C2C2C"/>
                </a:solidFill>
                <a:latin typeface="Calibri"/>
                <a:ea typeface="Calibri"/>
                <a:cs typeface="Calibri"/>
                <a:sym typeface="Calibri"/>
              </a:rPr>
              <a:t>Speed / Intensity</a:t>
            </a:r>
            <a:endParaRPr b="0" i="0" sz="950" u="none" cap="none" strike="noStrike">
              <a:solidFill>
                <a:schemeClr val="dk1"/>
              </a:solidFill>
              <a:latin typeface="Calibri"/>
              <a:ea typeface="Calibri"/>
              <a:cs typeface="Calibri"/>
              <a:sym typeface="Calibri"/>
            </a:endParaRPr>
          </a:p>
        </p:txBody>
      </p:sp>
      <p:sp>
        <p:nvSpPr>
          <p:cNvPr id="326" name="Google Shape;326;p20"/>
          <p:cNvSpPr/>
          <p:nvPr/>
        </p:nvSpPr>
        <p:spPr>
          <a:xfrm>
            <a:off x="2194560" y="1746504"/>
            <a:ext cx="1242670" cy="182880"/>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0"/>
          <p:cNvSpPr/>
          <p:nvPr/>
        </p:nvSpPr>
        <p:spPr>
          <a:xfrm>
            <a:off x="2194560" y="1746504"/>
            <a:ext cx="1645920" cy="182880"/>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0"/>
          <p:cNvSpPr/>
          <p:nvPr/>
        </p:nvSpPr>
        <p:spPr>
          <a:xfrm>
            <a:off x="2194560" y="1746504"/>
            <a:ext cx="1242670" cy="18288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0"/>
          <p:cNvSpPr/>
          <p:nvPr/>
        </p:nvSpPr>
        <p:spPr>
          <a:xfrm>
            <a:off x="3886200" y="1700784"/>
            <a:ext cx="457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00"/>
              <a:buFont typeface="Calibri"/>
              <a:buNone/>
            </a:pPr>
            <a:r>
              <a:rPr b="1" i="0" lang="en-US" sz="1000" u="none" cap="none" strike="noStrike">
                <a:solidFill>
                  <a:srgbClr val="1565A0"/>
                </a:solidFill>
                <a:latin typeface="Calibri"/>
                <a:ea typeface="Calibri"/>
                <a:cs typeface="Calibri"/>
                <a:sym typeface="Calibri"/>
              </a:rPr>
              <a:t>24.9%</a:t>
            </a:r>
            <a:endParaRPr b="0" i="0" sz="1000" u="none" cap="none" strike="noStrike">
              <a:solidFill>
                <a:srgbClr val="1565A0"/>
              </a:solidFill>
              <a:latin typeface="Calibri"/>
              <a:ea typeface="Calibri"/>
              <a:cs typeface="Calibri"/>
              <a:sym typeface="Calibri"/>
            </a:endParaRPr>
          </a:p>
        </p:txBody>
      </p:sp>
      <p:sp>
        <p:nvSpPr>
          <p:cNvPr id="330" name="Google Shape;330;p20"/>
          <p:cNvSpPr/>
          <p:nvPr/>
        </p:nvSpPr>
        <p:spPr>
          <a:xfrm>
            <a:off x="457200" y="2103120"/>
            <a:ext cx="1691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0" i="0" lang="en-US" sz="950" u="none" cap="none" strike="noStrike">
                <a:solidFill>
                  <a:srgbClr val="2C2C2C"/>
                </a:solidFill>
                <a:latin typeface="Calibri"/>
                <a:ea typeface="Calibri"/>
                <a:cs typeface="Calibri"/>
                <a:sym typeface="Calibri"/>
              </a:rPr>
              <a:t>Community</a:t>
            </a:r>
            <a:endParaRPr b="0" i="0" sz="950" u="none" cap="none" strike="noStrike">
              <a:solidFill>
                <a:schemeClr val="dk1"/>
              </a:solidFill>
              <a:latin typeface="Calibri"/>
              <a:ea typeface="Calibri"/>
              <a:cs typeface="Calibri"/>
              <a:sym typeface="Calibri"/>
            </a:endParaRPr>
          </a:p>
        </p:txBody>
      </p:sp>
      <p:sp>
        <p:nvSpPr>
          <p:cNvPr id="331" name="Google Shape;331;p20"/>
          <p:cNvSpPr/>
          <p:nvPr/>
        </p:nvSpPr>
        <p:spPr>
          <a:xfrm>
            <a:off x="2194560" y="2148840"/>
            <a:ext cx="1196584" cy="182880"/>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0"/>
          <p:cNvSpPr/>
          <p:nvPr/>
        </p:nvSpPr>
        <p:spPr>
          <a:xfrm>
            <a:off x="2194560" y="2148840"/>
            <a:ext cx="1645920" cy="182880"/>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0"/>
          <p:cNvSpPr/>
          <p:nvPr/>
        </p:nvSpPr>
        <p:spPr>
          <a:xfrm>
            <a:off x="2194560" y="2148840"/>
            <a:ext cx="1196584" cy="18288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0"/>
          <p:cNvSpPr/>
          <p:nvPr/>
        </p:nvSpPr>
        <p:spPr>
          <a:xfrm>
            <a:off x="3886200" y="2103120"/>
            <a:ext cx="457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00"/>
              <a:buFont typeface="Calibri"/>
              <a:buNone/>
            </a:pPr>
            <a:r>
              <a:rPr b="1" i="0" lang="en-US" sz="1000" u="none" cap="none" strike="noStrike">
                <a:solidFill>
                  <a:srgbClr val="1565A0"/>
                </a:solidFill>
                <a:latin typeface="Calibri"/>
                <a:ea typeface="Calibri"/>
                <a:cs typeface="Calibri"/>
                <a:sym typeface="Calibri"/>
              </a:rPr>
              <a:t>24.0%</a:t>
            </a:r>
            <a:endParaRPr b="0" i="0" sz="1000" u="none" cap="none" strike="noStrike">
              <a:solidFill>
                <a:srgbClr val="1565A0"/>
              </a:solidFill>
              <a:latin typeface="Calibri"/>
              <a:ea typeface="Calibri"/>
              <a:cs typeface="Calibri"/>
              <a:sym typeface="Calibri"/>
            </a:endParaRPr>
          </a:p>
        </p:txBody>
      </p:sp>
      <p:sp>
        <p:nvSpPr>
          <p:cNvPr id="335" name="Google Shape;335;p20"/>
          <p:cNvSpPr/>
          <p:nvPr/>
        </p:nvSpPr>
        <p:spPr>
          <a:xfrm>
            <a:off x="457200" y="2505456"/>
            <a:ext cx="1691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0" i="0" lang="en-US" sz="950" u="none" cap="none" strike="noStrike">
                <a:solidFill>
                  <a:srgbClr val="2C2C2C"/>
                </a:solidFill>
                <a:latin typeface="Calibri"/>
                <a:ea typeface="Calibri"/>
                <a:cs typeface="Calibri"/>
                <a:sym typeface="Calibri"/>
              </a:rPr>
              <a:t>Flexibility</a:t>
            </a:r>
            <a:endParaRPr b="0" i="0" sz="950" u="none" cap="none" strike="noStrike">
              <a:solidFill>
                <a:schemeClr val="dk1"/>
              </a:solidFill>
              <a:latin typeface="Calibri"/>
              <a:ea typeface="Calibri"/>
              <a:cs typeface="Calibri"/>
              <a:sym typeface="Calibri"/>
            </a:endParaRPr>
          </a:p>
        </p:txBody>
      </p:sp>
      <p:sp>
        <p:nvSpPr>
          <p:cNvPr id="336" name="Google Shape;336;p20"/>
          <p:cNvSpPr/>
          <p:nvPr/>
        </p:nvSpPr>
        <p:spPr>
          <a:xfrm>
            <a:off x="2194560" y="2551176"/>
            <a:ext cx="339060" cy="182880"/>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0"/>
          <p:cNvSpPr/>
          <p:nvPr/>
        </p:nvSpPr>
        <p:spPr>
          <a:xfrm>
            <a:off x="2194560" y="2551176"/>
            <a:ext cx="1645920" cy="182880"/>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0"/>
          <p:cNvSpPr/>
          <p:nvPr/>
        </p:nvSpPr>
        <p:spPr>
          <a:xfrm>
            <a:off x="2194560" y="2551176"/>
            <a:ext cx="339060" cy="18288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0"/>
          <p:cNvSpPr/>
          <p:nvPr/>
        </p:nvSpPr>
        <p:spPr>
          <a:xfrm>
            <a:off x="3886200" y="2505456"/>
            <a:ext cx="457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00"/>
              <a:buFont typeface="Calibri"/>
              <a:buNone/>
            </a:pPr>
            <a:r>
              <a:rPr b="1" i="0" lang="en-US" sz="1000" u="none" cap="none" strike="noStrike">
                <a:solidFill>
                  <a:srgbClr val="1565A0"/>
                </a:solidFill>
                <a:latin typeface="Calibri"/>
                <a:ea typeface="Calibri"/>
                <a:cs typeface="Calibri"/>
                <a:sym typeface="Calibri"/>
              </a:rPr>
              <a:t>6.8%</a:t>
            </a:r>
            <a:endParaRPr b="0" i="0" sz="1000" u="none" cap="none" strike="noStrike">
              <a:solidFill>
                <a:srgbClr val="1565A0"/>
              </a:solidFill>
              <a:latin typeface="Calibri"/>
              <a:ea typeface="Calibri"/>
              <a:cs typeface="Calibri"/>
              <a:sym typeface="Calibri"/>
            </a:endParaRPr>
          </a:p>
        </p:txBody>
      </p:sp>
      <p:sp>
        <p:nvSpPr>
          <p:cNvPr id="340" name="Google Shape;340;p20"/>
          <p:cNvSpPr/>
          <p:nvPr/>
        </p:nvSpPr>
        <p:spPr>
          <a:xfrm>
            <a:off x="457200" y="2907792"/>
            <a:ext cx="1691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0" i="0" lang="en-US" sz="950" u="none" cap="none" strike="noStrike">
                <a:solidFill>
                  <a:srgbClr val="2C2C2C"/>
                </a:solidFill>
                <a:latin typeface="Calibri"/>
                <a:ea typeface="Calibri"/>
                <a:cs typeface="Calibri"/>
                <a:sym typeface="Calibri"/>
              </a:rPr>
              <a:t>Career Change</a:t>
            </a:r>
            <a:endParaRPr b="0" i="0" sz="950" u="none" cap="none" strike="noStrike">
              <a:solidFill>
                <a:schemeClr val="dk1"/>
              </a:solidFill>
              <a:latin typeface="Calibri"/>
              <a:ea typeface="Calibri"/>
              <a:cs typeface="Calibri"/>
              <a:sym typeface="Calibri"/>
            </a:endParaRPr>
          </a:p>
        </p:txBody>
      </p:sp>
      <p:sp>
        <p:nvSpPr>
          <p:cNvPr id="341" name="Google Shape;341;p20"/>
          <p:cNvSpPr/>
          <p:nvPr/>
        </p:nvSpPr>
        <p:spPr>
          <a:xfrm>
            <a:off x="2194560" y="2953512"/>
            <a:ext cx="334122" cy="182880"/>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0"/>
          <p:cNvSpPr/>
          <p:nvPr/>
        </p:nvSpPr>
        <p:spPr>
          <a:xfrm>
            <a:off x="2194560" y="2953512"/>
            <a:ext cx="1645920" cy="182880"/>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0"/>
          <p:cNvSpPr/>
          <p:nvPr/>
        </p:nvSpPr>
        <p:spPr>
          <a:xfrm>
            <a:off x="2194560" y="2953512"/>
            <a:ext cx="334122" cy="18288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0"/>
          <p:cNvSpPr/>
          <p:nvPr/>
        </p:nvSpPr>
        <p:spPr>
          <a:xfrm>
            <a:off x="3886200" y="2907792"/>
            <a:ext cx="457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00"/>
              <a:buFont typeface="Calibri"/>
              <a:buNone/>
            </a:pPr>
            <a:r>
              <a:rPr b="1" i="0" lang="en-US" sz="1000" u="none" cap="none" strike="noStrike">
                <a:solidFill>
                  <a:srgbClr val="1565A0"/>
                </a:solidFill>
                <a:latin typeface="Calibri"/>
                <a:ea typeface="Calibri"/>
                <a:cs typeface="Calibri"/>
                <a:sym typeface="Calibri"/>
              </a:rPr>
              <a:t>6.7%</a:t>
            </a:r>
            <a:endParaRPr b="0" i="0" sz="1000" u="none" cap="none" strike="noStrike">
              <a:solidFill>
                <a:srgbClr val="1565A0"/>
              </a:solidFill>
              <a:latin typeface="Calibri"/>
              <a:ea typeface="Calibri"/>
              <a:cs typeface="Calibri"/>
              <a:sym typeface="Calibri"/>
            </a:endParaRPr>
          </a:p>
        </p:txBody>
      </p:sp>
      <p:sp>
        <p:nvSpPr>
          <p:cNvPr id="345" name="Google Shape;345;p20"/>
          <p:cNvSpPr/>
          <p:nvPr/>
        </p:nvSpPr>
        <p:spPr>
          <a:xfrm>
            <a:off x="457200" y="3310128"/>
            <a:ext cx="1691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0" i="0" lang="en-US" sz="950" u="none" cap="none" strike="noStrike">
                <a:solidFill>
                  <a:srgbClr val="2C2C2C"/>
                </a:solidFill>
                <a:latin typeface="Calibri"/>
                <a:ea typeface="Calibri"/>
                <a:cs typeface="Calibri"/>
                <a:sym typeface="Calibri"/>
              </a:rPr>
              <a:t>Job Outcomes</a:t>
            </a:r>
            <a:endParaRPr b="0" i="0" sz="950" u="none" cap="none" strike="noStrike">
              <a:solidFill>
                <a:schemeClr val="dk1"/>
              </a:solidFill>
              <a:latin typeface="Calibri"/>
              <a:ea typeface="Calibri"/>
              <a:cs typeface="Calibri"/>
              <a:sym typeface="Calibri"/>
            </a:endParaRPr>
          </a:p>
        </p:txBody>
      </p:sp>
      <p:sp>
        <p:nvSpPr>
          <p:cNvPr id="346" name="Google Shape;346;p20"/>
          <p:cNvSpPr/>
          <p:nvPr/>
        </p:nvSpPr>
        <p:spPr>
          <a:xfrm>
            <a:off x="2194560" y="3355848"/>
            <a:ext cx="194219" cy="182880"/>
          </a:xfrm>
          <a:prstGeom prst="rect">
            <a:avLst/>
          </a:prstGeom>
          <a:solidFill>
            <a:srgbClr val="E8474F"/>
          </a:solidFill>
          <a:ln cap="flat" cmpd="sng" w="12700">
            <a:solidFill>
              <a:srgbClr val="E8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0"/>
          <p:cNvSpPr/>
          <p:nvPr/>
        </p:nvSpPr>
        <p:spPr>
          <a:xfrm>
            <a:off x="2194560" y="3355848"/>
            <a:ext cx="1645920" cy="182880"/>
          </a:xfrm>
          <a:prstGeom prst="rect">
            <a:avLst/>
          </a:prstGeom>
          <a:solidFill>
            <a:srgbClr val="F0F0F0"/>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0"/>
          <p:cNvSpPr/>
          <p:nvPr/>
        </p:nvSpPr>
        <p:spPr>
          <a:xfrm>
            <a:off x="2194560" y="3355848"/>
            <a:ext cx="194219" cy="18288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0"/>
          <p:cNvSpPr/>
          <p:nvPr/>
        </p:nvSpPr>
        <p:spPr>
          <a:xfrm>
            <a:off x="3886200" y="3310128"/>
            <a:ext cx="457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00"/>
              <a:buFont typeface="Calibri"/>
              <a:buNone/>
            </a:pPr>
            <a:r>
              <a:rPr b="1" i="0" lang="en-US" sz="1000" u="none" cap="none" strike="noStrike">
                <a:solidFill>
                  <a:srgbClr val="1565A0"/>
                </a:solidFill>
                <a:latin typeface="Calibri"/>
                <a:ea typeface="Calibri"/>
                <a:cs typeface="Calibri"/>
                <a:sym typeface="Calibri"/>
              </a:rPr>
              <a:t>3.9%</a:t>
            </a:r>
            <a:endParaRPr b="0" i="0" sz="1000" u="none" cap="none" strike="noStrike">
              <a:solidFill>
                <a:srgbClr val="1565A0"/>
              </a:solidFill>
              <a:latin typeface="Calibri"/>
              <a:ea typeface="Calibri"/>
              <a:cs typeface="Calibri"/>
              <a:sym typeface="Calibri"/>
            </a:endParaRPr>
          </a:p>
        </p:txBody>
      </p:sp>
      <p:sp>
        <p:nvSpPr>
          <p:cNvPr id="350" name="Google Shape;350;p20"/>
          <p:cNvSpPr/>
          <p:nvPr/>
        </p:nvSpPr>
        <p:spPr>
          <a:xfrm>
            <a:off x="457200" y="3858768"/>
            <a:ext cx="3749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0" i="1" lang="en-US" sz="900" u="none" cap="none" strike="noStrike">
                <a:solidFill>
                  <a:srgbClr val="888888"/>
                </a:solidFill>
                <a:latin typeface="Calibri"/>
                <a:ea typeface="Calibri"/>
                <a:cs typeface="Calibri"/>
                <a:sym typeface="Calibri"/>
              </a:rPr>
              <a:t>Students choose WBS for curriculum quality first, not price. Price / Value was cited in only 2.9% of reviews.</a:t>
            </a:r>
            <a:endParaRPr b="0" i="0" sz="900" u="none" cap="none" strike="noStrike">
              <a:solidFill>
                <a:schemeClr val="dk1"/>
              </a:solidFill>
              <a:latin typeface="Calibri"/>
              <a:ea typeface="Calibri"/>
              <a:cs typeface="Calibri"/>
              <a:sym typeface="Calibri"/>
            </a:endParaRPr>
          </a:p>
        </p:txBody>
      </p:sp>
      <p:sp>
        <p:nvSpPr>
          <p:cNvPr id="351" name="Google Shape;351;p20"/>
          <p:cNvSpPr/>
          <p:nvPr/>
        </p:nvSpPr>
        <p:spPr>
          <a:xfrm>
            <a:off x="4526280" y="822960"/>
            <a:ext cx="4343400" cy="2971800"/>
          </a:xfrm>
          <a:prstGeom prst="rect">
            <a:avLst/>
          </a:prstGeom>
          <a:solidFill>
            <a:srgbClr val="FFFFFF"/>
          </a:solidFill>
          <a:ln cap="flat" cmpd="sng" w="9525">
            <a:solidFill>
              <a:srgbClr val="EEEEEE"/>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0"/>
          <p:cNvSpPr/>
          <p:nvPr/>
        </p:nvSpPr>
        <p:spPr>
          <a:xfrm>
            <a:off x="4681728" y="914400"/>
            <a:ext cx="3977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200"/>
              <a:buFont typeface="Calibri"/>
              <a:buNone/>
            </a:pPr>
            <a:r>
              <a:rPr b="1" i="0" lang="en-US" sz="1200" u="none" cap="none" strike="noStrike">
                <a:solidFill>
                  <a:srgbClr val="2C2C2C"/>
                </a:solidFill>
                <a:latin typeface="Calibri"/>
                <a:ea typeface="Calibri"/>
                <a:cs typeface="Calibri"/>
                <a:sym typeface="Calibri"/>
              </a:rPr>
              <a:t>Student Experience Flags</a:t>
            </a:r>
            <a:endParaRPr b="0" i="0" sz="1200" u="none" cap="none" strike="noStrike">
              <a:solidFill>
                <a:schemeClr val="dk1"/>
              </a:solidFill>
              <a:latin typeface="Calibri"/>
              <a:ea typeface="Calibri"/>
              <a:cs typeface="Calibri"/>
              <a:sym typeface="Calibri"/>
            </a:endParaRPr>
          </a:p>
        </p:txBody>
      </p:sp>
      <p:sp>
        <p:nvSpPr>
          <p:cNvPr id="353" name="Google Shape;353;p20"/>
          <p:cNvSpPr/>
          <p:nvPr/>
        </p:nvSpPr>
        <p:spPr>
          <a:xfrm>
            <a:off x="4681728" y="1325880"/>
            <a:ext cx="201168" cy="201168"/>
          </a:xfrm>
          <a:prstGeom prst="rect">
            <a:avLst/>
          </a:prstGeom>
          <a:solidFill>
            <a:srgbClr val="F0F7FF"/>
          </a:solidFill>
          <a:ln cap="flat" cmpd="sng" w="12700">
            <a:solidFill>
              <a:srgbClr val="678A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565A0"/>
              </a:solidFill>
            </a:endParaRPr>
          </a:p>
        </p:txBody>
      </p:sp>
      <p:sp>
        <p:nvSpPr>
          <p:cNvPr id="354" name="Google Shape;354;p20"/>
          <p:cNvSpPr/>
          <p:nvPr/>
        </p:nvSpPr>
        <p:spPr>
          <a:xfrm>
            <a:off x="4956048" y="1298448"/>
            <a:ext cx="1920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lang="en-US" sz="950">
                <a:solidFill>
                  <a:srgbClr val="2C2C2C"/>
                </a:solidFill>
                <a:latin typeface="Calibri"/>
                <a:ea typeface="Calibri"/>
                <a:cs typeface="Calibri"/>
                <a:sym typeface="Calibri"/>
              </a:rPr>
              <a:t>Competitive </a:t>
            </a:r>
            <a:r>
              <a:rPr b="1" i="0" lang="en-US" sz="950" u="none" cap="none" strike="noStrike">
                <a:solidFill>
                  <a:srgbClr val="2C2C2C"/>
                </a:solidFill>
                <a:latin typeface="Calibri"/>
                <a:ea typeface="Calibri"/>
                <a:cs typeface="Calibri"/>
                <a:sym typeface="Calibri"/>
              </a:rPr>
              <a:t> language mentions</a:t>
            </a:r>
            <a:endParaRPr b="0" i="0" sz="950" u="none" cap="none" strike="noStrike">
              <a:solidFill>
                <a:schemeClr val="dk1"/>
              </a:solidFill>
              <a:latin typeface="Calibri"/>
              <a:ea typeface="Calibri"/>
              <a:cs typeface="Calibri"/>
              <a:sym typeface="Calibri"/>
            </a:endParaRPr>
          </a:p>
        </p:txBody>
      </p:sp>
      <p:sp>
        <p:nvSpPr>
          <p:cNvPr id="355" name="Google Shape;355;p20"/>
          <p:cNvSpPr/>
          <p:nvPr/>
        </p:nvSpPr>
        <p:spPr>
          <a:xfrm>
            <a:off x="6912864" y="129844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474F"/>
              </a:buClr>
              <a:buSzPts val="1000"/>
              <a:buFont typeface="Calibri"/>
              <a:buNone/>
            </a:pPr>
            <a:r>
              <a:rPr b="1" i="0" lang="en-US" sz="1000" u="none" cap="none" strike="noStrike">
                <a:solidFill>
                  <a:srgbClr val="1565A0"/>
                </a:solidFill>
                <a:latin typeface="Calibri"/>
                <a:ea typeface="Calibri"/>
                <a:cs typeface="Calibri"/>
                <a:sym typeface="Calibri"/>
              </a:rPr>
              <a:t>26.7%</a:t>
            </a:r>
            <a:endParaRPr b="0" i="0" sz="1000" u="none" cap="none" strike="noStrike">
              <a:solidFill>
                <a:srgbClr val="1565A0"/>
              </a:solidFill>
              <a:latin typeface="Calibri"/>
              <a:ea typeface="Calibri"/>
              <a:cs typeface="Calibri"/>
              <a:sym typeface="Calibri"/>
            </a:endParaRPr>
          </a:p>
        </p:txBody>
      </p:sp>
      <p:sp>
        <p:nvSpPr>
          <p:cNvPr id="356" name="Google Shape;356;p20"/>
          <p:cNvSpPr/>
          <p:nvPr/>
        </p:nvSpPr>
        <p:spPr>
          <a:xfrm>
            <a:off x="4956048" y="1508760"/>
            <a:ext cx="3611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218 reviews position WBS vs alternatives</a:t>
            </a:r>
            <a:endParaRPr b="0" i="0" sz="850" u="none" cap="none" strike="noStrike">
              <a:solidFill>
                <a:schemeClr val="dk1"/>
              </a:solidFill>
              <a:latin typeface="Calibri"/>
              <a:ea typeface="Calibri"/>
              <a:cs typeface="Calibri"/>
              <a:sym typeface="Calibri"/>
            </a:endParaRPr>
          </a:p>
        </p:txBody>
      </p:sp>
      <p:sp>
        <p:nvSpPr>
          <p:cNvPr id="357" name="Google Shape;357;p20"/>
          <p:cNvSpPr/>
          <p:nvPr/>
        </p:nvSpPr>
        <p:spPr>
          <a:xfrm>
            <a:off x="4681728" y="1728216"/>
            <a:ext cx="201168" cy="201168"/>
          </a:xfrm>
          <a:prstGeom prst="rect">
            <a:avLst/>
          </a:prstGeom>
          <a:solidFill>
            <a:srgbClr val="F0F7FF"/>
          </a:solidFill>
          <a:ln cap="flat" cmpd="sng" w="12700">
            <a:solidFill>
              <a:srgbClr val="678A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0"/>
          <p:cNvSpPr/>
          <p:nvPr/>
        </p:nvSpPr>
        <p:spPr>
          <a:xfrm>
            <a:off x="4956048" y="1700784"/>
            <a:ext cx="1920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i="0" lang="en-US" sz="950" u="none" cap="none" strike="noStrike">
                <a:solidFill>
                  <a:srgbClr val="2C2C2C"/>
                </a:solidFill>
                <a:latin typeface="Calibri"/>
                <a:ea typeface="Calibri"/>
                <a:cs typeface="Calibri"/>
                <a:sym typeface="Calibri"/>
              </a:rPr>
              <a:t>Workload manageable</a:t>
            </a:r>
            <a:endParaRPr b="0" i="0" sz="950" u="none" cap="none" strike="noStrike">
              <a:solidFill>
                <a:schemeClr val="dk1"/>
              </a:solidFill>
              <a:latin typeface="Calibri"/>
              <a:ea typeface="Calibri"/>
              <a:cs typeface="Calibri"/>
              <a:sym typeface="Calibri"/>
            </a:endParaRPr>
          </a:p>
        </p:txBody>
      </p:sp>
      <p:sp>
        <p:nvSpPr>
          <p:cNvPr id="359" name="Google Shape;359;p20"/>
          <p:cNvSpPr/>
          <p:nvPr/>
        </p:nvSpPr>
        <p:spPr>
          <a:xfrm>
            <a:off x="6912864" y="1700784"/>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E7D32"/>
              </a:buClr>
              <a:buSzPts val="1000"/>
              <a:buFont typeface="Calibri"/>
              <a:buNone/>
            </a:pPr>
            <a:r>
              <a:rPr b="1" i="0" lang="en-US" sz="1000" u="none" cap="none" strike="noStrike">
                <a:solidFill>
                  <a:srgbClr val="1565A0"/>
                </a:solidFill>
                <a:latin typeface="Calibri"/>
                <a:ea typeface="Calibri"/>
                <a:cs typeface="Calibri"/>
                <a:sym typeface="Calibri"/>
              </a:rPr>
              <a:t>18.6%</a:t>
            </a:r>
            <a:endParaRPr b="0" i="0" sz="1000" u="none" cap="none" strike="noStrike">
              <a:solidFill>
                <a:srgbClr val="1565A0"/>
              </a:solidFill>
              <a:latin typeface="Calibri"/>
              <a:ea typeface="Calibri"/>
              <a:cs typeface="Calibri"/>
              <a:sym typeface="Calibri"/>
            </a:endParaRPr>
          </a:p>
        </p:txBody>
      </p:sp>
      <p:sp>
        <p:nvSpPr>
          <p:cNvPr id="360" name="Google Shape;360;p20"/>
          <p:cNvSpPr/>
          <p:nvPr/>
        </p:nvSpPr>
        <p:spPr>
          <a:xfrm>
            <a:off x="4956048" y="1911096"/>
            <a:ext cx="3611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152 reviews describe balanced structure</a:t>
            </a:r>
            <a:endParaRPr b="0" i="0" sz="850" u="none" cap="none" strike="noStrike">
              <a:solidFill>
                <a:schemeClr val="dk1"/>
              </a:solidFill>
              <a:latin typeface="Calibri"/>
              <a:ea typeface="Calibri"/>
              <a:cs typeface="Calibri"/>
              <a:sym typeface="Calibri"/>
            </a:endParaRPr>
          </a:p>
        </p:txBody>
      </p:sp>
      <p:sp>
        <p:nvSpPr>
          <p:cNvPr id="361" name="Google Shape;361;p20"/>
          <p:cNvSpPr/>
          <p:nvPr/>
        </p:nvSpPr>
        <p:spPr>
          <a:xfrm>
            <a:off x="4681728" y="2130552"/>
            <a:ext cx="201168" cy="201168"/>
          </a:xfrm>
          <a:prstGeom prst="rect">
            <a:avLst/>
          </a:prstGeom>
          <a:solidFill>
            <a:srgbClr val="F0F7FF"/>
          </a:solidFill>
          <a:ln cap="flat" cmpd="sng" w="12700">
            <a:solidFill>
              <a:srgbClr val="678A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0"/>
          <p:cNvSpPr/>
          <p:nvPr/>
        </p:nvSpPr>
        <p:spPr>
          <a:xfrm>
            <a:off x="4956048" y="2103120"/>
            <a:ext cx="1920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i="0" lang="en-US" sz="950" u="none" cap="none" strike="noStrike">
                <a:solidFill>
                  <a:srgbClr val="2C2C2C"/>
                </a:solidFill>
                <a:latin typeface="Calibri"/>
                <a:ea typeface="Calibri"/>
                <a:cs typeface="Calibri"/>
                <a:sym typeface="Calibri"/>
              </a:rPr>
              <a:t>Expectations exceeded</a:t>
            </a:r>
            <a:endParaRPr b="0" i="0" sz="950" u="none" cap="none" strike="noStrike">
              <a:solidFill>
                <a:schemeClr val="dk1"/>
              </a:solidFill>
              <a:latin typeface="Calibri"/>
              <a:ea typeface="Calibri"/>
              <a:cs typeface="Calibri"/>
              <a:sym typeface="Calibri"/>
            </a:endParaRPr>
          </a:p>
        </p:txBody>
      </p:sp>
      <p:sp>
        <p:nvSpPr>
          <p:cNvPr id="363" name="Google Shape;363;p20"/>
          <p:cNvSpPr/>
          <p:nvPr/>
        </p:nvSpPr>
        <p:spPr>
          <a:xfrm>
            <a:off x="6912864" y="2103120"/>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565A0"/>
              </a:buClr>
              <a:buSzPts val="1000"/>
              <a:buFont typeface="Calibri"/>
              <a:buNone/>
            </a:pPr>
            <a:r>
              <a:rPr b="1" i="0" lang="en-US" sz="1000" u="none" cap="none" strike="noStrike">
                <a:solidFill>
                  <a:srgbClr val="1565A0"/>
                </a:solidFill>
                <a:latin typeface="Calibri"/>
                <a:ea typeface="Calibri"/>
                <a:cs typeface="Calibri"/>
                <a:sym typeface="Calibri"/>
              </a:rPr>
              <a:t>5.4%</a:t>
            </a:r>
            <a:endParaRPr b="0" i="0" sz="1000" u="none" cap="none" strike="noStrike">
              <a:solidFill>
                <a:srgbClr val="1565A0"/>
              </a:solidFill>
              <a:latin typeface="Calibri"/>
              <a:ea typeface="Calibri"/>
              <a:cs typeface="Calibri"/>
              <a:sym typeface="Calibri"/>
            </a:endParaRPr>
          </a:p>
        </p:txBody>
      </p:sp>
      <p:sp>
        <p:nvSpPr>
          <p:cNvPr id="364" name="Google Shape;364;p20"/>
          <p:cNvSpPr/>
          <p:nvPr/>
        </p:nvSpPr>
        <p:spPr>
          <a:xfrm>
            <a:off x="4956048" y="2313432"/>
            <a:ext cx="3611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44 reviews say reality was better</a:t>
            </a:r>
            <a:endParaRPr b="0" i="0" sz="850" u="none" cap="none" strike="noStrike">
              <a:solidFill>
                <a:schemeClr val="dk1"/>
              </a:solidFill>
              <a:latin typeface="Calibri"/>
              <a:ea typeface="Calibri"/>
              <a:cs typeface="Calibri"/>
              <a:sym typeface="Calibri"/>
            </a:endParaRPr>
          </a:p>
        </p:txBody>
      </p:sp>
      <p:sp>
        <p:nvSpPr>
          <p:cNvPr id="365" name="Google Shape;365;p20"/>
          <p:cNvSpPr/>
          <p:nvPr/>
        </p:nvSpPr>
        <p:spPr>
          <a:xfrm>
            <a:off x="4681728" y="2532888"/>
            <a:ext cx="201168" cy="201168"/>
          </a:xfrm>
          <a:prstGeom prst="rect">
            <a:avLst/>
          </a:prstGeom>
          <a:solidFill>
            <a:srgbClr val="F0F7FF"/>
          </a:solidFill>
          <a:ln cap="flat" cmpd="sng" w="12700">
            <a:solidFill>
              <a:srgbClr val="678A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0"/>
          <p:cNvSpPr/>
          <p:nvPr/>
        </p:nvSpPr>
        <p:spPr>
          <a:xfrm>
            <a:off x="4956048" y="2505456"/>
            <a:ext cx="1920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i="0" lang="en-US" sz="950" u="none" cap="none" strike="noStrike">
                <a:solidFill>
                  <a:srgbClr val="2C2C2C"/>
                </a:solidFill>
                <a:latin typeface="Calibri"/>
                <a:ea typeface="Calibri"/>
                <a:cs typeface="Calibri"/>
                <a:sym typeface="Calibri"/>
              </a:rPr>
              <a:t>Workload heavy</a:t>
            </a:r>
            <a:endParaRPr b="0" i="0" sz="950" u="none" cap="none" strike="noStrike">
              <a:solidFill>
                <a:schemeClr val="dk1"/>
              </a:solidFill>
              <a:latin typeface="Calibri"/>
              <a:ea typeface="Calibri"/>
              <a:cs typeface="Calibri"/>
              <a:sym typeface="Calibri"/>
            </a:endParaRPr>
          </a:p>
        </p:txBody>
      </p:sp>
      <p:sp>
        <p:nvSpPr>
          <p:cNvPr id="367" name="Google Shape;367;p20"/>
          <p:cNvSpPr/>
          <p:nvPr/>
        </p:nvSpPr>
        <p:spPr>
          <a:xfrm>
            <a:off x="6912864" y="2505456"/>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A030"/>
              </a:buClr>
              <a:buSzPts val="1000"/>
              <a:buFont typeface="Calibri"/>
              <a:buNone/>
            </a:pPr>
            <a:r>
              <a:rPr b="1" i="0" lang="en-US" sz="1000" u="none" cap="none" strike="noStrike">
                <a:solidFill>
                  <a:srgbClr val="1565A0"/>
                </a:solidFill>
                <a:latin typeface="Calibri"/>
                <a:ea typeface="Calibri"/>
                <a:cs typeface="Calibri"/>
                <a:sym typeface="Calibri"/>
              </a:rPr>
              <a:t>3.2%</a:t>
            </a:r>
            <a:endParaRPr b="0" i="0" sz="1000" u="none" cap="none" strike="noStrike">
              <a:solidFill>
                <a:srgbClr val="1565A0"/>
              </a:solidFill>
              <a:latin typeface="Calibri"/>
              <a:ea typeface="Calibri"/>
              <a:cs typeface="Calibri"/>
              <a:sym typeface="Calibri"/>
            </a:endParaRPr>
          </a:p>
        </p:txBody>
      </p:sp>
      <p:sp>
        <p:nvSpPr>
          <p:cNvPr id="368" name="Google Shape;368;p20"/>
          <p:cNvSpPr/>
          <p:nvPr/>
        </p:nvSpPr>
        <p:spPr>
          <a:xfrm>
            <a:off x="4956048" y="2715768"/>
            <a:ext cx="3611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26 reviews describe overwhelming pace</a:t>
            </a:r>
            <a:endParaRPr b="0" i="0" sz="850" u="none" cap="none" strike="noStrike">
              <a:solidFill>
                <a:schemeClr val="dk1"/>
              </a:solidFill>
              <a:latin typeface="Calibri"/>
              <a:ea typeface="Calibri"/>
              <a:cs typeface="Calibri"/>
              <a:sym typeface="Calibri"/>
            </a:endParaRPr>
          </a:p>
        </p:txBody>
      </p:sp>
      <p:sp>
        <p:nvSpPr>
          <p:cNvPr id="369" name="Google Shape;369;p20"/>
          <p:cNvSpPr/>
          <p:nvPr/>
        </p:nvSpPr>
        <p:spPr>
          <a:xfrm>
            <a:off x="4681728" y="2935224"/>
            <a:ext cx="201168" cy="201168"/>
          </a:xfrm>
          <a:prstGeom prst="rect">
            <a:avLst/>
          </a:prstGeom>
          <a:solidFill>
            <a:srgbClr val="F0F7FF"/>
          </a:solidFill>
          <a:ln cap="flat" cmpd="sng" w="12700">
            <a:solidFill>
              <a:srgbClr val="678A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0"/>
          <p:cNvSpPr/>
          <p:nvPr/>
        </p:nvSpPr>
        <p:spPr>
          <a:xfrm>
            <a:off x="4956048" y="2907792"/>
            <a:ext cx="1920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i="0" lang="en-US" sz="950" u="none" cap="none" strike="noStrike">
                <a:solidFill>
                  <a:srgbClr val="2C2C2C"/>
                </a:solidFill>
                <a:latin typeface="Calibri"/>
                <a:ea typeface="Calibri"/>
                <a:cs typeface="Calibri"/>
                <a:sym typeface="Calibri"/>
              </a:rPr>
              <a:t>Expectations fell short</a:t>
            </a:r>
            <a:endParaRPr b="0" i="0" sz="950" u="none" cap="none" strike="noStrike">
              <a:solidFill>
                <a:schemeClr val="dk1"/>
              </a:solidFill>
              <a:latin typeface="Calibri"/>
              <a:ea typeface="Calibri"/>
              <a:cs typeface="Calibri"/>
              <a:sym typeface="Calibri"/>
            </a:endParaRPr>
          </a:p>
        </p:txBody>
      </p:sp>
      <p:sp>
        <p:nvSpPr>
          <p:cNvPr id="371" name="Google Shape;371;p20"/>
          <p:cNvSpPr/>
          <p:nvPr/>
        </p:nvSpPr>
        <p:spPr>
          <a:xfrm>
            <a:off x="6912864" y="2907792"/>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23038"/>
              </a:buClr>
              <a:buSzPts val="1000"/>
              <a:buFont typeface="Calibri"/>
              <a:buNone/>
            </a:pPr>
            <a:r>
              <a:rPr b="1" i="0" lang="en-US" sz="1000" u="none" cap="none" strike="noStrike">
                <a:solidFill>
                  <a:srgbClr val="1565A0"/>
                </a:solidFill>
                <a:latin typeface="Calibri"/>
                <a:ea typeface="Calibri"/>
                <a:cs typeface="Calibri"/>
                <a:sym typeface="Calibri"/>
              </a:rPr>
              <a:t>1.8%</a:t>
            </a:r>
            <a:endParaRPr b="0" i="0" sz="1000" u="none" cap="none" strike="noStrike">
              <a:solidFill>
                <a:srgbClr val="1565A0"/>
              </a:solidFill>
              <a:latin typeface="Calibri"/>
              <a:ea typeface="Calibri"/>
              <a:cs typeface="Calibri"/>
              <a:sym typeface="Calibri"/>
            </a:endParaRPr>
          </a:p>
        </p:txBody>
      </p:sp>
      <p:sp>
        <p:nvSpPr>
          <p:cNvPr id="372" name="Google Shape;372;p20"/>
          <p:cNvSpPr/>
          <p:nvPr/>
        </p:nvSpPr>
        <p:spPr>
          <a:xfrm>
            <a:off x="4956048" y="3118104"/>
            <a:ext cx="3611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15 reviews say expectations not met</a:t>
            </a:r>
            <a:endParaRPr b="0" i="0" sz="850" u="none" cap="none" strike="noStrike">
              <a:solidFill>
                <a:schemeClr val="dk1"/>
              </a:solidFill>
              <a:latin typeface="Calibri"/>
              <a:ea typeface="Calibri"/>
              <a:cs typeface="Calibri"/>
              <a:sym typeface="Calibri"/>
            </a:endParaRPr>
          </a:p>
        </p:txBody>
      </p:sp>
      <p:sp>
        <p:nvSpPr>
          <p:cNvPr id="373" name="Google Shape;373;p20"/>
          <p:cNvSpPr/>
          <p:nvPr/>
        </p:nvSpPr>
        <p:spPr>
          <a:xfrm>
            <a:off x="4681728" y="3337560"/>
            <a:ext cx="201168" cy="201168"/>
          </a:xfrm>
          <a:prstGeom prst="rect">
            <a:avLst/>
          </a:prstGeom>
          <a:solidFill>
            <a:srgbClr val="F0F7FF"/>
          </a:solidFill>
          <a:ln cap="flat" cmpd="sng" w="12700">
            <a:solidFill>
              <a:srgbClr val="678A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0"/>
          <p:cNvSpPr/>
          <p:nvPr/>
        </p:nvSpPr>
        <p:spPr>
          <a:xfrm>
            <a:off x="4956048" y="3310128"/>
            <a:ext cx="1920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i="0" lang="en-US" sz="950" u="none" cap="none" strike="noStrike">
                <a:solidFill>
                  <a:srgbClr val="2C2C2C"/>
                </a:solidFill>
                <a:latin typeface="Calibri"/>
                <a:ea typeface="Calibri"/>
                <a:cs typeface="Calibri"/>
                <a:sym typeface="Calibri"/>
              </a:rPr>
              <a:t>Getting hired mentioned</a:t>
            </a:r>
            <a:endParaRPr b="0" i="0" sz="950" u="none" cap="none" strike="noStrike">
              <a:solidFill>
                <a:schemeClr val="dk1"/>
              </a:solidFill>
              <a:latin typeface="Calibri"/>
              <a:ea typeface="Calibri"/>
              <a:cs typeface="Calibri"/>
              <a:sym typeface="Calibri"/>
            </a:endParaRPr>
          </a:p>
        </p:txBody>
      </p:sp>
      <p:sp>
        <p:nvSpPr>
          <p:cNvPr id="375" name="Google Shape;375;p20"/>
          <p:cNvSpPr/>
          <p:nvPr/>
        </p:nvSpPr>
        <p:spPr>
          <a:xfrm>
            <a:off x="6912864" y="331012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23038"/>
              </a:buClr>
              <a:buSzPts val="1000"/>
              <a:buFont typeface="Calibri"/>
              <a:buNone/>
            </a:pPr>
            <a:r>
              <a:rPr b="1" i="0" lang="en-US" sz="1000" u="none" cap="none" strike="noStrike">
                <a:solidFill>
                  <a:srgbClr val="1565A0"/>
                </a:solidFill>
                <a:latin typeface="Calibri"/>
                <a:ea typeface="Calibri"/>
                <a:cs typeface="Calibri"/>
                <a:sym typeface="Calibri"/>
              </a:rPr>
              <a:t>2.1%</a:t>
            </a:r>
            <a:endParaRPr b="0" i="0" sz="1000" u="none" cap="none" strike="noStrike">
              <a:solidFill>
                <a:srgbClr val="1565A0"/>
              </a:solidFill>
              <a:latin typeface="Calibri"/>
              <a:ea typeface="Calibri"/>
              <a:cs typeface="Calibri"/>
              <a:sym typeface="Calibri"/>
            </a:endParaRPr>
          </a:p>
        </p:txBody>
      </p:sp>
      <p:sp>
        <p:nvSpPr>
          <p:cNvPr id="376" name="Google Shape;376;p20"/>
          <p:cNvSpPr/>
          <p:nvPr/>
        </p:nvSpPr>
        <p:spPr>
          <a:xfrm>
            <a:off x="4956048" y="3520440"/>
            <a:ext cx="3611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Only 17 reviews mention job outcomes</a:t>
            </a:r>
            <a:endParaRPr b="0" i="0" sz="850" u="none" cap="none" strike="noStrike">
              <a:solidFill>
                <a:schemeClr val="dk1"/>
              </a:solidFill>
              <a:latin typeface="Calibri"/>
              <a:ea typeface="Calibri"/>
              <a:cs typeface="Calibri"/>
              <a:sym typeface="Calibri"/>
            </a:endParaRPr>
          </a:p>
        </p:txBody>
      </p:sp>
      <p:sp>
        <p:nvSpPr>
          <p:cNvPr id="377" name="Google Shape;377;p20"/>
          <p:cNvSpPr/>
          <p:nvPr/>
        </p:nvSpPr>
        <p:spPr>
          <a:xfrm>
            <a:off x="274320" y="3913632"/>
            <a:ext cx="8595360" cy="658368"/>
          </a:xfrm>
          <a:prstGeom prst="rect">
            <a:avLst/>
          </a:prstGeom>
          <a:solidFill>
            <a:srgbClr val="F0F7FF"/>
          </a:solidFill>
          <a:ln cap="flat" cmpd="sng" w="9525">
            <a:solidFill>
              <a:srgbClr val="F0F7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0"/>
          <p:cNvSpPr/>
          <p:nvPr/>
        </p:nvSpPr>
        <p:spPr>
          <a:xfrm>
            <a:off x="274320" y="3913632"/>
            <a:ext cx="54864" cy="658368"/>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0"/>
          <p:cNvSpPr/>
          <p:nvPr/>
        </p:nvSpPr>
        <p:spPr>
          <a:xfrm>
            <a:off x="457200" y="3913632"/>
            <a:ext cx="83210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50"/>
              <a:buFont typeface="Calibri"/>
              <a:buNone/>
            </a:pPr>
            <a:r>
              <a:rPr b="0" i="1" lang="en-US" sz="1050" u="none" cap="none" strike="noStrike">
                <a:solidFill>
                  <a:srgbClr val="2C2C2C"/>
                </a:solidFill>
                <a:latin typeface="Calibri"/>
                <a:ea typeface="Calibri"/>
                <a:cs typeface="Calibri"/>
                <a:sym typeface="Calibri"/>
              </a:rPr>
              <a:t>6:1 manageable vs heavy workload ratio — students find the bootcamp demanding but structured, not chaotic. The intensity is working as intended.</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1"/>
          <p:cNvSpPr/>
          <p:nvPr/>
        </p:nvSpPr>
        <p:spPr>
          <a:xfrm>
            <a:off x="0" y="0"/>
            <a:ext cx="9144000" cy="658368"/>
          </a:xfrm>
          <a:prstGeom prst="rect">
            <a:avLst/>
          </a:prstGeom>
          <a:solidFill>
            <a:srgbClr val="2C2C2C"/>
          </a:solidFill>
          <a:ln cap="flat" cmpd="sng" w="12700">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1"/>
          <p:cNvSpPr/>
          <p:nvPr/>
        </p:nvSpPr>
        <p:spPr>
          <a:xfrm>
            <a:off x="0" y="0"/>
            <a:ext cx="164592" cy="658368"/>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1"/>
          <p:cNvSpPr/>
          <p:nvPr/>
        </p:nvSpPr>
        <p:spPr>
          <a:xfrm>
            <a:off x="292608" y="64008"/>
            <a:ext cx="7772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Marketing Opportunities</a:t>
            </a:r>
            <a:endParaRPr b="0" i="0" sz="2000" u="none" cap="none" strike="noStrike">
              <a:solidFill>
                <a:schemeClr val="dk1"/>
              </a:solidFill>
              <a:latin typeface="Calibri"/>
              <a:ea typeface="Calibri"/>
              <a:cs typeface="Calibri"/>
              <a:sym typeface="Calibri"/>
            </a:endParaRPr>
          </a:p>
        </p:txBody>
      </p:sp>
      <p:sp>
        <p:nvSpPr>
          <p:cNvPr id="388" name="Google Shape;388;p21"/>
          <p:cNvSpPr/>
          <p:nvPr/>
        </p:nvSpPr>
        <p:spPr>
          <a:xfrm>
            <a:off x="292608" y="384048"/>
            <a:ext cx="77724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000"/>
              <a:buFont typeface="Calibri"/>
              <a:buNone/>
            </a:pPr>
            <a:r>
              <a:rPr b="0" i="0" lang="en-US" sz="1000" u="none" cap="none" strike="noStrike">
                <a:solidFill>
                  <a:srgbClr val="AAAAAA"/>
                </a:solidFill>
                <a:latin typeface="Calibri"/>
                <a:ea typeface="Calibri"/>
                <a:cs typeface="Calibri"/>
                <a:sym typeface="Calibri"/>
              </a:rPr>
              <a:t>USP language, testimonials, and quote diversity</a:t>
            </a:r>
            <a:endParaRPr b="0" i="0" sz="1000" u="none" cap="none" strike="noStrike">
              <a:solidFill>
                <a:schemeClr val="dk1"/>
              </a:solidFill>
              <a:latin typeface="Calibri"/>
              <a:ea typeface="Calibri"/>
              <a:cs typeface="Calibri"/>
              <a:sym typeface="Calibri"/>
            </a:endParaRPr>
          </a:p>
        </p:txBody>
      </p:sp>
      <p:sp>
        <p:nvSpPr>
          <p:cNvPr id="389" name="Google Shape;389;p21"/>
          <p:cNvSpPr/>
          <p:nvPr/>
        </p:nvSpPr>
        <p:spPr>
          <a:xfrm>
            <a:off x="0" y="4892040"/>
            <a:ext cx="9144000" cy="251460"/>
          </a:xfrm>
          <a:prstGeom prst="rect">
            <a:avLst/>
          </a:prstGeom>
          <a:solidFill>
            <a:srgbClr val="2C2C2C"/>
          </a:solidFill>
          <a:ln cap="flat" cmpd="sng" w="12700">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1"/>
          <p:cNvSpPr/>
          <p:nvPr/>
        </p:nvSpPr>
        <p:spPr>
          <a:xfrm>
            <a:off x="274320" y="4901184"/>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800"/>
              <a:buFont typeface="Calibri"/>
              <a:buNone/>
            </a:pPr>
            <a:r>
              <a:rPr b="0" i="0" lang="en-US" sz="800" u="none" cap="none" strike="noStrike">
                <a:solidFill>
                  <a:srgbClr val="AAAAAA"/>
                </a:solidFill>
                <a:latin typeface="Calibri"/>
                <a:ea typeface="Calibri"/>
                <a:cs typeface="Calibri"/>
                <a:sym typeface="Calibri"/>
              </a:rPr>
              <a:t>WBS Coding School  |  Student Review Analysis  |  Essentis  |  March 2026</a:t>
            </a:r>
            <a:endParaRPr b="0" i="0" sz="800" u="none" cap="none" strike="noStrike">
              <a:solidFill>
                <a:schemeClr val="dk1"/>
              </a:solidFill>
              <a:latin typeface="Calibri"/>
              <a:ea typeface="Calibri"/>
              <a:cs typeface="Calibri"/>
              <a:sym typeface="Calibri"/>
            </a:endParaRPr>
          </a:p>
        </p:txBody>
      </p:sp>
      <p:sp>
        <p:nvSpPr>
          <p:cNvPr id="391" name="Google Shape;391;p21"/>
          <p:cNvSpPr/>
          <p:nvPr/>
        </p:nvSpPr>
        <p:spPr>
          <a:xfrm>
            <a:off x="8686800" y="4901184"/>
            <a:ext cx="3657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AAAAA"/>
              </a:buClr>
              <a:buSzPts val="800"/>
              <a:buFont typeface="Calibri"/>
              <a:buNone/>
            </a:pPr>
            <a:r>
              <a:rPr b="0" i="0" lang="en-US" sz="800" u="none" cap="none" strike="noStrike">
                <a:solidFill>
                  <a:srgbClr val="AAAAAA"/>
                </a:solidFill>
                <a:latin typeface="Calibri"/>
                <a:ea typeface="Calibri"/>
                <a:cs typeface="Calibri"/>
                <a:sym typeface="Calibri"/>
              </a:rPr>
              <a:t>7</a:t>
            </a:r>
            <a:endParaRPr b="0" i="0" sz="800" u="none" cap="none" strike="noStrike">
              <a:solidFill>
                <a:schemeClr val="dk1"/>
              </a:solidFill>
              <a:latin typeface="Calibri"/>
              <a:ea typeface="Calibri"/>
              <a:cs typeface="Calibri"/>
              <a:sym typeface="Calibri"/>
            </a:endParaRPr>
          </a:p>
        </p:txBody>
      </p:sp>
      <p:sp>
        <p:nvSpPr>
          <p:cNvPr id="392" name="Google Shape;392;p21"/>
          <p:cNvSpPr/>
          <p:nvPr/>
        </p:nvSpPr>
        <p:spPr>
          <a:xfrm>
            <a:off x="292600" y="1690225"/>
            <a:ext cx="8394000" cy="307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4"/>
              <a:buFont typeface="Calibri"/>
              <a:buNone/>
            </a:pPr>
            <a:r>
              <a:rPr lang="en-US" sz="1054">
                <a:solidFill>
                  <a:srgbClr val="678AA2"/>
                </a:solidFill>
                <a:latin typeface="Calibri"/>
                <a:ea typeface="Calibri"/>
                <a:cs typeface="Calibri"/>
                <a:sym typeface="Calibri"/>
              </a:rPr>
              <a:t>26.7% </a:t>
            </a:r>
            <a:r>
              <a:rPr b="0" i="0" lang="en-US" sz="1054" u="none" cap="none" strike="noStrike">
                <a:solidFill>
                  <a:srgbClr val="678AA2"/>
                </a:solidFill>
                <a:latin typeface="Calibri"/>
                <a:ea typeface="Calibri"/>
                <a:cs typeface="Calibri"/>
                <a:sym typeface="Calibri"/>
              </a:rPr>
              <a:t>of all reviews — 1 in 4 — contain language explicitly positioning WBS favourably against alternatives or describing the experience as life-changing.</a:t>
            </a:r>
            <a:endParaRPr b="0" i="0" sz="1054" u="none" cap="none" strike="noStrike">
              <a:solidFill>
                <a:srgbClr val="678AA2"/>
              </a:solidFill>
              <a:latin typeface="Calibri"/>
              <a:ea typeface="Calibri"/>
              <a:cs typeface="Calibri"/>
              <a:sym typeface="Calibri"/>
            </a:endParaRPr>
          </a:p>
        </p:txBody>
      </p:sp>
      <p:sp>
        <p:nvSpPr>
          <p:cNvPr id="393" name="Google Shape;393;p21"/>
          <p:cNvSpPr/>
          <p:nvPr/>
        </p:nvSpPr>
        <p:spPr>
          <a:xfrm>
            <a:off x="347495" y="1737435"/>
            <a:ext cx="8595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94" name="Google Shape;394;p21"/>
          <p:cNvSpPr/>
          <p:nvPr/>
        </p:nvSpPr>
        <p:spPr>
          <a:xfrm>
            <a:off x="274320" y="2048256"/>
            <a:ext cx="4160520" cy="1170432"/>
          </a:xfrm>
          <a:prstGeom prst="rect">
            <a:avLst/>
          </a:prstGeom>
          <a:solidFill>
            <a:srgbClr val="F0F7FF"/>
          </a:solidFill>
          <a:ln cap="flat" cmpd="sng" w="9525">
            <a:solidFill>
              <a:srgbClr val="F0F7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1"/>
          <p:cNvSpPr/>
          <p:nvPr/>
        </p:nvSpPr>
        <p:spPr>
          <a:xfrm>
            <a:off x="274320" y="2048256"/>
            <a:ext cx="54864" cy="1170432"/>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1"/>
          <p:cNvSpPr/>
          <p:nvPr/>
        </p:nvSpPr>
        <p:spPr>
          <a:xfrm>
            <a:off x="438912" y="2139696"/>
            <a:ext cx="3904488"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1" lang="en-US" sz="1200" u="none" cap="none" strike="noStrike">
                <a:solidFill>
                  <a:srgbClr val="2C2C2C"/>
                </a:solidFill>
                <a:latin typeface="Calibri"/>
                <a:ea typeface="Calibri"/>
                <a:cs typeface="Calibri"/>
                <a:sym typeface="Calibri"/>
              </a:rPr>
              <a:t>“After navigating through some tough personal times, the Data Science Bootcamp at WBS Coding School gave my life a new foundation and a new direction.”</a:t>
            </a:r>
            <a:endParaRPr b="0" i="0" sz="1200" u="none" cap="none" strike="noStrike">
              <a:solidFill>
                <a:schemeClr val="dk1"/>
              </a:solidFill>
              <a:latin typeface="Calibri"/>
              <a:ea typeface="Calibri"/>
              <a:cs typeface="Calibri"/>
              <a:sym typeface="Calibri"/>
            </a:endParaRPr>
          </a:p>
        </p:txBody>
      </p:sp>
      <p:sp>
        <p:nvSpPr>
          <p:cNvPr id="397" name="Google Shape;397;p21"/>
          <p:cNvSpPr/>
          <p:nvPr/>
        </p:nvSpPr>
        <p:spPr>
          <a:xfrm>
            <a:off x="438912" y="2944368"/>
            <a:ext cx="39044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1" i="0" lang="en-US" sz="900" u="none" cap="none" strike="noStrike">
                <a:solidFill>
                  <a:srgbClr val="888888"/>
                </a:solidFill>
                <a:latin typeface="Calibri"/>
                <a:ea typeface="Calibri"/>
                <a:cs typeface="Calibri"/>
                <a:sym typeface="Calibri"/>
              </a:rPr>
              <a:t>— Christian Goerke  |  Data Science  |  4.75 stars</a:t>
            </a:r>
            <a:endParaRPr b="0" i="0" sz="900" u="none" cap="none" strike="noStrike">
              <a:solidFill>
                <a:schemeClr val="dk1"/>
              </a:solidFill>
              <a:latin typeface="Calibri"/>
              <a:ea typeface="Calibri"/>
              <a:cs typeface="Calibri"/>
              <a:sym typeface="Calibri"/>
            </a:endParaRPr>
          </a:p>
        </p:txBody>
      </p:sp>
      <p:sp>
        <p:nvSpPr>
          <p:cNvPr id="398" name="Google Shape;398;p21"/>
          <p:cNvSpPr/>
          <p:nvPr/>
        </p:nvSpPr>
        <p:spPr>
          <a:xfrm>
            <a:off x="4617720" y="2048256"/>
            <a:ext cx="4251960" cy="1170432"/>
          </a:xfrm>
          <a:prstGeom prst="rect">
            <a:avLst/>
          </a:prstGeom>
          <a:solidFill>
            <a:srgbClr val="F0F7FF"/>
          </a:solidFill>
          <a:ln cap="flat" cmpd="sng" w="9525">
            <a:solidFill>
              <a:srgbClr val="F0F7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1"/>
          <p:cNvSpPr/>
          <p:nvPr/>
        </p:nvSpPr>
        <p:spPr>
          <a:xfrm>
            <a:off x="4617720" y="2048256"/>
            <a:ext cx="54864" cy="1170432"/>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1"/>
          <p:cNvSpPr/>
          <p:nvPr/>
        </p:nvSpPr>
        <p:spPr>
          <a:xfrm>
            <a:off x="4782312" y="2139696"/>
            <a:ext cx="3995928"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1" lang="en-US" sz="1200" u="none" cap="none" strike="noStrike">
                <a:solidFill>
                  <a:srgbClr val="2C2C2C"/>
                </a:solidFill>
                <a:latin typeface="Calibri"/>
                <a:ea typeface="Calibri"/>
                <a:cs typeface="Calibri"/>
                <a:sym typeface="Calibri"/>
              </a:rPr>
              <a:t>“WBS Coding School's 15-week hybrid bootcamp isn't just a course. The whole program unfolds in a fantastic community of motivated and competent people.”</a:t>
            </a:r>
            <a:endParaRPr b="0" i="0" sz="1200" u="none" cap="none" strike="noStrike">
              <a:solidFill>
                <a:schemeClr val="dk1"/>
              </a:solidFill>
              <a:latin typeface="Calibri"/>
              <a:ea typeface="Calibri"/>
              <a:cs typeface="Calibri"/>
              <a:sym typeface="Calibri"/>
            </a:endParaRPr>
          </a:p>
        </p:txBody>
      </p:sp>
      <p:sp>
        <p:nvSpPr>
          <p:cNvPr id="401" name="Google Shape;401;p21"/>
          <p:cNvSpPr/>
          <p:nvPr/>
        </p:nvSpPr>
        <p:spPr>
          <a:xfrm>
            <a:off x="4782312" y="2944368"/>
            <a:ext cx="399592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1" i="0" lang="en-US" sz="900" u="none" cap="none" strike="noStrike">
                <a:solidFill>
                  <a:srgbClr val="888888"/>
                </a:solidFill>
                <a:latin typeface="Calibri"/>
                <a:ea typeface="Calibri"/>
                <a:cs typeface="Calibri"/>
                <a:sym typeface="Calibri"/>
              </a:rPr>
              <a:t>— Raphael Hemme  |  Full-Stack Web &amp; App  |  5.0 stars</a:t>
            </a:r>
            <a:endParaRPr b="0" i="0" sz="900" u="none" cap="none" strike="noStrike">
              <a:solidFill>
                <a:schemeClr val="dk1"/>
              </a:solidFill>
              <a:latin typeface="Calibri"/>
              <a:ea typeface="Calibri"/>
              <a:cs typeface="Calibri"/>
              <a:sym typeface="Calibri"/>
            </a:endParaRPr>
          </a:p>
        </p:txBody>
      </p:sp>
      <p:sp>
        <p:nvSpPr>
          <p:cNvPr id="402" name="Google Shape;402;p21"/>
          <p:cNvSpPr/>
          <p:nvPr/>
        </p:nvSpPr>
        <p:spPr>
          <a:xfrm>
            <a:off x="274320" y="3337560"/>
            <a:ext cx="4160520" cy="1097280"/>
          </a:xfrm>
          <a:prstGeom prst="rect">
            <a:avLst/>
          </a:prstGeom>
          <a:solidFill>
            <a:srgbClr val="F0F7FF"/>
          </a:solidFill>
          <a:ln cap="flat" cmpd="sng" w="9525">
            <a:solidFill>
              <a:srgbClr val="F0F7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1"/>
          <p:cNvSpPr/>
          <p:nvPr/>
        </p:nvSpPr>
        <p:spPr>
          <a:xfrm>
            <a:off x="274320" y="3337560"/>
            <a:ext cx="54864" cy="1097280"/>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1"/>
          <p:cNvSpPr/>
          <p:nvPr/>
        </p:nvSpPr>
        <p:spPr>
          <a:xfrm>
            <a:off x="438912" y="3429000"/>
            <a:ext cx="3904488"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Calibri"/>
              <a:buNone/>
            </a:pPr>
            <a:r>
              <a:rPr b="0" i="1" lang="en-US" sz="1200" u="none" cap="none" strike="noStrike">
                <a:solidFill>
                  <a:srgbClr val="2C2C2C"/>
                </a:solidFill>
                <a:latin typeface="Calibri"/>
                <a:ea typeface="Calibri"/>
                <a:cs typeface="Calibri"/>
                <a:sym typeface="Calibri"/>
              </a:rPr>
              <a:t>“Amazing Instructor and a Great team overall. Would definitely recommend it. It was an overall great experience.”</a:t>
            </a:r>
            <a:endParaRPr b="0" i="0" sz="1200" u="none" cap="none" strike="noStrike">
              <a:solidFill>
                <a:schemeClr val="dk1"/>
              </a:solidFill>
              <a:latin typeface="Calibri"/>
              <a:ea typeface="Calibri"/>
              <a:cs typeface="Calibri"/>
              <a:sym typeface="Calibri"/>
            </a:endParaRPr>
          </a:p>
        </p:txBody>
      </p:sp>
      <p:sp>
        <p:nvSpPr>
          <p:cNvPr id="405" name="Google Shape;405;p21"/>
          <p:cNvSpPr/>
          <p:nvPr/>
        </p:nvSpPr>
        <p:spPr>
          <a:xfrm>
            <a:off x="438912" y="4160520"/>
            <a:ext cx="39044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900"/>
              <a:buFont typeface="Calibri"/>
              <a:buNone/>
            </a:pPr>
            <a:r>
              <a:rPr b="1" i="0" lang="en-US" sz="900" u="none" cap="none" strike="noStrike">
                <a:solidFill>
                  <a:srgbClr val="888888"/>
                </a:solidFill>
                <a:latin typeface="Calibri"/>
                <a:ea typeface="Calibri"/>
                <a:cs typeface="Calibri"/>
                <a:sym typeface="Calibri"/>
              </a:rPr>
              <a:t>— Dimitrios Akritidis  |  Full-Stack Web &amp; App  |  4.75 stars</a:t>
            </a:r>
            <a:endParaRPr b="0" i="0" sz="900" u="none" cap="none" strike="noStrike">
              <a:solidFill>
                <a:schemeClr val="dk1"/>
              </a:solidFill>
              <a:latin typeface="Calibri"/>
              <a:ea typeface="Calibri"/>
              <a:cs typeface="Calibri"/>
              <a:sym typeface="Calibri"/>
            </a:endParaRPr>
          </a:p>
        </p:txBody>
      </p:sp>
      <p:sp>
        <p:nvSpPr>
          <p:cNvPr id="406" name="Google Shape;406;p21"/>
          <p:cNvSpPr/>
          <p:nvPr/>
        </p:nvSpPr>
        <p:spPr>
          <a:xfrm>
            <a:off x="4617720" y="3337560"/>
            <a:ext cx="4251960" cy="1097280"/>
          </a:xfrm>
          <a:prstGeom prst="rect">
            <a:avLst/>
          </a:prstGeom>
          <a:solidFill>
            <a:srgbClr val="FFFFFF"/>
          </a:solidFill>
          <a:ln cap="flat" cmpd="sng" w="9525">
            <a:solidFill>
              <a:srgbClr val="EEEEEE"/>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1"/>
          <p:cNvSpPr/>
          <p:nvPr/>
        </p:nvSpPr>
        <p:spPr>
          <a:xfrm>
            <a:off x="4773168" y="3410712"/>
            <a:ext cx="391363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100"/>
              <a:buFont typeface="Calibri"/>
              <a:buNone/>
            </a:pPr>
            <a:r>
              <a:rPr b="1" i="0" lang="en-US" sz="1100" u="none" cap="none" strike="noStrike">
                <a:solidFill>
                  <a:srgbClr val="2C2C2C"/>
                </a:solidFill>
                <a:latin typeface="Calibri"/>
                <a:ea typeface="Calibri"/>
                <a:cs typeface="Calibri"/>
                <a:sym typeface="Calibri"/>
              </a:rPr>
              <a:t>Quote Diversity Targets</a:t>
            </a:r>
            <a:endParaRPr b="0" i="0" sz="1100" u="none" cap="none" strike="noStrike">
              <a:solidFill>
                <a:schemeClr val="dk1"/>
              </a:solidFill>
              <a:latin typeface="Calibri"/>
              <a:ea typeface="Calibri"/>
              <a:cs typeface="Calibri"/>
              <a:sym typeface="Calibri"/>
            </a:endParaRPr>
          </a:p>
        </p:txBody>
      </p:sp>
      <p:sp>
        <p:nvSpPr>
          <p:cNvPr id="408" name="Google Shape;408;p21"/>
          <p:cNvSpPr/>
          <p:nvPr/>
        </p:nvSpPr>
        <p:spPr>
          <a:xfrm>
            <a:off x="4773168" y="3712464"/>
            <a:ext cx="73152" cy="109728"/>
          </a:xfrm>
          <a:prstGeom prst="rect">
            <a:avLst/>
          </a:prstGeom>
          <a:solidFill>
            <a:srgbClr val="678AA2"/>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1"/>
          <p:cNvSpPr/>
          <p:nvPr/>
        </p:nvSpPr>
        <p:spPr>
          <a:xfrm>
            <a:off x="4919472" y="3694176"/>
            <a:ext cx="3822192"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00"/>
              <a:buFont typeface="Calibri"/>
              <a:buNone/>
            </a:pPr>
            <a:r>
              <a:rPr b="0" i="0" lang="en-US" sz="900" u="none" cap="none" strike="noStrike">
                <a:solidFill>
                  <a:srgbClr val="2C2C2C"/>
                </a:solidFill>
                <a:latin typeface="Calibri"/>
                <a:ea typeface="Calibri"/>
                <a:cs typeface="Calibri"/>
                <a:sym typeface="Calibri"/>
              </a:rPr>
              <a:t>Career changers from non-technical backgrounds</a:t>
            </a:r>
            <a:endParaRPr b="0" i="0" sz="900" u="none" cap="none" strike="noStrike">
              <a:solidFill>
                <a:schemeClr val="dk1"/>
              </a:solidFill>
              <a:latin typeface="Calibri"/>
              <a:ea typeface="Calibri"/>
              <a:cs typeface="Calibri"/>
              <a:sym typeface="Calibri"/>
            </a:endParaRPr>
          </a:p>
        </p:txBody>
      </p:sp>
      <p:sp>
        <p:nvSpPr>
          <p:cNvPr id="410" name="Google Shape;410;p21"/>
          <p:cNvSpPr/>
          <p:nvPr/>
        </p:nvSpPr>
        <p:spPr>
          <a:xfrm>
            <a:off x="4773168" y="3886200"/>
            <a:ext cx="73152" cy="109728"/>
          </a:xfrm>
          <a:prstGeom prst="rect">
            <a:avLst/>
          </a:prstGeom>
          <a:solidFill>
            <a:srgbClr val="678AA2"/>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1"/>
          <p:cNvSpPr/>
          <p:nvPr/>
        </p:nvSpPr>
        <p:spPr>
          <a:xfrm>
            <a:off x="4919472" y="3867912"/>
            <a:ext cx="3822192"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00"/>
              <a:buFont typeface="Calibri"/>
              <a:buNone/>
            </a:pPr>
            <a:r>
              <a:rPr b="0" i="0" lang="en-US" sz="900" u="none" cap="none" strike="noStrike">
                <a:solidFill>
                  <a:srgbClr val="2C2C2C"/>
                </a:solidFill>
                <a:latin typeface="Calibri"/>
                <a:ea typeface="Calibri"/>
                <a:cs typeface="Calibri"/>
                <a:sym typeface="Calibri"/>
              </a:rPr>
              <a:t>Working professionals upskilling part-time</a:t>
            </a:r>
            <a:endParaRPr b="0" i="0" sz="900" u="none" cap="none" strike="noStrike">
              <a:solidFill>
                <a:schemeClr val="dk1"/>
              </a:solidFill>
              <a:latin typeface="Calibri"/>
              <a:ea typeface="Calibri"/>
              <a:cs typeface="Calibri"/>
              <a:sym typeface="Calibri"/>
            </a:endParaRPr>
          </a:p>
        </p:txBody>
      </p:sp>
      <p:sp>
        <p:nvSpPr>
          <p:cNvPr id="412" name="Google Shape;412;p21"/>
          <p:cNvSpPr/>
          <p:nvPr/>
        </p:nvSpPr>
        <p:spPr>
          <a:xfrm>
            <a:off x="4773168" y="4059936"/>
            <a:ext cx="73152" cy="109728"/>
          </a:xfrm>
          <a:prstGeom prst="rect">
            <a:avLst/>
          </a:prstGeom>
          <a:solidFill>
            <a:srgbClr val="678AA2"/>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1"/>
          <p:cNvSpPr/>
          <p:nvPr/>
        </p:nvSpPr>
        <p:spPr>
          <a:xfrm>
            <a:off x="4919472" y="4041648"/>
            <a:ext cx="3822192"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00"/>
              <a:buFont typeface="Calibri"/>
              <a:buNone/>
            </a:pPr>
            <a:r>
              <a:rPr b="0" i="0" lang="en-US" sz="900" u="none" cap="none" strike="noStrike">
                <a:solidFill>
                  <a:srgbClr val="2C2C2C"/>
                </a:solidFill>
                <a:latin typeface="Calibri"/>
                <a:ea typeface="Calibri"/>
                <a:cs typeface="Calibri"/>
                <a:sym typeface="Calibri"/>
              </a:rPr>
              <a:t>Recent graduates entering the job market</a:t>
            </a:r>
            <a:endParaRPr b="0" i="0" sz="900" u="none" cap="none" strike="noStrike">
              <a:solidFill>
                <a:schemeClr val="dk1"/>
              </a:solidFill>
              <a:latin typeface="Calibri"/>
              <a:ea typeface="Calibri"/>
              <a:cs typeface="Calibri"/>
              <a:sym typeface="Calibri"/>
            </a:endParaRPr>
          </a:p>
        </p:txBody>
      </p:sp>
      <p:sp>
        <p:nvSpPr>
          <p:cNvPr id="414" name="Google Shape;414;p21"/>
          <p:cNvSpPr/>
          <p:nvPr/>
        </p:nvSpPr>
        <p:spPr>
          <a:xfrm>
            <a:off x="4773168" y="4233672"/>
            <a:ext cx="73152" cy="109728"/>
          </a:xfrm>
          <a:prstGeom prst="rect">
            <a:avLst/>
          </a:prstGeom>
          <a:solidFill>
            <a:srgbClr val="678AA2"/>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1"/>
          <p:cNvSpPr/>
          <p:nvPr/>
        </p:nvSpPr>
        <p:spPr>
          <a:xfrm>
            <a:off x="4919472" y="4215384"/>
            <a:ext cx="3822192"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00"/>
              <a:buFont typeface="Calibri"/>
              <a:buNone/>
            </a:pPr>
            <a:r>
              <a:rPr b="0" i="0" lang="en-US" sz="900" u="none" cap="none" strike="noStrike">
                <a:solidFill>
                  <a:srgbClr val="2C2C2C"/>
                </a:solidFill>
                <a:latin typeface="Calibri"/>
                <a:ea typeface="Calibri"/>
                <a:cs typeface="Calibri"/>
                <a:sym typeface="Calibri"/>
              </a:rPr>
              <a:t>Students who overcame initial uncertainty</a:t>
            </a:r>
            <a:endParaRPr b="0" i="0" sz="900" u="none" cap="none" strike="noStrike">
              <a:solidFill>
                <a:schemeClr val="dk1"/>
              </a:solidFill>
              <a:latin typeface="Calibri"/>
              <a:ea typeface="Calibri"/>
              <a:cs typeface="Calibri"/>
              <a:sym typeface="Calibri"/>
            </a:endParaRPr>
          </a:p>
        </p:txBody>
      </p:sp>
      <p:sp>
        <p:nvSpPr>
          <p:cNvPr id="416" name="Google Shape;416;p21"/>
          <p:cNvSpPr txBox="1"/>
          <p:nvPr/>
        </p:nvSpPr>
        <p:spPr>
          <a:xfrm>
            <a:off x="292600" y="4514113"/>
            <a:ext cx="9144000" cy="30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sz="800">
                <a:solidFill>
                  <a:schemeClr val="lt2"/>
                </a:solidFill>
                <a:latin typeface="Maven Pro"/>
                <a:ea typeface="Maven Pro"/>
                <a:cs typeface="Maven Pro"/>
                <a:sym typeface="Maven Pro"/>
              </a:rPr>
              <a:t>Marketing Tip:</a:t>
            </a:r>
            <a:r>
              <a:rPr lang="en-US" sz="800">
                <a:solidFill>
                  <a:schemeClr val="lt2"/>
                </a:solidFill>
                <a:latin typeface="Maven Pro"/>
                <a:ea typeface="Maven Pro"/>
                <a:cs typeface="Maven Pro"/>
                <a:sym typeface="Maven Pro"/>
              </a:rPr>
              <a:t> Since Christian mentioned he is open to being contacted on LinkedIn, his quotes carry extra weight for "Social Proof" sections.</a:t>
            </a:r>
            <a:endParaRPr sz="1100">
              <a:solidFill>
                <a:schemeClr val="lt2"/>
              </a:solidFill>
              <a:latin typeface="Maven Pro"/>
              <a:ea typeface="Maven Pro"/>
              <a:cs typeface="Maven Pro"/>
              <a:sym typeface="Maven Pro"/>
            </a:endParaRPr>
          </a:p>
        </p:txBody>
      </p:sp>
      <p:sp>
        <p:nvSpPr>
          <p:cNvPr id="417" name="Google Shape;417;p21"/>
          <p:cNvSpPr txBox="1"/>
          <p:nvPr/>
        </p:nvSpPr>
        <p:spPr>
          <a:xfrm>
            <a:off x="164600" y="701350"/>
            <a:ext cx="9144000" cy="945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US" sz="2300">
                <a:solidFill>
                  <a:srgbClr val="F0F7FF"/>
                </a:solidFill>
                <a:latin typeface="Gloria Hallelujah"/>
                <a:ea typeface="Gloria Hallelujah"/>
                <a:cs typeface="Gloria Hallelujah"/>
                <a:sym typeface="Gloria Hallelujah"/>
              </a:rPr>
              <a:t>"An EPIC experience... I am convinced that there is no better competitor on the market."	</a:t>
            </a:r>
            <a:r>
              <a:rPr b="1" lang="en-US">
                <a:solidFill>
                  <a:srgbClr val="F0F7FF"/>
                </a:solidFill>
                <a:latin typeface="Caveat"/>
                <a:ea typeface="Caveat"/>
                <a:cs typeface="Caveat"/>
                <a:sym typeface="Caveat"/>
              </a:rPr>
              <a:t>-</a:t>
            </a:r>
            <a:r>
              <a:rPr b="1" lang="en-US">
                <a:solidFill>
                  <a:srgbClr val="F0F7FF"/>
                </a:solidFill>
                <a:latin typeface="Gloria Hallelujah"/>
                <a:ea typeface="Gloria Hallelujah"/>
                <a:cs typeface="Gloria Hallelujah"/>
                <a:sym typeface="Gloria Hallelujah"/>
              </a:rPr>
              <a:t>Christian</a:t>
            </a:r>
            <a:endParaRPr b="1" sz="1700">
              <a:solidFill>
                <a:srgbClr val="F0F7FF"/>
              </a:solidFill>
              <a:latin typeface="Gloria Hallelujah"/>
              <a:ea typeface="Gloria Hallelujah"/>
              <a:cs typeface="Gloria Hallelujah"/>
              <a:sym typeface="Gloria Hallelujah"/>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2"/>
          <p:cNvSpPr/>
          <p:nvPr/>
        </p:nvSpPr>
        <p:spPr>
          <a:xfrm>
            <a:off x="0" y="0"/>
            <a:ext cx="9144000" cy="658368"/>
          </a:xfrm>
          <a:prstGeom prst="rect">
            <a:avLst/>
          </a:prstGeom>
          <a:solidFill>
            <a:srgbClr val="2C2C2C"/>
          </a:solidFill>
          <a:ln cap="flat" cmpd="sng" w="12700">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2"/>
          <p:cNvSpPr/>
          <p:nvPr/>
        </p:nvSpPr>
        <p:spPr>
          <a:xfrm>
            <a:off x="0" y="0"/>
            <a:ext cx="164592" cy="658368"/>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2"/>
          <p:cNvSpPr/>
          <p:nvPr/>
        </p:nvSpPr>
        <p:spPr>
          <a:xfrm>
            <a:off x="292608" y="64008"/>
            <a:ext cx="7772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Product Improvement Recommendations</a:t>
            </a:r>
            <a:endParaRPr b="0" i="0" sz="2000" u="none" cap="none" strike="noStrike">
              <a:solidFill>
                <a:schemeClr val="dk1"/>
              </a:solidFill>
              <a:latin typeface="Calibri"/>
              <a:ea typeface="Calibri"/>
              <a:cs typeface="Calibri"/>
              <a:sym typeface="Calibri"/>
            </a:endParaRPr>
          </a:p>
        </p:txBody>
      </p:sp>
      <p:sp>
        <p:nvSpPr>
          <p:cNvPr id="426" name="Google Shape;426;p22"/>
          <p:cNvSpPr/>
          <p:nvPr/>
        </p:nvSpPr>
        <p:spPr>
          <a:xfrm>
            <a:off x="292608" y="384048"/>
            <a:ext cx="77724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000"/>
              <a:buFont typeface="Calibri"/>
              <a:buNone/>
            </a:pPr>
            <a:r>
              <a:rPr b="0" i="0" lang="en-US" sz="1000" u="none" cap="none" strike="noStrike">
                <a:solidFill>
                  <a:srgbClr val="AAAAAA"/>
                </a:solidFill>
                <a:latin typeface="Calibri"/>
                <a:ea typeface="Calibri"/>
                <a:cs typeface="Calibri"/>
                <a:sym typeface="Calibri"/>
              </a:rPr>
              <a:t>Three priorities from the data</a:t>
            </a:r>
            <a:endParaRPr b="0" i="0" sz="1000" u="none" cap="none" strike="noStrike">
              <a:solidFill>
                <a:schemeClr val="dk1"/>
              </a:solidFill>
              <a:latin typeface="Calibri"/>
              <a:ea typeface="Calibri"/>
              <a:cs typeface="Calibri"/>
              <a:sym typeface="Calibri"/>
            </a:endParaRPr>
          </a:p>
        </p:txBody>
      </p:sp>
      <p:sp>
        <p:nvSpPr>
          <p:cNvPr id="427" name="Google Shape;427;p22"/>
          <p:cNvSpPr/>
          <p:nvPr/>
        </p:nvSpPr>
        <p:spPr>
          <a:xfrm>
            <a:off x="0" y="4892040"/>
            <a:ext cx="9144000" cy="251460"/>
          </a:xfrm>
          <a:prstGeom prst="rect">
            <a:avLst/>
          </a:prstGeom>
          <a:solidFill>
            <a:srgbClr val="2C2C2C"/>
          </a:solidFill>
          <a:ln cap="flat" cmpd="sng" w="12700">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2"/>
          <p:cNvSpPr/>
          <p:nvPr/>
        </p:nvSpPr>
        <p:spPr>
          <a:xfrm>
            <a:off x="274320" y="4901184"/>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800"/>
              <a:buFont typeface="Calibri"/>
              <a:buNone/>
            </a:pPr>
            <a:r>
              <a:rPr b="0" i="0" lang="en-US" sz="800" u="none" cap="none" strike="noStrike">
                <a:solidFill>
                  <a:srgbClr val="AAAAAA"/>
                </a:solidFill>
                <a:latin typeface="Calibri"/>
                <a:ea typeface="Calibri"/>
                <a:cs typeface="Calibri"/>
                <a:sym typeface="Calibri"/>
              </a:rPr>
              <a:t>WBS Coding School  |  Student Review Analysis  |  Essentis  |  March 2026</a:t>
            </a:r>
            <a:endParaRPr b="0" i="0" sz="800" u="none" cap="none" strike="noStrike">
              <a:solidFill>
                <a:schemeClr val="dk1"/>
              </a:solidFill>
              <a:latin typeface="Calibri"/>
              <a:ea typeface="Calibri"/>
              <a:cs typeface="Calibri"/>
              <a:sym typeface="Calibri"/>
            </a:endParaRPr>
          </a:p>
        </p:txBody>
      </p:sp>
      <p:sp>
        <p:nvSpPr>
          <p:cNvPr id="429" name="Google Shape;429;p22"/>
          <p:cNvSpPr/>
          <p:nvPr/>
        </p:nvSpPr>
        <p:spPr>
          <a:xfrm>
            <a:off x="8686800" y="4901184"/>
            <a:ext cx="3657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AAAAA"/>
              </a:buClr>
              <a:buSzPts val="800"/>
              <a:buFont typeface="Calibri"/>
              <a:buNone/>
            </a:pPr>
            <a:r>
              <a:rPr b="0" i="0" lang="en-US" sz="800" u="none" cap="none" strike="noStrike">
                <a:solidFill>
                  <a:srgbClr val="AAAAAA"/>
                </a:solidFill>
                <a:latin typeface="Calibri"/>
                <a:ea typeface="Calibri"/>
                <a:cs typeface="Calibri"/>
                <a:sym typeface="Calibri"/>
              </a:rPr>
              <a:t>8</a:t>
            </a:r>
            <a:endParaRPr b="0" i="0" sz="800" u="none" cap="none" strike="noStrike">
              <a:solidFill>
                <a:schemeClr val="dk1"/>
              </a:solidFill>
              <a:latin typeface="Calibri"/>
              <a:ea typeface="Calibri"/>
              <a:cs typeface="Calibri"/>
              <a:sym typeface="Calibri"/>
            </a:endParaRPr>
          </a:p>
        </p:txBody>
      </p:sp>
      <p:sp>
        <p:nvSpPr>
          <p:cNvPr id="430" name="Google Shape;430;p22"/>
          <p:cNvSpPr/>
          <p:nvPr/>
        </p:nvSpPr>
        <p:spPr>
          <a:xfrm>
            <a:off x="274320" y="804672"/>
            <a:ext cx="8595360" cy="1207008"/>
          </a:xfrm>
          <a:prstGeom prst="rect">
            <a:avLst/>
          </a:prstGeom>
          <a:solidFill>
            <a:srgbClr val="F0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2"/>
          <p:cNvSpPr/>
          <p:nvPr/>
        </p:nvSpPr>
        <p:spPr>
          <a:xfrm>
            <a:off x="274320" y="804672"/>
            <a:ext cx="640080" cy="1207008"/>
          </a:xfrm>
          <a:prstGeom prst="rect">
            <a:avLst/>
          </a:prstGeom>
          <a:solidFill>
            <a:srgbClr val="C23038"/>
          </a:solidFill>
          <a:ln cap="flat" cmpd="sng" w="12700">
            <a:solidFill>
              <a:srgbClr val="C230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2"/>
          <p:cNvSpPr/>
          <p:nvPr/>
        </p:nvSpPr>
        <p:spPr>
          <a:xfrm>
            <a:off x="274320" y="804672"/>
            <a:ext cx="640080" cy="1207008"/>
          </a:xfrm>
          <a:prstGeom prst="rect">
            <a:avLst/>
          </a:prstGeom>
          <a:solidFill>
            <a:srgbClr val="1565A0"/>
          </a:solidFill>
          <a:ln cap="flat" cmpd="sng" w="9525">
            <a:solidFill>
              <a:srgbClr val="1A1A1A"/>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01</a:t>
            </a:r>
            <a:endParaRPr b="0" i="0" sz="1800" u="none" cap="none" strike="noStrike">
              <a:solidFill>
                <a:schemeClr val="dk1"/>
              </a:solidFill>
              <a:latin typeface="Calibri"/>
              <a:ea typeface="Calibri"/>
              <a:cs typeface="Calibri"/>
              <a:sym typeface="Calibri"/>
            </a:endParaRPr>
          </a:p>
        </p:txBody>
      </p:sp>
      <p:sp>
        <p:nvSpPr>
          <p:cNvPr id="433" name="Google Shape;433;p22"/>
          <p:cNvSpPr/>
          <p:nvPr/>
        </p:nvSpPr>
        <p:spPr>
          <a:xfrm>
            <a:off x="1005910" y="804738"/>
            <a:ext cx="76809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3038"/>
              </a:buClr>
              <a:buSzPts val="1200"/>
              <a:buFont typeface="Calibri"/>
              <a:buNone/>
            </a:pPr>
            <a:r>
              <a:rPr b="1" i="0" lang="en-US" sz="1200" u="none" cap="none" strike="noStrike">
                <a:solidFill>
                  <a:srgbClr val="1565A0"/>
                </a:solidFill>
                <a:latin typeface="Calibri"/>
                <a:ea typeface="Calibri"/>
                <a:cs typeface="Calibri"/>
                <a:sym typeface="Calibri"/>
              </a:rPr>
              <a:t>Career Support — Priority</a:t>
            </a:r>
            <a:endParaRPr b="0" i="0" sz="1200" u="none" cap="none" strike="noStrike">
              <a:solidFill>
                <a:srgbClr val="1565A0"/>
              </a:solidFill>
              <a:latin typeface="Calibri"/>
              <a:ea typeface="Calibri"/>
              <a:cs typeface="Calibri"/>
              <a:sym typeface="Calibri"/>
            </a:endParaRPr>
          </a:p>
        </p:txBody>
      </p:sp>
      <p:sp>
        <p:nvSpPr>
          <p:cNvPr id="434" name="Google Shape;434;p22"/>
          <p:cNvSpPr/>
          <p:nvPr/>
        </p:nvSpPr>
        <p:spPr>
          <a:xfrm>
            <a:off x="1051560" y="1207008"/>
            <a:ext cx="7680960" cy="7132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Job assistance is rated 0.31 points below instructors across 566 reviews. This gap is consistent across all courses and years. Only 2.1% of reviews mention getting hired — either outcomes are not being achieved or they are </a:t>
            </a:r>
            <a:r>
              <a:rPr i="1" lang="en-US" sz="1000">
                <a:solidFill>
                  <a:srgbClr val="2C2C2C"/>
                </a:solidFill>
                <a:latin typeface="Calibri"/>
                <a:ea typeface="Calibri"/>
                <a:cs typeface="Calibri"/>
                <a:sym typeface="Calibri"/>
              </a:rPr>
              <a:t>not being captured</a:t>
            </a:r>
            <a:r>
              <a:rPr lang="en-US" sz="1000">
                <a:solidFill>
                  <a:srgbClr val="2C2C2C"/>
                </a:solidFill>
                <a:latin typeface="Calibri"/>
                <a:ea typeface="Calibri"/>
                <a:cs typeface="Calibri"/>
                <a:sym typeface="Calibri"/>
              </a:rPr>
              <a:t>. Recommend a targeted review of the job assistance offering and </a:t>
            </a:r>
            <a:r>
              <a:rPr i="1" lang="en-US" sz="1000">
                <a:solidFill>
                  <a:srgbClr val="2C2C2C"/>
                </a:solidFill>
                <a:latin typeface="Calibri"/>
                <a:ea typeface="Calibri"/>
                <a:cs typeface="Calibri"/>
                <a:sym typeface="Calibri"/>
              </a:rPr>
              <a:t>clearer outcome tracking</a:t>
            </a:r>
            <a:r>
              <a:rPr lang="en-US" sz="1000">
                <a:solidFill>
                  <a:srgbClr val="2C2C2C"/>
                </a:solidFill>
                <a:latin typeface="Calibri"/>
                <a:ea typeface="Calibri"/>
                <a:cs typeface="Calibri"/>
                <a:sym typeface="Calibri"/>
              </a:rPr>
              <a:t>.</a:t>
            </a:r>
            <a:endParaRPr sz="1000">
              <a:solidFill>
                <a:srgbClr val="2C2C2C"/>
              </a:solidFill>
              <a:latin typeface="Calibri"/>
              <a:ea typeface="Calibri"/>
              <a:cs typeface="Calibri"/>
              <a:sym typeface="Calibri"/>
            </a:endParaRPr>
          </a:p>
          <a:p>
            <a:pPr indent="0" lvl="0" marL="0" rtl="0" algn="l">
              <a:spcBef>
                <a:spcPts val="0"/>
              </a:spcBef>
              <a:spcAft>
                <a:spcPts val="0"/>
              </a:spcAft>
              <a:buClr>
                <a:srgbClr val="2C2C2C"/>
              </a:buClr>
              <a:buSzPts val="1000"/>
              <a:buFont typeface="Calibri"/>
              <a:buNone/>
            </a:pPr>
            <a:r>
              <a:rPr b="1" lang="en-US" sz="1000" u="sng">
                <a:solidFill>
                  <a:srgbClr val="2C2C2C"/>
                </a:solidFill>
                <a:latin typeface="Calibri"/>
                <a:ea typeface="Calibri"/>
                <a:cs typeface="Calibri"/>
                <a:sym typeface="Calibri"/>
              </a:rPr>
              <a:t>Action Example:</a:t>
            </a:r>
            <a:r>
              <a:rPr lang="en-US" sz="1000">
                <a:solidFill>
                  <a:srgbClr val="2C2C2C"/>
                </a:solidFill>
                <a:latin typeface="Calibri"/>
                <a:ea typeface="Calibri"/>
                <a:cs typeface="Calibri"/>
                <a:sym typeface="Calibri"/>
              </a:rPr>
              <a:t>  6 month/ 1 year follow-up survey for graduates will add to the data- sentiments are currently all through Google reviews.</a:t>
            </a:r>
            <a:endParaRPr sz="1000">
              <a:solidFill>
                <a:srgbClr val="2C2C2C"/>
              </a:solidFill>
              <a:latin typeface="Calibri"/>
              <a:ea typeface="Calibri"/>
              <a:cs typeface="Calibri"/>
              <a:sym typeface="Calibri"/>
            </a:endParaRPr>
          </a:p>
          <a:p>
            <a:pPr indent="0" lvl="0" marL="0" rtl="0" algn="l">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 Increased career workshop frequency during courses will foster career support as a top priority.</a:t>
            </a:r>
            <a:endParaRPr sz="1000">
              <a:solidFill>
                <a:srgbClr val="2C2C2C"/>
              </a:solidFill>
              <a:latin typeface="Calibri"/>
              <a:ea typeface="Calibri"/>
              <a:cs typeface="Calibri"/>
              <a:sym typeface="Calibri"/>
            </a:endParaRPr>
          </a:p>
        </p:txBody>
      </p:sp>
      <p:sp>
        <p:nvSpPr>
          <p:cNvPr id="435" name="Google Shape;435;p22"/>
          <p:cNvSpPr/>
          <p:nvPr/>
        </p:nvSpPr>
        <p:spPr>
          <a:xfrm>
            <a:off x="274320" y="2157984"/>
            <a:ext cx="8595360" cy="1207008"/>
          </a:xfrm>
          <a:prstGeom prst="rect">
            <a:avLst/>
          </a:prstGeom>
          <a:solidFill>
            <a:srgbClr val="F0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2"/>
          <p:cNvSpPr/>
          <p:nvPr/>
        </p:nvSpPr>
        <p:spPr>
          <a:xfrm>
            <a:off x="274320" y="2157984"/>
            <a:ext cx="640080" cy="1207008"/>
          </a:xfrm>
          <a:prstGeom prst="rect">
            <a:avLst/>
          </a:prstGeom>
          <a:solidFill>
            <a:srgbClr val="E8A030"/>
          </a:solidFill>
          <a:ln cap="flat" cmpd="sng" w="12700">
            <a:solidFill>
              <a:srgbClr val="E8A0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2"/>
          <p:cNvSpPr/>
          <p:nvPr/>
        </p:nvSpPr>
        <p:spPr>
          <a:xfrm>
            <a:off x="274320" y="2157984"/>
            <a:ext cx="640080" cy="1207008"/>
          </a:xfrm>
          <a:prstGeom prst="rect">
            <a:avLst/>
          </a:prstGeom>
          <a:solidFill>
            <a:srgbClr val="1565A0"/>
          </a:solidFill>
          <a:ln cap="flat" cmpd="sng" w="9525">
            <a:solidFill>
              <a:srgbClr val="1A1A1A"/>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02</a:t>
            </a:r>
            <a:endParaRPr b="0" i="0" sz="1800" u="none" cap="none" strike="noStrike">
              <a:solidFill>
                <a:schemeClr val="dk1"/>
              </a:solidFill>
              <a:latin typeface="Calibri"/>
              <a:ea typeface="Calibri"/>
              <a:cs typeface="Calibri"/>
              <a:sym typeface="Calibri"/>
            </a:endParaRPr>
          </a:p>
        </p:txBody>
      </p:sp>
      <p:sp>
        <p:nvSpPr>
          <p:cNvPr id="438" name="Google Shape;438;p22"/>
          <p:cNvSpPr/>
          <p:nvPr/>
        </p:nvSpPr>
        <p:spPr>
          <a:xfrm>
            <a:off x="1005897" y="2158062"/>
            <a:ext cx="76809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30"/>
              </a:buClr>
              <a:buSzPts val="1200"/>
              <a:buFont typeface="Calibri"/>
              <a:buNone/>
            </a:pPr>
            <a:r>
              <a:rPr b="1" i="0" lang="en-US" sz="1200" u="none" cap="none" strike="noStrike">
                <a:solidFill>
                  <a:srgbClr val="1565A0"/>
                </a:solidFill>
                <a:latin typeface="Calibri"/>
                <a:ea typeface="Calibri"/>
                <a:cs typeface="Calibri"/>
                <a:sym typeface="Calibri"/>
              </a:rPr>
              <a:t>Student Experience During the Course</a:t>
            </a:r>
            <a:endParaRPr b="0" i="0" sz="1200" u="none" cap="none" strike="noStrike">
              <a:solidFill>
                <a:srgbClr val="1565A0"/>
              </a:solidFill>
              <a:latin typeface="Calibri"/>
              <a:ea typeface="Calibri"/>
              <a:cs typeface="Calibri"/>
              <a:sym typeface="Calibri"/>
            </a:endParaRPr>
          </a:p>
        </p:txBody>
      </p:sp>
      <p:sp>
        <p:nvSpPr>
          <p:cNvPr id="439" name="Google Shape;439;p22"/>
          <p:cNvSpPr/>
          <p:nvPr/>
        </p:nvSpPr>
        <p:spPr>
          <a:xfrm>
            <a:off x="1051560" y="2560320"/>
            <a:ext cx="7680960" cy="7132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Students rate 0.24 points lower than graduates on the same courses. The intensity is felt more acutely during the program than in retrospect. Clearer expectation-setting at enrollment about the difficulty curve could reduce in-program frustration without changing the outcome.</a:t>
            </a:r>
            <a:endParaRPr sz="1000">
              <a:solidFill>
                <a:srgbClr val="2C2C2C"/>
              </a:solidFill>
              <a:latin typeface="Calibri"/>
              <a:ea typeface="Calibri"/>
              <a:cs typeface="Calibri"/>
              <a:sym typeface="Calibri"/>
            </a:endParaRPr>
          </a:p>
          <a:p>
            <a:pPr indent="0" lvl="0" marL="0" rtl="0" algn="l">
              <a:spcBef>
                <a:spcPts val="0"/>
              </a:spcBef>
              <a:spcAft>
                <a:spcPts val="0"/>
              </a:spcAft>
              <a:buClr>
                <a:srgbClr val="2C2C2C"/>
              </a:buClr>
              <a:buSzPts val="1000"/>
              <a:buFont typeface="Calibri"/>
              <a:buNone/>
            </a:pPr>
            <a:r>
              <a:t/>
            </a:r>
            <a:endParaRPr sz="1000">
              <a:solidFill>
                <a:srgbClr val="2C2C2C"/>
              </a:solidFill>
              <a:latin typeface="Calibri"/>
              <a:ea typeface="Calibri"/>
              <a:cs typeface="Calibri"/>
              <a:sym typeface="Calibri"/>
            </a:endParaRPr>
          </a:p>
          <a:p>
            <a:pPr indent="0" lvl="0" marL="0" marR="0" rtl="0" algn="l">
              <a:spcBef>
                <a:spcPts val="0"/>
              </a:spcBef>
              <a:spcAft>
                <a:spcPts val="0"/>
              </a:spcAft>
              <a:buClr>
                <a:srgbClr val="2C2C2C"/>
              </a:buClr>
              <a:buSzPts val="1000"/>
              <a:buFont typeface="Calibri"/>
              <a:buNone/>
            </a:pPr>
            <a:r>
              <a:rPr b="1" lang="en-US" sz="1100" u="sng">
                <a:solidFill>
                  <a:srgbClr val="2C2C2C"/>
                </a:solidFill>
                <a:latin typeface="Calibri"/>
                <a:ea typeface="Calibri"/>
                <a:cs typeface="Calibri"/>
                <a:sym typeface="Calibri"/>
              </a:rPr>
              <a:t>Action Example:</a:t>
            </a:r>
            <a:r>
              <a:rPr lang="en-US" sz="1100">
                <a:solidFill>
                  <a:srgbClr val="2C2C2C"/>
                </a:solidFill>
                <a:latin typeface="Calibri"/>
                <a:ea typeface="Calibri"/>
                <a:cs typeface="Calibri"/>
                <a:sym typeface="Calibri"/>
              </a:rPr>
              <a:t>  Regular satisfaction surveys throughout the program with help gain further insights on what motivates lower ratings. This can also help balance sentiment data by leveling  out the spike in reviews directly after graduations. </a:t>
            </a:r>
            <a:endParaRPr b="0" i="0" sz="1100" u="none" cap="none" strike="noStrike">
              <a:solidFill>
                <a:schemeClr val="dk1"/>
              </a:solidFill>
              <a:latin typeface="Calibri"/>
              <a:ea typeface="Calibri"/>
              <a:cs typeface="Calibri"/>
              <a:sym typeface="Calibri"/>
            </a:endParaRPr>
          </a:p>
        </p:txBody>
      </p:sp>
      <p:sp>
        <p:nvSpPr>
          <p:cNvPr id="440" name="Google Shape;440;p22"/>
          <p:cNvSpPr/>
          <p:nvPr/>
        </p:nvSpPr>
        <p:spPr>
          <a:xfrm>
            <a:off x="274320" y="3511296"/>
            <a:ext cx="8595360" cy="1207008"/>
          </a:xfrm>
          <a:prstGeom prst="rect">
            <a:avLst/>
          </a:prstGeom>
          <a:solidFill>
            <a:srgbClr val="F0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2"/>
          <p:cNvSpPr/>
          <p:nvPr/>
        </p:nvSpPr>
        <p:spPr>
          <a:xfrm>
            <a:off x="274320" y="3511296"/>
            <a:ext cx="640080" cy="1207008"/>
          </a:xfrm>
          <a:prstGeom prst="rect">
            <a:avLst/>
          </a:prstGeom>
          <a:solidFill>
            <a:srgbClr val="1565A0"/>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2"/>
          <p:cNvSpPr/>
          <p:nvPr/>
        </p:nvSpPr>
        <p:spPr>
          <a:xfrm>
            <a:off x="274320" y="3511296"/>
            <a:ext cx="640080" cy="1207008"/>
          </a:xfrm>
          <a:prstGeom prst="rect">
            <a:avLst/>
          </a:prstGeom>
          <a:solidFill>
            <a:srgbClr val="1565A0"/>
          </a:solidFill>
          <a:ln cap="flat" cmpd="sng" w="9525">
            <a:solidFill>
              <a:srgbClr val="1A1A1A"/>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03</a:t>
            </a:r>
            <a:endParaRPr b="0" i="0" sz="1800" u="none" cap="none" strike="noStrike">
              <a:solidFill>
                <a:schemeClr val="dk1"/>
              </a:solidFill>
              <a:latin typeface="Calibri"/>
              <a:ea typeface="Calibri"/>
              <a:cs typeface="Calibri"/>
              <a:sym typeface="Calibri"/>
            </a:endParaRPr>
          </a:p>
        </p:txBody>
      </p:sp>
      <p:sp>
        <p:nvSpPr>
          <p:cNvPr id="443" name="Google Shape;443;p22"/>
          <p:cNvSpPr/>
          <p:nvPr/>
        </p:nvSpPr>
        <p:spPr>
          <a:xfrm>
            <a:off x="1005897" y="3511362"/>
            <a:ext cx="76809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A0"/>
              </a:buClr>
              <a:buSzPts val="1200"/>
              <a:buFont typeface="Calibri"/>
              <a:buNone/>
            </a:pPr>
            <a:r>
              <a:rPr b="1" i="0" lang="en-US" sz="1200" u="none" cap="none" strike="noStrike">
                <a:solidFill>
                  <a:srgbClr val="1565A0"/>
                </a:solidFill>
                <a:latin typeface="Calibri"/>
                <a:ea typeface="Calibri"/>
                <a:cs typeface="Calibri"/>
                <a:sym typeface="Calibri"/>
              </a:rPr>
              <a:t>2024 Sentiment Monitoring</a:t>
            </a:r>
            <a:endParaRPr b="0" i="0" sz="1200" u="none" cap="none" strike="noStrike">
              <a:solidFill>
                <a:srgbClr val="1565A0"/>
              </a:solidFill>
              <a:latin typeface="Calibri"/>
              <a:ea typeface="Calibri"/>
              <a:cs typeface="Calibri"/>
              <a:sym typeface="Calibri"/>
            </a:endParaRPr>
          </a:p>
        </p:txBody>
      </p:sp>
      <p:sp>
        <p:nvSpPr>
          <p:cNvPr id="444" name="Google Shape;444;p22"/>
          <p:cNvSpPr/>
          <p:nvPr/>
        </p:nvSpPr>
        <p:spPr>
          <a:xfrm>
            <a:off x="1051560" y="3913632"/>
            <a:ext cx="7680960" cy="7132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C2C2C"/>
              </a:buClr>
              <a:buSzPts val="1000"/>
              <a:buFont typeface="Calibri"/>
              <a:buNone/>
            </a:pPr>
            <a:r>
              <a:rPr lang="en-US" sz="1000">
                <a:solidFill>
                  <a:srgbClr val="2C2C2C"/>
                </a:solidFill>
                <a:latin typeface="Calibri"/>
                <a:ea typeface="Calibri"/>
                <a:cs typeface="Calibri"/>
                <a:sym typeface="Calibri"/>
              </a:rPr>
              <a:t>2024 shows the lowest sentiment score at 0.806 across 266 reviews — the largest and most recent single-year sample. Read the 2024 negative and neutral reviews manually, grouped by course, to identify whether the dip is course-specific or systemic before drawing conclusions. This is our largest outlier.</a:t>
            </a:r>
            <a:endParaRPr sz="1000">
              <a:solidFill>
                <a:srgbClr val="2C2C2C"/>
              </a:solidFill>
              <a:latin typeface="Calibri"/>
              <a:ea typeface="Calibri"/>
              <a:cs typeface="Calibri"/>
              <a:sym typeface="Calibri"/>
            </a:endParaRPr>
          </a:p>
          <a:p>
            <a:pPr indent="0" lvl="0" marL="0" rtl="0" algn="l">
              <a:spcBef>
                <a:spcPts val="0"/>
              </a:spcBef>
              <a:spcAft>
                <a:spcPts val="0"/>
              </a:spcAft>
              <a:buClr>
                <a:srgbClr val="2C2C2C"/>
              </a:buClr>
              <a:buSzPts val="1000"/>
              <a:buFont typeface="Calibri"/>
              <a:buNone/>
            </a:pPr>
            <a:r>
              <a:rPr b="1" lang="en-US" sz="1000" u="sng">
                <a:solidFill>
                  <a:srgbClr val="2C2C2C"/>
                </a:solidFill>
                <a:latin typeface="Calibri"/>
                <a:ea typeface="Calibri"/>
                <a:cs typeface="Calibri"/>
                <a:sym typeface="Calibri"/>
              </a:rPr>
              <a:t>Action Example:</a:t>
            </a:r>
            <a:r>
              <a:rPr lang="en-US" sz="1000">
                <a:solidFill>
                  <a:srgbClr val="2C2C2C"/>
                </a:solidFill>
                <a:latin typeface="Calibri"/>
                <a:ea typeface="Calibri"/>
                <a:cs typeface="Calibri"/>
                <a:sym typeface="Calibri"/>
              </a:rPr>
              <a:t>  Make this the starting point for the next intern team’s analysis. </a:t>
            </a:r>
            <a:r>
              <a:rPr lang="en-US" sz="1000">
                <a:solidFill>
                  <a:srgbClr val="2C2C2C"/>
                </a:solidFill>
                <a:latin typeface="Calibri"/>
                <a:ea typeface="Calibri"/>
                <a:cs typeface="Calibri"/>
                <a:sym typeface="Calibri"/>
              </a:rPr>
              <a:t>Comparisons with more recent review years are needed to establish a trend. </a:t>
            </a:r>
            <a:endParaRPr sz="1000">
              <a:solidFill>
                <a:srgbClr val="2C2C2C"/>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23"/>
          <p:cNvSpPr/>
          <p:nvPr/>
        </p:nvSpPr>
        <p:spPr>
          <a:xfrm>
            <a:off x="0" y="0"/>
            <a:ext cx="9144000" cy="658368"/>
          </a:xfrm>
          <a:prstGeom prst="rect">
            <a:avLst/>
          </a:prstGeom>
          <a:solidFill>
            <a:srgbClr val="2C2C2C"/>
          </a:solidFill>
          <a:ln cap="flat" cmpd="sng" w="12700">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3"/>
          <p:cNvSpPr/>
          <p:nvPr/>
        </p:nvSpPr>
        <p:spPr>
          <a:xfrm>
            <a:off x="0" y="0"/>
            <a:ext cx="164592" cy="658368"/>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3"/>
          <p:cNvSpPr/>
          <p:nvPr/>
        </p:nvSpPr>
        <p:spPr>
          <a:xfrm>
            <a:off x="292608" y="64008"/>
            <a:ext cx="7772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Data and Methodology Notes</a:t>
            </a:r>
            <a:endParaRPr b="0" i="0" sz="2000" u="none" cap="none" strike="noStrike">
              <a:solidFill>
                <a:schemeClr val="dk1"/>
              </a:solidFill>
              <a:latin typeface="Calibri"/>
              <a:ea typeface="Calibri"/>
              <a:cs typeface="Calibri"/>
              <a:sym typeface="Calibri"/>
            </a:endParaRPr>
          </a:p>
        </p:txBody>
      </p:sp>
      <p:sp>
        <p:nvSpPr>
          <p:cNvPr id="453" name="Google Shape;453;p23"/>
          <p:cNvSpPr/>
          <p:nvPr/>
        </p:nvSpPr>
        <p:spPr>
          <a:xfrm>
            <a:off x="0" y="4892040"/>
            <a:ext cx="9144000" cy="251460"/>
          </a:xfrm>
          <a:prstGeom prst="rect">
            <a:avLst/>
          </a:prstGeom>
          <a:solidFill>
            <a:srgbClr val="2C2C2C"/>
          </a:solidFill>
          <a:ln cap="flat" cmpd="sng" w="12700">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3"/>
          <p:cNvSpPr/>
          <p:nvPr/>
        </p:nvSpPr>
        <p:spPr>
          <a:xfrm>
            <a:off x="274320" y="4901184"/>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800"/>
              <a:buFont typeface="Calibri"/>
              <a:buNone/>
            </a:pPr>
            <a:r>
              <a:rPr b="0" i="0" lang="en-US" sz="800" u="none" cap="none" strike="noStrike">
                <a:solidFill>
                  <a:srgbClr val="AAAAAA"/>
                </a:solidFill>
                <a:latin typeface="Calibri"/>
                <a:ea typeface="Calibri"/>
                <a:cs typeface="Calibri"/>
                <a:sym typeface="Calibri"/>
              </a:rPr>
              <a:t>WBS Coding School  |  Student Review Analysis  |  Essentis  |  March 2026</a:t>
            </a:r>
            <a:endParaRPr b="0" i="0" sz="800" u="none" cap="none" strike="noStrike">
              <a:solidFill>
                <a:schemeClr val="dk1"/>
              </a:solidFill>
              <a:latin typeface="Calibri"/>
              <a:ea typeface="Calibri"/>
              <a:cs typeface="Calibri"/>
              <a:sym typeface="Calibri"/>
            </a:endParaRPr>
          </a:p>
        </p:txBody>
      </p:sp>
      <p:sp>
        <p:nvSpPr>
          <p:cNvPr id="455" name="Google Shape;455;p23"/>
          <p:cNvSpPr/>
          <p:nvPr/>
        </p:nvSpPr>
        <p:spPr>
          <a:xfrm>
            <a:off x="8686800" y="4901184"/>
            <a:ext cx="3657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AAAAA"/>
              </a:buClr>
              <a:buSzPts val="800"/>
              <a:buFont typeface="Calibri"/>
              <a:buNone/>
            </a:pPr>
            <a:r>
              <a:rPr b="0" i="0" lang="en-US" sz="800" u="none" cap="none" strike="noStrike">
                <a:solidFill>
                  <a:srgbClr val="AAAAAA"/>
                </a:solidFill>
                <a:latin typeface="Calibri"/>
                <a:ea typeface="Calibri"/>
                <a:cs typeface="Calibri"/>
                <a:sym typeface="Calibri"/>
              </a:rPr>
              <a:t>9</a:t>
            </a:r>
            <a:endParaRPr b="0" i="0" sz="800" u="none" cap="none" strike="noStrike">
              <a:solidFill>
                <a:schemeClr val="dk1"/>
              </a:solidFill>
              <a:latin typeface="Calibri"/>
              <a:ea typeface="Calibri"/>
              <a:cs typeface="Calibri"/>
              <a:sym typeface="Calibri"/>
            </a:endParaRPr>
          </a:p>
        </p:txBody>
      </p:sp>
      <p:sp>
        <p:nvSpPr>
          <p:cNvPr id="456" name="Google Shape;456;p23"/>
          <p:cNvSpPr/>
          <p:nvPr/>
        </p:nvSpPr>
        <p:spPr>
          <a:xfrm>
            <a:off x="274320" y="841248"/>
            <a:ext cx="4160520" cy="1170432"/>
          </a:xfrm>
          <a:prstGeom prst="rect">
            <a:avLst/>
          </a:prstGeom>
          <a:solidFill>
            <a:srgbClr val="F0F7FF"/>
          </a:solidFill>
          <a:ln cap="flat" cmpd="sng" w="9525">
            <a:solidFill>
              <a:srgbClr val="F0F7FF"/>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3"/>
          <p:cNvSpPr/>
          <p:nvPr/>
        </p:nvSpPr>
        <p:spPr>
          <a:xfrm>
            <a:off x="274320" y="841248"/>
            <a:ext cx="54864" cy="1170432"/>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3"/>
          <p:cNvSpPr/>
          <p:nvPr/>
        </p:nvSpPr>
        <p:spPr>
          <a:xfrm>
            <a:off x="438912" y="932688"/>
            <a:ext cx="385876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50"/>
              <a:buFont typeface="Calibri"/>
              <a:buNone/>
            </a:pPr>
            <a:r>
              <a:rPr b="1" i="0" lang="en-US" sz="1350" u="none" cap="none" strike="noStrike">
                <a:solidFill>
                  <a:srgbClr val="2C2C2C"/>
                </a:solidFill>
                <a:latin typeface="Calibri"/>
                <a:ea typeface="Calibri"/>
                <a:cs typeface="Calibri"/>
                <a:sym typeface="Calibri"/>
              </a:rPr>
              <a:t>Review Bias</a:t>
            </a:r>
            <a:endParaRPr b="0" i="0" sz="1350" u="none" cap="none" strike="noStrike">
              <a:solidFill>
                <a:schemeClr val="dk1"/>
              </a:solidFill>
              <a:latin typeface="Calibri"/>
              <a:ea typeface="Calibri"/>
              <a:cs typeface="Calibri"/>
              <a:sym typeface="Calibri"/>
            </a:endParaRPr>
          </a:p>
        </p:txBody>
      </p:sp>
      <p:sp>
        <p:nvSpPr>
          <p:cNvPr id="459" name="Google Shape;459;p23"/>
          <p:cNvSpPr/>
          <p:nvPr/>
        </p:nvSpPr>
        <p:spPr>
          <a:xfrm>
            <a:off x="438912" y="1207008"/>
            <a:ext cx="3858768"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88888"/>
              </a:buClr>
              <a:buSzPts val="950"/>
              <a:buFont typeface="Calibri"/>
              <a:buNone/>
            </a:pPr>
            <a:r>
              <a:rPr b="0" i="0" lang="en-US" sz="1150" u="none" cap="none" strike="noStrike">
                <a:solidFill>
                  <a:srgbClr val="888888"/>
                </a:solidFill>
                <a:latin typeface="Calibri"/>
                <a:ea typeface="Calibri"/>
                <a:cs typeface="Calibri"/>
                <a:sym typeface="Calibri"/>
              </a:rPr>
              <a:t>Students who complete a bootcamp and leave a review skew positive. The dataset does not capture dropouts, refund requests, or students who had negative experiences but did not review.</a:t>
            </a:r>
            <a:endParaRPr b="0" i="0" sz="1150" u="none" cap="none" strike="noStrike">
              <a:solidFill>
                <a:schemeClr val="dk1"/>
              </a:solidFill>
              <a:latin typeface="Calibri"/>
              <a:ea typeface="Calibri"/>
              <a:cs typeface="Calibri"/>
              <a:sym typeface="Calibri"/>
            </a:endParaRPr>
          </a:p>
        </p:txBody>
      </p:sp>
      <p:sp>
        <p:nvSpPr>
          <p:cNvPr id="460" name="Google Shape;460;p23"/>
          <p:cNvSpPr/>
          <p:nvPr/>
        </p:nvSpPr>
        <p:spPr>
          <a:xfrm>
            <a:off x="4709160" y="841248"/>
            <a:ext cx="4160520" cy="1170432"/>
          </a:xfrm>
          <a:prstGeom prst="rect">
            <a:avLst/>
          </a:prstGeom>
          <a:solidFill>
            <a:srgbClr val="F0F7FF"/>
          </a:solidFill>
          <a:ln cap="flat" cmpd="sng" w="9525">
            <a:solidFill>
              <a:srgbClr val="F0F7FF"/>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3"/>
          <p:cNvSpPr/>
          <p:nvPr/>
        </p:nvSpPr>
        <p:spPr>
          <a:xfrm>
            <a:off x="4709160" y="841248"/>
            <a:ext cx="54864" cy="1170432"/>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3"/>
          <p:cNvSpPr/>
          <p:nvPr/>
        </p:nvSpPr>
        <p:spPr>
          <a:xfrm>
            <a:off x="4873752" y="932688"/>
            <a:ext cx="385876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50"/>
              <a:buFont typeface="Calibri"/>
              <a:buNone/>
            </a:pPr>
            <a:r>
              <a:rPr b="1" i="0" lang="en-US" sz="1350" u="none" cap="none" strike="noStrike">
                <a:solidFill>
                  <a:srgbClr val="2C2C2C"/>
                </a:solidFill>
                <a:latin typeface="Calibri"/>
                <a:ea typeface="Calibri"/>
                <a:cs typeface="Calibri"/>
                <a:sym typeface="Calibri"/>
              </a:rPr>
              <a:t>VADER Limitations</a:t>
            </a:r>
            <a:endParaRPr b="0" i="0" sz="1350" u="none" cap="none" strike="noStrike">
              <a:solidFill>
                <a:schemeClr val="dk1"/>
              </a:solidFill>
              <a:latin typeface="Calibri"/>
              <a:ea typeface="Calibri"/>
              <a:cs typeface="Calibri"/>
              <a:sym typeface="Calibri"/>
            </a:endParaRPr>
          </a:p>
        </p:txBody>
      </p:sp>
      <p:sp>
        <p:nvSpPr>
          <p:cNvPr id="463" name="Google Shape;463;p23"/>
          <p:cNvSpPr/>
          <p:nvPr/>
        </p:nvSpPr>
        <p:spPr>
          <a:xfrm>
            <a:off x="4873752" y="1207008"/>
            <a:ext cx="3858768"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88888"/>
              </a:buClr>
              <a:buSzPts val="950"/>
              <a:buFont typeface="Calibri"/>
              <a:buNone/>
            </a:pPr>
            <a:r>
              <a:rPr b="0" i="0" lang="en-US" sz="1150" u="none" cap="none" strike="noStrike">
                <a:solidFill>
                  <a:srgbClr val="888888"/>
                </a:solidFill>
                <a:latin typeface="Calibri"/>
                <a:ea typeface="Calibri"/>
                <a:cs typeface="Calibri"/>
                <a:sym typeface="Calibri"/>
              </a:rPr>
              <a:t>Sentiment scoring performs well overall but misinterprets nuanced language in ~1-2% of reviews. Reviews with extreme sentiment vs rating mismatches should be read manually.</a:t>
            </a:r>
            <a:endParaRPr b="0" i="0" sz="1150" u="none" cap="none" strike="noStrike">
              <a:solidFill>
                <a:schemeClr val="dk1"/>
              </a:solidFill>
              <a:latin typeface="Calibri"/>
              <a:ea typeface="Calibri"/>
              <a:cs typeface="Calibri"/>
              <a:sym typeface="Calibri"/>
            </a:endParaRPr>
          </a:p>
        </p:txBody>
      </p:sp>
      <p:sp>
        <p:nvSpPr>
          <p:cNvPr id="464" name="Google Shape;464;p23"/>
          <p:cNvSpPr/>
          <p:nvPr/>
        </p:nvSpPr>
        <p:spPr>
          <a:xfrm>
            <a:off x="274320" y="2139696"/>
            <a:ext cx="4160520" cy="1170432"/>
          </a:xfrm>
          <a:prstGeom prst="rect">
            <a:avLst/>
          </a:prstGeom>
          <a:solidFill>
            <a:srgbClr val="F0F7FF"/>
          </a:solidFill>
          <a:ln cap="flat" cmpd="sng" w="9525">
            <a:solidFill>
              <a:srgbClr val="F0F7FF"/>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3"/>
          <p:cNvSpPr/>
          <p:nvPr/>
        </p:nvSpPr>
        <p:spPr>
          <a:xfrm>
            <a:off x="274320" y="2139696"/>
            <a:ext cx="54864" cy="1170432"/>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3"/>
          <p:cNvSpPr/>
          <p:nvPr/>
        </p:nvSpPr>
        <p:spPr>
          <a:xfrm>
            <a:off x="438912" y="2231136"/>
            <a:ext cx="385876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50"/>
              <a:buFont typeface="Calibri"/>
              <a:buNone/>
            </a:pPr>
            <a:r>
              <a:rPr b="1" i="0" lang="en-US" sz="1350" u="none" cap="none" strike="noStrike">
                <a:solidFill>
                  <a:srgbClr val="2C2C2C"/>
                </a:solidFill>
                <a:latin typeface="Calibri"/>
                <a:ea typeface="Calibri"/>
                <a:cs typeface="Calibri"/>
                <a:sym typeface="Calibri"/>
              </a:rPr>
              <a:t>Platform Differences</a:t>
            </a:r>
            <a:endParaRPr b="0" i="0" sz="1350" u="none" cap="none" strike="noStrike">
              <a:solidFill>
                <a:schemeClr val="dk1"/>
              </a:solidFill>
              <a:latin typeface="Calibri"/>
              <a:ea typeface="Calibri"/>
              <a:cs typeface="Calibri"/>
              <a:sym typeface="Calibri"/>
            </a:endParaRPr>
          </a:p>
        </p:txBody>
      </p:sp>
      <p:sp>
        <p:nvSpPr>
          <p:cNvPr id="467" name="Google Shape;467;p23"/>
          <p:cNvSpPr/>
          <p:nvPr/>
        </p:nvSpPr>
        <p:spPr>
          <a:xfrm>
            <a:off x="438912" y="2505456"/>
            <a:ext cx="3858768"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88888"/>
              </a:buClr>
              <a:buSzPts val="950"/>
              <a:buFont typeface="Calibri"/>
              <a:buNone/>
            </a:pPr>
            <a:r>
              <a:rPr b="0" i="0" lang="en-US" sz="1150" u="none" cap="none" strike="noStrike">
                <a:solidFill>
                  <a:srgbClr val="888888"/>
                </a:solidFill>
                <a:latin typeface="Calibri"/>
                <a:ea typeface="Calibri"/>
                <a:cs typeface="Calibri"/>
                <a:sym typeface="Calibri"/>
              </a:rPr>
              <a:t>The 235 Google reviews show significantly lower sentiment (0.668) vs specialist platforms (0.94). This reflects audience differences, not a quality problem.</a:t>
            </a:r>
            <a:endParaRPr b="0" i="0" sz="1150" u="none" cap="none" strike="noStrike">
              <a:solidFill>
                <a:schemeClr val="dk1"/>
              </a:solidFill>
              <a:latin typeface="Calibri"/>
              <a:ea typeface="Calibri"/>
              <a:cs typeface="Calibri"/>
              <a:sym typeface="Calibri"/>
            </a:endParaRPr>
          </a:p>
        </p:txBody>
      </p:sp>
      <p:sp>
        <p:nvSpPr>
          <p:cNvPr id="468" name="Google Shape;468;p23"/>
          <p:cNvSpPr/>
          <p:nvPr/>
        </p:nvSpPr>
        <p:spPr>
          <a:xfrm>
            <a:off x="4709160" y="2139696"/>
            <a:ext cx="4160520" cy="1170432"/>
          </a:xfrm>
          <a:prstGeom prst="rect">
            <a:avLst/>
          </a:prstGeom>
          <a:solidFill>
            <a:srgbClr val="F0F7FF"/>
          </a:solidFill>
          <a:ln cap="flat" cmpd="sng" w="9525">
            <a:solidFill>
              <a:srgbClr val="F0F7FF"/>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3"/>
          <p:cNvSpPr/>
          <p:nvPr/>
        </p:nvSpPr>
        <p:spPr>
          <a:xfrm>
            <a:off x="4709160" y="2139696"/>
            <a:ext cx="54864" cy="1170432"/>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3"/>
          <p:cNvSpPr/>
          <p:nvPr/>
        </p:nvSpPr>
        <p:spPr>
          <a:xfrm>
            <a:off x="4873752" y="2231136"/>
            <a:ext cx="385876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50"/>
              <a:buFont typeface="Calibri"/>
              <a:buNone/>
            </a:pPr>
            <a:r>
              <a:rPr b="1" i="0" lang="en-US" sz="1350" u="none" cap="none" strike="noStrike">
                <a:solidFill>
                  <a:srgbClr val="2C2C2C"/>
                </a:solidFill>
                <a:latin typeface="Calibri"/>
                <a:ea typeface="Calibri"/>
                <a:cs typeface="Calibri"/>
                <a:sym typeface="Calibri"/>
              </a:rPr>
              <a:t>Course Data Gaps</a:t>
            </a:r>
            <a:endParaRPr b="0" i="0" sz="1350" u="none" cap="none" strike="noStrike">
              <a:solidFill>
                <a:schemeClr val="dk1"/>
              </a:solidFill>
              <a:latin typeface="Calibri"/>
              <a:ea typeface="Calibri"/>
              <a:cs typeface="Calibri"/>
              <a:sym typeface="Calibri"/>
            </a:endParaRPr>
          </a:p>
        </p:txBody>
      </p:sp>
      <p:sp>
        <p:nvSpPr>
          <p:cNvPr id="471" name="Google Shape;471;p23"/>
          <p:cNvSpPr/>
          <p:nvPr/>
        </p:nvSpPr>
        <p:spPr>
          <a:xfrm>
            <a:off x="4873752" y="2505456"/>
            <a:ext cx="3858768"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88888"/>
              </a:buClr>
              <a:buSzPts val="950"/>
              <a:buFont typeface="Calibri"/>
              <a:buNone/>
            </a:pPr>
            <a:r>
              <a:rPr b="0" i="0" lang="en-US" sz="1150" u="none" cap="none" strike="noStrike">
                <a:solidFill>
                  <a:srgbClr val="888888"/>
                </a:solidFill>
                <a:latin typeface="Calibri"/>
                <a:ea typeface="Calibri"/>
                <a:cs typeface="Calibri"/>
                <a:sym typeface="Calibri"/>
              </a:rPr>
              <a:t>280 of 818 reviews (34.2%) have no course label. These are predominantly Google reviews. Course analysis is based on the 538 reviews with course data.</a:t>
            </a:r>
            <a:endParaRPr b="0" i="0" sz="1150" u="none" cap="none" strike="noStrike">
              <a:solidFill>
                <a:schemeClr val="dk1"/>
              </a:solidFill>
              <a:latin typeface="Calibri"/>
              <a:ea typeface="Calibri"/>
              <a:cs typeface="Calibri"/>
              <a:sym typeface="Calibri"/>
            </a:endParaRPr>
          </a:p>
        </p:txBody>
      </p:sp>
      <p:sp>
        <p:nvSpPr>
          <p:cNvPr id="472" name="Google Shape;472;p23"/>
          <p:cNvSpPr/>
          <p:nvPr/>
        </p:nvSpPr>
        <p:spPr>
          <a:xfrm>
            <a:off x="274320" y="3438144"/>
            <a:ext cx="4160520" cy="1170432"/>
          </a:xfrm>
          <a:prstGeom prst="rect">
            <a:avLst/>
          </a:prstGeom>
          <a:solidFill>
            <a:srgbClr val="F0F7FF"/>
          </a:solidFill>
          <a:ln cap="flat" cmpd="sng" w="9525">
            <a:solidFill>
              <a:srgbClr val="F0F7FF"/>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3"/>
          <p:cNvSpPr/>
          <p:nvPr/>
        </p:nvSpPr>
        <p:spPr>
          <a:xfrm>
            <a:off x="274320" y="3438144"/>
            <a:ext cx="54864" cy="1170432"/>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3"/>
          <p:cNvSpPr/>
          <p:nvPr/>
        </p:nvSpPr>
        <p:spPr>
          <a:xfrm>
            <a:off x="438912" y="3529584"/>
            <a:ext cx="385876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50"/>
              <a:buFont typeface="Calibri"/>
              <a:buNone/>
            </a:pPr>
            <a:r>
              <a:rPr b="1" i="0" lang="en-US" sz="1350" u="none" cap="none" strike="noStrike">
                <a:solidFill>
                  <a:srgbClr val="2C2C2C"/>
                </a:solidFill>
                <a:latin typeface="Calibri"/>
                <a:ea typeface="Calibri"/>
                <a:cs typeface="Calibri"/>
                <a:sym typeface="Calibri"/>
              </a:rPr>
              <a:t>Role Data Gaps</a:t>
            </a:r>
            <a:endParaRPr b="0" i="0" sz="1350" u="none" cap="none" strike="noStrike">
              <a:solidFill>
                <a:schemeClr val="dk1"/>
              </a:solidFill>
              <a:latin typeface="Calibri"/>
              <a:ea typeface="Calibri"/>
              <a:cs typeface="Calibri"/>
              <a:sym typeface="Calibri"/>
            </a:endParaRPr>
          </a:p>
        </p:txBody>
      </p:sp>
      <p:sp>
        <p:nvSpPr>
          <p:cNvPr id="475" name="Google Shape;475;p23"/>
          <p:cNvSpPr/>
          <p:nvPr/>
        </p:nvSpPr>
        <p:spPr>
          <a:xfrm>
            <a:off x="438912" y="3803904"/>
            <a:ext cx="3858768"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88888"/>
              </a:buClr>
              <a:buSzPts val="950"/>
              <a:buFont typeface="Calibri"/>
              <a:buNone/>
            </a:pPr>
            <a:r>
              <a:rPr b="0" i="0" lang="en-US" sz="1150" u="none" cap="none" strike="noStrike">
                <a:solidFill>
                  <a:srgbClr val="888888"/>
                </a:solidFill>
                <a:latin typeface="Calibri"/>
                <a:ea typeface="Calibri"/>
                <a:cs typeface="Calibri"/>
                <a:sym typeface="Calibri"/>
              </a:rPr>
              <a:t>552 of 818 reviews (67.5%) have no role label. Role analysis should be treated as directional, not representative.</a:t>
            </a:r>
            <a:endParaRPr b="0" i="0" sz="1150" u="none" cap="none" strike="noStrike">
              <a:solidFill>
                <a:schemeClr val="dk1"/>
              </a:solidFill>
              <a:latin typeface="Calibri"/>
              <a:ea typeface="Calibri"/>
              <a:cs typeface="Calibri"/>
              <a:sym typeface="Calibri"/>
            </a:endParaRPr>
          </a:p>
        </p:txBody>
      </p:sp>
      <p:sp>
        <p:nvSpPr>
          <p:cNvPr id="476" name="Google Shape;476;p23"/>
          <p:cNvSpPr/>
          <p:nvPr/>
        </p:nvSpPr>
        <p:spPr>
          <a:xfrm>
            <a:off x="4709160" y="3438144"/>
            <a:ext cx="4160520" cy="1170432"/>
          </a:xfrm>
          <a:prstGeom prst="rect">
            <a:avLst/>
          </a:prstGeom>
          <a:solidFill>
            <a:srgbClr val="F0F7FF"/>
          </a:solidFill>
          <a:ln cap="flat" cmpd="sng" w="9525">
            <a:solidFill>
              <a:srgbClr val="F0F7FF"/>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3"/>
          <p:cNvSpPr/>
          <p:nvPr/>
        </p:nvSpPr>
        <p:spPr>
          <a:xfrm>
            <a:off x="4709160" y="3438144"/>
            <a:ext cx="54864" cy="1170432"/>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3"/>
          <p:cNvSpPr/>
          <p:nvPr/>
        </p:nvSpPr>
        <p:spPr>
          <a:xfrm>
            <a:off x="4873752" y="3529584"/>
            <a:ext cx="385876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050"/>
              <a:buFont typeface="Calibri"/>
              <a:buNone/>
            </a:pPr>
            <a:r>
              <a:rPr b="1" i="0" lang="en-US" sz="1350" u="none" cap="none" strike="noStrike">
                <a:solidFill>
                  <a:srgbClr val="2C2C2C"/>
                </a:solidFill>
                <a:latin typeface="Calibri"/>
                <a:ea typeface="Calibri"/>
                <a:cs typeface="Calibri"/>
                <a:sym typeface="Calibri"/>
              </a:rPr>
              <a:t>Machine Translation</a:t>
            </a:r>
            <a:endParaRPr b="0" i="0" sz="1350" u="none" cap="none" strike="noStrike">
              <a:solidFill>
                <a:schemeClr val="dk1"/>
              </a:solidFill>
              <a:latin typeface="Calibri"/>
              <a:ea typeface="Calibri"/>
              <a:cs typeface="Calibri"/>
              <a:sym typeface="Calibri"/>
            </a:endParaRPr>
          </a:p>
        </p:txBody>
      </p:sp>
      <p:sp>
        <p:nvSpPr>
          <p:cNvPr id="479" name="Google Shape;479;p23"/>
          <p:cNvSpPr/>
          <p:nvPr/>
        </p:nvSpPr>
        <p:spPr>
          <a:xfrm>
            <a:off x="4873752" y="3803904"/>
            <a:ext cx="3858768"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88888"/>
              </a:buClr>
              <a:buSzPts val="950"/>
              <a:buFont typeface="Calibri"/>
              <a:buNone/>
            </a:pPr>
            <a:r>
              <a:rPr b="0" i="0" lang="en-US" sz="1150" u="none" cap="none" strike="noStrike">
                <a:solidFill>
                  <a:srgbClr val="888888"/>
                </a:solidFill>
                <a:latin typeface="Calibri"/>
                <a:ea typeface="Calibri"/>
                <a:cs typeface="Calibri"/>
                <a:sym typeface="Calibri"/>
              </a:rPr>
              <a:t>41 non-English reviews (mostly German) were auto-translated before scoring. Translation quality affects accuracy for those reviews.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24"/>
          <p:cNvSpPr/>
          <p:nvPr/>
        </p:nvSpPr>
        <p:spPr>
          <a:xfrm>
            <a:off x="0" y="0"/>
            <a:ext cx="320040" cy="5143500"/>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4"/>
          <p:cNvSpPr/>
          <p:nvPr/>
        </p:nvSpPr>
        <p:spPr>
          <a:xfrm>
            <a:off x="0" y="4389120"/>
            <a:ext cx="9144000" cy="75438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4"/>
          <p:cNvSpPr/>
          <p:nvPr/>
        </p:nvSpPr>
        <p:spPr>
          <a:xfrm>
            <a:off x="594360" y="502920"/>
            <a:ext cx="80467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Key Takeaways</a:t>
            </a:r>
            <a:endParaRPr b="0" i="0" sz="2600" u="none" cap="none" strike="noStrike">
              <a:solidFill>
                <a:schemeClr val="dk1"/>
              </a:solidFill>
              <a:latin typeface="Calibri"/>
              <a:ea typeface="Calibri"/>
              <a:cs typeface="Calibri"/>
              <a:sym typeface="Calibri"/>
            </a:endParaRPr>
          </a:p>
        </p:txBody>
      </p:sp>
      <p:sp>
        <p:nvSpPr>
          <p:cNvPr id="488" name="Google Shape;488;p24"/>
          <p:cNvSpPr/>
          <p:nvPr/>
        </p:nvSpPr>
        <p:spPr>
          <a:xfrm>
            <a:off x="594360" y="932688"/>
            <a:ext cx="8046720" cy="36576"/>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4"/>
          <p:cNvSpPr/>
          <p:nvPr/>
        </p:nvSpPr>
        <p:spPr>
          <a:xfrm>
            <a:off x="594360" y="1133856"/>
            <a:ext cx="146304" cy="146304"/>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4"/>
          <p:cNvSpPr/>
          <p:nvPr/>
        </p:nvSpPr>
        <p:spPr>
          <a:xfrm>
            <a:off x="841248" y="1078992"/>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50"/>
              <a:buFont typeface="Calibri"/>
              <a:buNone/>
            </a:pPr>
            <a:r>
              <a:rPr b="1" i="0" lang="en-US" sz="1450" u="none" cap="none" strike="noStrike">
                <a:solidFill>
                  <a:srgbClr val="F0F7FF"/>
                </a:solidFill>
                <a:latin typeface="Calibri"/>
                <a:ea typeface="Calibri"/>
                <a:cs typeface="Calibri"/>
                <a:sym typeface="Calibri"/>
              </a:rPr>
              <a:t>Strong foundation: </a:t>
            </a:r>
            <a:endParaRPr b="0" i="0" sz="1450" u="none" cap="none" strike="noStrike">
              <a:solidFill>
                <a:srgbClr val="F0F7FF"/>
              </a:solidFill>
              <a:latin typeface="Calibri"/>
              <a:ea typeface="Calibri"/>
              <a:cs typeface="Calibri"/>
              <a:sym typeface="Calibri"/>
            </a:endParaRPr>
          </a:p>
        </p:txBody>
      </p:sp>
      <p:sp>
        <p:nvSpPr>
          <p:cNvPr id="491" name="Google Shape;491;p24"/>
          <p:cNvSpPr/>
          <p:nvPr/>
        </p:nvSpPr>
        <p:spPr>
          <a:xfrm>
            <a:off x="2514600" y="1078992"/>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50"/>
              <a:buFont typeface="Calibri"/>
              <a:buNone/>
            </a:pPr>
            <a:r>
              <a:rPr b="0" i="0" lang="en-US" sz="1250" u="none" cap="none" strike="noStrike">
                <a:solidFill>
                  <a:srgbClr val="CCCCCC"/>
                </a:solidFill>
                <a:latin typeface="Calibri"/>
                <a:ea typeface="Calibri"/>
                <a:cs typeface="Calibri"/>
                <a:sym typeface="Calibri"/>
              </a:rPr>
              <a:t>4.78 avg rating and 96.7% positive sentiment across 818 reviews spanning 6 years.</a:t>
            </a:r>
            <a:endParaRPr b="0" i="0" sz="1250" u="none" cap="none" strike="noStrike">
              <a:solidFill>
                <a:schemeClr val="dk1"/>
              </a:solidFill>
              <a:latin typeface="Calibri"/>
              <a:ea typeface="Calibri"/>
              <a:cs typeface="Calibri"/>
              <a:sym typeface="Calibri"/>
            </a:endParaRPr>
          </a:p>
        </p:txBody>
      </p:sp>
      <p:sp>
        <p:nvSpPr>
          <p:cNvPr id="492" name="Google Shape;492;p24"/>
          <p:cNvSpPr/>
          <p:nvPr/>
        </p:nvSpPr>
        <p:spPr>
          <a:xfrm>
            <a:off x="594360" y="1655064"/>
            <a:ext cx="146304" cy="146304"/>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4"/>
          <p:cNvSpPr/>
          <p:nvPr/>
        </p:nvSpPr>
        <p:spPr>
          <a:xfrm>
            <a:off x="841248" y="1600200"/>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50"/>
              <a:buFont typeface="Calibri"/>
              <a:buNone/>
            </a:pPr>
            <a:r>
              <a:rPr b="1" i="0" lang="en-US" sz="1450" u="none" cap="none" strike="noStrike">
                <a:solidFill>
                  <a:srgbClr val="F0F7FF"/>
                </a:solidFill>
                <a:latin typeface="Calibri"/>
                <a:ea typeface="Calibri"/>
                <a:cs typeface="Calibri"/>
                <a:sym typeface="Calibri"/>
              </a:rPr>
              <a:t>Job support gap: </a:t>
            </a:r>
            <a:endParaRPr b="0" i="0" sz="1450" u="none" cap="none" strike="noStrike">
              <a:solidFill>
                <a:srgbClr val="F0F7FF"/>
              </a:solidFill>
              <a:latin typeface="Calibri"/>
              <a:ea typeface="Calibri"/>
              <a:cs typeface="Calibri"/>
              <a:sym typeface="Calibri"/>
            </a:endParaRPr>
          </a:p>
        </p:txBody>
      </p:sp>
      <p:sp>
        <p:nvSpPr>
          <p:cNvPr id="494" name="Google Shape;494;p24"/>
          <p:cNvSpPr/>
          <p:nvPr/>
        </p:nvSpPr>
        <p:spPr>
          <a:xfrm>
            <a:off x="2514600" y="160020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50"/>
              <a:buFont typeface="Calibri"/>
              <a:buNone/>
            </a:pPr>
            <a:r>
              <a:rPr b="0" i="0" lang="en-US" sz="1250" u="none" cap="none" strike="noStrike">
                <a:solidFill>
                  <a:srgbClr val="CCCCCC"/>
                </a:solidFill>
                <a:latin typeface="Calibri"/>
                <a:ea typeface="Calibri"/>
                <a:cs typeface="Calibri"/>
                <a:sym typeface="Calibri"/>
              </a:rPr>
              <a:t>Job assistance (4.54) scores 0.31 below instructors (4.85) — the single most actionable finding.</a:t>
            </a:r>
            <a:endParaRPr b="0" i="0" sz="1250" u="none" cap="none" strike="noStrike">
              <a:solidFill>
                <a:schemeClr val="dk1"/>
              </a:solidFill>
              <a:latin typeface="Calibri"/>
              <a:ea typeface="Calibri"/>
              <a:cs typeface="Calibri"/>
              <a:sym typeface="Calibri"/>
            </a:endParaRPr>
          </a:p>
        </p:txBody>
      </p:sp>
      <p:sp>
        <p:nvSpPr>
          <p:cNvPr id="495" name="Google Shape;495;p24"/>
          <p:cNvSpPr/>
          <p:nvPr/>
        </p:nvSpPr>
        <p:spPr>
          <a:xfrm>
            <a:off x="594360" y="2176272"/>
            <a:ext cx="146304" cy="146304"/>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4"/>
          <p:cNvSpPr/>
          <p:nvPr/>
        </p:nvSpPr>
        <p:spPr>
          <a:xfrm>
            <a:off x="841248" y="2121408"/>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50"/>
              <a:buFont typeface="Calibri"/>
              <a:buNone/>
            </a:pPr>
            <a:r>
              <a:rPr b="1" i="0" lang="en-US" sz="1450" u="none" cap="none" strike="noStrike">
                <a:solidFill>
                  <a:srgbClr val="F0F7FF"/>
                </a:solidFill>
                <a:latin typeface="Calibri"/>
                <a:ea typeface="Calibri"/>
                <a:cs typeface="Calibri"/>
                <a:sym typeface="Calibri"/>
              </a:rPr>
              <a:t>Google vs specialist platforms: </a:t>
            </a:r>
            <a:endParaRPr b="0" i="0" sz="1450" u="none" cap="none" strike="noStrike">
              <a:solidFill>
                <a:srgbClr val="F0F7FF"/>
              </a:solidFill>
              <a:latin typeface="Calibri"/>
              <a:ea typeface="Calibri"/>
              <a:cs typeface="Calibri"/>
              <a:sym typeface="Calibri"/>
            </a:endParaRPr>
          </a:p>
        </p:txBody>
      </p:sp>
      <p:sp>
        <p:nvSpPr>
          <p:cNvPr id="497" name="Google Shape;497;p24"/>
          <p:cNvSpPr/>
          <p:nvPr/>
        </p:nvSpPr>
        <p:spPr>
          <a:xfrm>
            <a:off x="2514600" y="2121408"/>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50"/>
              <a:buFont typeface="Calibri"/>
              <a:buNone/>
            </a:pPr>
            <a:r>
              <a:rPr b="0" i="0" lang="en-US" sz="1250" u="none" cap="none" strike="noStrike">
                <a:solidFill>
                  <a:srgbClr val="CCCCCC"/>
                </a:solidFill>
                <a:latin typeface="Calibri"/>
                <a:ea typeface="Calibri"/>
                <a:cs typeface="Calibri"/>
                <a:sym typeface="Calibri"/>
              </a:rPr>
              <a:t>Google reviews score 29% lower in sentiment. Monitor closely as an early warning signal.</a:t>
            </a:r>
            <a:endParaRPr b="0" i="0" sz="1250" u="none" cap="none" strike="noStrike">
              <a:solidFill>
                <a:schemeClr val="dk1"/>
              </a:solidFill>
              <a:latin typeface="Calibri"/>
              <a:ea typeface="Calibri"/>
              <a:cs typeface="Calibri"/>
              <a:sym typeface="Calibri"/>
            </a:endParaRPr>
          </a:p>
        </p:txBody>
      </p:sp>
      <p:sp>
        <p:nvSpPr>
          <p:cNvPr id="498" name="Google Shape;498;p24"/>
          <p:cNvSpPr/>
          <p:nvPr/>
        </p:nvSpPr>
        <p:spPr>
          <a:xfrm>
            <a:off x="594360" y="2697480"/>
            <a:ext cx="146304" cy="146304"/>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4"/>
          <p:cNvSpPr/>
          <p:nvPr/>
        </p:nvSpPr>
        <p:spPr>
          <a:xfrm>
            <a:off x="841248" y="2642616"/>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50"/>
              <a:buFont typeface="Calibri"/>
              <a:buNone/>
            </a:pPr>
            <a:r>
              <a:rPr b="1" i="0" lang="en-US" sz="1450" u="none" cap="none" strike="noStrike">
                <a:solidFill>
                  <a:srgbClr val="F0F7FF"/>
                </a:solidFill>
                <a:latin typeface="Calibri"/>
                <a:ea typeface="Calibri"/>
                <a:cs typeface="Calibri"/>
                <a:sym typeface="Calibri"/>
              </a:rPr>
              <a:t>Curriculum drives enrollment: </a:t>
            </a:r>
            <a:endParaRPr b="0" i="0" sz="1450" u="none" cap="none" strike="noStrike">
              <a:solidFill>
                <a:srgbClr val="F0F7FF"/>
              </a:solidFill>
              <a:latin typeface="Calibri"/>
              <a:ea typeface="Calibri"/>
              <a:cs typeface="Calibri"/>
              <a:sym typeface="Calibri"/>
            </a:endParaRPr>
          </a:p>
        </p:txBody>
      </p:sp>
      <p:sp>
        <p:nvSpPr>
          <p:cNvPr id="500" name="Google Shape;500;p24"/>
          <p:cNvSpPr/>
          <p:nvPr/>
        </p:nvSpPr>
        <p:spPr>
          <a:xfrm>
            <a:off x="2514600" y="2642616"/>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50"/>
              <a:buFont typeface="Calibri"/>
              <a:buNone/>
            </a:pPr>
            <a:r>
              <a:rPr b="0" i="0" lang="en-US" sz="1250" u="none" cap="none" strike="noStrike">
                <a:solidFill>
                  <a:srgbClr val="CCCCCC"/>
                </a:solidFill>
                <a:latin typeface="Calibri"/>
                <a:ea typeface="Calibri"/>
                <a:cs typeface="Calibri"/>
                <a:sym typeface="Calibri"/>
              </a:rPr>
              <a:t>33% of reviews cite curriculum quality as the primary reason for choosing WBS.</a:t>
            </a:r>
            <a:endParaRPr b="0" i="0" sz="1250" u="none" cap="none" strike="noStrike">
              <a:solidFill>
                <a:schemeClr val="dk1"/>
              </a:solidFill>
              <a:latin typeface="Calibri"/>
              <a:ea typeface="Calibri"/>
              <a:cs typeface="Calibri"/>
              <a:sym typeface="Calibri"/>
            </a:endParaRPr>
          </a:p>
        </p:txBody>
      </p:sp>
      <p:sp>
        <p:nvSpPr>
          <p:cNvPr id="501" name="Google Shape;501;p24"/>
          <p:cNvSpPr/>
          <p:nvPr/>
        </p:nvSpPr>
        <p:spPr>
          <a:xfrm>
            <a:off x="594360" y="3218688"/>
            <a:ext cx="146304" cy="146304"/>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4"/>
          <p:cNvSpPr/>
          <p:nvPr/>
        </p:nvSpPr>
        <p:spPr>
          <a:xfrm>
            <a:off x="841248" y="3163824"/>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50"/>
              <a:buFont typeface="Calibri"/>
              <a:buNone/>
            </a:pPr>
            <a:r>
              <a:rPr b="1" i="0" lang="en-US" sz="1450" u="none" cap="none" strike="noStrike">
                <a:solidFill>
                  <a:srgbClr val="F0F7FF"/>
                </a:solidFill>
                <a:latin typeface="Calibri"/>
                <a:ea typeface="Calibri"/>
                <a:cs typeface="Calibri"/>
                <a:sym typeface="Calibri"/>
              </a:rPr>
              <a:t>Rich marketing pool: </a:t>
            </a:r>
            <a:endParaRPr b="0" i="0" sz="1450" u="none" cap="none" strike="noStrike">
              <a:solidFill>
                <a:srgbClr val="F0F7FF"/>
              </a:solidFill>
              <a:latin typeface="Calibri"/>
              <a:ea typeface="Calibri"/>
              <a:cs typeface="Calibri"/>
              <a:sym typeface="Calibri"/>
            </a:endParaRPr>
          </a:p>
        </p:txBody>
      </p:sp>
      <p:sp>
        <p:nvSpPr>
          <p:cNvPr id="503" name="Google Shape;503;p24"/>
          <p:cNvSpPr/>
          <p:nvPr/>
        </p:nvSpPr>
        <p:spPr>
          <a:xfrm>
            <a:off x="2514600" y="3163824"/>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50"/>
              <a:buFont typeface="Calibri"/>
              <a:buNone/>
            </a:pPr>
            <a:r>
              <a:rPr b="0" i="0" lang="en-US" sz="1250" u="none" cap="none" strike="noStrike">
                <a:solidFill>
                  <a:srgbClr val="CCCCCC"/>
                </a:solidFill>
                <a:latin typeface="Calibri"/>
                <a:ea typeface="Calibri"/>
                <a:cs typeface="Calibri"/>
                <a:sym typeface="Calibri"/>
              </a:rPr>
              <a:t>26.7% of reviews contain USP language — authentic, quotable testimonials across all courses.</a:t>
            </a:r>
            <a:endParaRPr b="0" i="0" sz="1250" u="none" cap="none" strike="noStrike">
              <a:solidFill>
                <a:schemeClr val="dk1"/>
              </a:solidFill>
              <a:latin typeface="Calibri"/>
              <a:ea typeface="Calibri"/>
              <a:cs typeface="Calibri"/>
              <a:sym typeface="Calibri"/>
            </a:endParaRPr>
          </a:p>
        </p:txBody>
      </p:sp>
      <p:sp>
        <p:nvSpPr>
          <p:cNvPr id="504" name="Google Shape;504;p24"/>
          <p:cNvSpPr/>
          <p:nvPr/>
        </p:nvSpPr>
        <p:spPr>
          <a:xfrm>
            <a:off x="594360" y="3739896"/>
            <a:ext cx="146304" cy="146304"/>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4"/>
          <p:cNvSpPr/>
          <p:nvPr/>
        </p:nvSpPr>
        <p:spPr>
          <a:xfrm>
            <a:off x="841248" y="3685032"/>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1050"/>
              <a:buFont typeface="Calibri"/>
              <a:buNone/>
            </a:pPr>
            <a:r>
              <a:rPr b="1" i="0" lang="en-US" sz="1450" u="none" cap="none" strike="noStrike">
                <a:solidFill>
                  <a:srgbClr val="F0F7FF"/>
                </a:solidFill>
                <a:latin typeface="Calibri"/>
                <a:ea typeface="Calibri"/>
                <a:cs typeface="Calibri"/>
                <a:sym typeface="Calibri"/>
              </a:rPr>
              <a:t>2024 needs attention: </a:t>
            </a:r>
            <a:endParaRPr b="0" i="0" sz="1450" u="none" cap="none" strike="noStrike">
              <a:solidFill>
                <a:srgbClr val="F0F7FF"/>
              </a:solidFill>
              <a:latin typeface="Calibri"/>
              <a:ea typeface="Calibri"/>
              <a:cs typeface="Calibri"/>
              <a:sym typeface="Calibri"/>
            </a:endParaRPr>
          </a:p>
        </p:txBody>
      </p:sp>
      <p:sp>
        <p:nvSpPr>
          <p:cNvPr id="506" name="Google Shape;506;p24"/>
          <p:cNvSpPr/>
          <p:nvPr/>
        </p:nvSpPr>
        <p:spPr>
          <a:xfrm>
            <a:off x="2514600" y="3685032"/>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050"/>
              <a:buFont typeface="Calibri"/>
              <a:buNone/>
            </a:pPr>
            <a:r>
              <a:rPr b="0" i="0" lang="en-US" sz="1250" u="none" cap="none" strike="noStrike">
                <a:solidFill>
                  <a:srgbClr val="CCCCCC"/>
                </a:solidFill>
                <a:latin typeface="Calibri"/>
                <a:ea typeface="Calibri"/>
                <a:cs typeface="Calibri"/>
                <a:sym typeface="Calibri"/>
              </a:rPr>
              <a:t>The largest recent cohort shows the lowest sentiment score. Investigate before it becomes a trend.</a:t>
            </a:r>
            <a:endParaRPr b="0" i="0" sz="1250" u="none" cap="none" strike="noStrike">
              <a:solidFill>
                <a:schemeClr val="dk1"/>
              </a:solidFill>
              <a:latin typeface="Calibri"/>
              <a:ea typeface="Calibri"/>
              <a:cs typeface="Calibri"/>
              <a:sym typeface="Calibri"/>
            </a:endParaRPr>
          </a:p>
        </p:txBody>
      </p:sp>
      <p:sp>
        <p:nvSpPr>
          <p:cNvPr id="507" name="Google Shape;507;p24"/>
          <p:cNvSpPr/>
          <p:nvPr/>
        </p:nvSpPr>
        <p:spPr>
          <a:xfrm>
            <a:off x="594360" y="4434840"/>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7777"/>
              </a:buClr>
              <a:buSzPts val="900"/>
              <a:buFont typeface="Calibri"/>
              <a:buNone/>
            </a:pPr>
            <a:r>
              <a:rPr b="0" i="0" lang="en-US" sz="900" u="none" cap="none" strike="noStrike">
                <a:solidFill>
                  <a:srgbClr val="777777"/>
                </a:solidFill>
                <a:latin typeface="Calibri"/>
                <a:ea typeface="Calibri"/>
                <a:cs typeface="Calibri"/>
                <a:sym typeface="Calibri"/>
              </a:rPr>
              <a:t>WBS Coding School  |  Essentis Internship Project  |  March 2026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512" name="Shape 512"/>
        <p:cNvGrpSpPr/>
        <p:nvPr/>
      </p:nvGrpSpPr>
      <p:grpSpPr>
        <a:xfrm>
          <a:off x="0" y="0"/>
          <a:ext cx="0" cy="0"/>
          <a:chOff x="0" y="0"/>
          <a:chExt cx="0" cy="0"/>
        </a:xfrm>
      </p:grpSpPr>
      <p:sp>
        <p:nvSpPr>
          <p:cNvPr id="513" name="Google Shape;513;p25"/>
          <p:cNvSpPr/>
          <p:nvPr/>
        </p:nvSpPr>
        <p:spPr>
          <a:xfrm>
            <a:off x="0" y="0"/>
            <a:ext cx="9144000" cy="658500"/>
          </a:xfrm>
          <a:prstGeom prst="rect">
            <a:avLst/>
          </a:prstGeom>
          <a:solidFill>
            <a:srgbClr val="2C2C2C"/>
          </a:solidFill>
          <a:ln cap="flat" cmpd="sng" w="12700">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5"/>
          <p:cNvSpPr/>
          <p:nvPr/>
        </p:nvSpPr>
        <p:spPr>
          <a:xfrm>
            <a:off x="0" y="0"/>
            <a:ext cx="164700" cy="658500"/>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5"/>
          <p:cNvSpPr/>
          <p:nvPr/>
        </p:nvSpPr>
        <p:spPr>
          <a:xfrm>
            <a:off x="292608" y="64008"/>
            <a:ext cx="64008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Project Deliverables - The </a:t>
            </a:r>
            <a:r>
              <a:rPr b="1" lang="en-US" sz="2000">
                <a:solidFill>
                  <a:srgbClr val="FFFFFF"/>
                </a:solidFill>
                <a:latin typeface="Calibri"/>
                <a:ea typeface="Calibri"/>
                <a:cs typeface="Calibri"/>
                <a:sym typeface="Calibri"/>
              </a:rPr>
              <a:t>gift that keeps on giving. </a:t>
            </a:r>
            <a:endParaRPr b="0" i="0" sz="2000" u="none" cap="none" strike="noStrike">
              <a:solidFill>
                <a:schemeClr val="dk1"/>
              </a:solidFill>
              <a:latin typeface="Calibri"/>
              <a:ea typeface="Calibri"/>
              <a:cs typeface="Calibri"/>
              <a:sym typeface="Calibri"/>
            </a:endParaRPr>
          </a:p>
        </p:txBody>
      </p:sp>
      <p:sp>
        <p:nvSpPr>
          <p:cNvPr id="516" name="Google Shape;516;p25"/>
          <p:cNvSpPr/>
          <p:nvPr/>
        </p:nvSpPr>
        <p:spPr>
          <a:xfrm>
            <a:off x="292608" y="384048"/>
            <a:ext cx="85953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000"/>
              <a:buFont typeface="Calibri"/>
              <a:buNone/>
            </a:pPr>
            <a:r>
              <a:rPr b="0" i="0" lang="en-US" sz="1000" u="none" cap="none" strike="noStrike">
                <a:solidFill>
                  <a:srgbClr val="AAAAAA"/>
                </a:solidFill>
                <a:latin typeface="Calibri"/>
                <a:ea typeface="Calibri"/>
                <a:cs typeface="Calibri"/>
                <a:sym typeface="Calibri"/>
              </a:rPr>
              <a:t>What was built, how it connects, and how to update it</a:t>
            </a:r>
            <a:endParaRPr b="0" i="0" sz="1000" u="none" cap="none" strike="noStrike">
              <a:solidFill>
                <a:schemeClr val="dk1"/>
              </a:solidFill>
              <a:latin typeface="Calibri"/>
              <a:ea typeface="Calibri"/>
              <a:cs typeface="Calibri"/>
              <a:sym typeface="Calibri"/>
            </a:endParaRPr>
          </a:p>
        </p:txBody>
      </p:sp>
      <p:sp>
        <p:nvSpPr>
          <p:cNvPr id="517" name="Google Shape;517;p25"/>
          <p:cNvSpPr/>
          <p:nvPr/>
        </p:nvSpPr>
        <p:spPr>
          <a:xfrm>
            <a:off x="256032" y="804672"/>
            <a:ext cx="2606100" cy="3931800"/>
          </a:xfrm>
          <a:prstGeom prst="rect">
            <a:avLst/>
          </a:prstGeom>
          <a:solidFill>
            <a:srgbClr val="F0F7FF"/>
          </a:solidFill>
          <a:ln cap="flat" cmpd="sng" w="9525">
            <a:solidFill>
              <a:srgbClr val="DDDDDD"/>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5"/>
          <p:cNvSpPr/>
          <p:nvPr/>
        </p:nvSpPr>
        <p:spPr>
          <a:xfrm>
            <a:off x="256032" y="804672"/>
            <a:ext cx="2606100" cy="34740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5"/>
          <p:cNvSpPr/>
          <p:nvPr/>
        </p:nvSpPr>
        <p:spPr>
          <a:xfrm>
            <a:off x="347472" y="804672"/>
            <a:ext cx="2423100" cy="347400"/>
          </a:xfrm>
          <a:prstGeom prst="rect">
            <a:avLst/>
          </a:prstGeom>
          <a:solidFill>
            <a:srgbClr val="1565A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  </a:t>
            </a:r>
            <a:r>
              <a:rPr b="1" i="0" lang="en-US" sz="1100" u="none" cap="none" strike="noStrike">
                <a:solidFill>
                  <a:srgbClr val="FFFFFF"/>
                </a:solidFill>
                <a:latin typeface="Calibri"/>
                <a:ea typeface="Calibri"/>
                <a:cs typeface="Calibri"/>
                <a:sym typeface="Calibri"/>
              </a:rPr>
              <a:t>01  </a:t>
            </a:r>
            <a:r>
              <a:rPr b="1" lang="en-US" sz="1100">
                <a:solidFill>
                  <a:srgbClr val="FFFFFF"/>
                </a:solidFill>
                <a:latin typeface="Calibri"/>
                <a:ea typeface="Calibri"/>
                <a:cs typeface="Calibri"/>
                <a:sym typeface="Calibri"/>
              </a:rPr>
              <a:t>Project</a:t>
            </a:r>
            <a:r>
              <a:rPr b="1" i="0" lang="en-US" sz="1100" u="none" cap="none" strike="noStrike">
                <a:solidFill>
                  <a:srgbClr val="FFFFFF"/>
                </a:solidFill>
                <a:latin typeface="Calibri"/>
                <a:ea typeface="Calibri"/>
                <a:cs typeface="Calibri"/>
                <a:sym typeface="Calibri"/>
              </a:rPr>
              <a:t> Pipeline</a:t>
            </a:r>
            <a:endParaRPr b="0" i="0" sz="1100" u="none" cap="none" strike="noStrike">
              <a:solidFill>
                <a:schemeClr val="dk1"/>
              </a:solidFill>
              <a:latin typeface="Calibri"/>
              <a:ea typeface="Calibri"/>
              <a:cs typeface="Calibri"/>
              <a:sym typeface="Calibri"/>
            </a:endParaRPr>
          </a:p>
        </p:txBody>
      </p:sp>
      <p:sp>
        <p:nvSpPr>
          <p:cNvPr id="520" name="Google Shape;520;p25"/>
          <p:cNvSpPr/>
          <p:nvPr/>
        </p:nvSpPr>
        <p:spPr>
          <a:xfrm>
            <a:off x="347472" y="1261872"/>
            <a:ext cx="73200" cy="128100"/>
          </a:xfrm>
          <a:prstGeom prst="rect">
            <a:avLst/>
          </a:prstGeom>
          <a:solidFill>
            <a:srgbClr val="678AA2"/>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5"/>
          <p:cNvSpPr/>
          <p:nvPr/>
        </p:nvSpPr>
        <p:spPr>
          <a:xfrm>
            <a:off x="493776" y="1243584"/>
            <a:ext cx="2267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i="0" lang="en-US" sz="950" u="none" cap="none" strike="noStrike">
                <a:solidFill>
                  <a:srgbClr val="2C2C2C"/>
                </a:solidFill>
                <a:latin typeface="Calibri"/>
                <a:ea typeface="Calibri"/>
                <a:cs typeface="Calibri"/>
                <a:sym typeface="Calibri"/>
              </a:rPr>
              <a:t>src_reviews_cleaning/</a:t>
            </a:r>
            <a:endParaRPr b="0" i="0" sz="950" u="none" cap="none" strike="noStrike">
              <a:solidFill>
                <a:schemeClr val="dk1"/>
              </a:solidFill>
              <a:latin typeface="Calibri"/>
              <a:ea typeface="Calibri"/>
              <a:cs typeface="Calibri"/>
              <a:sym typeface="Calibri"/>
            </a:endParaRPr>
          </a:p>
        </p:txBody>
      </p:sp>
      <p:sp>
        <p:nvSpPr>
          <p:cNvPr id="522" name="Google Shape;522;p25"/>
          <p:cNvSpPr/>
          <p:nvPr/>
        </p:nvSpPr>
        <p:spPr>
          <a:xfrm>
            <a:off x="493776" y="1444752"/>
            <a:ext cx="22677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Modular Python package — loaders, normalizers, cleaners, deduplicator, pipeline</a:t>
            </a:r>
            <a:endParaRPr b="0" i="0" sz="850" u="none" cap="none" strike="noStrike">
              <a:solidFill>
                <a:schemeClr val="dk1"/>
              </a:solidFill>
              <a:latin typeface="Calibri"/>
              <a:ea typeface="Calibri"/>
              <a:cs typeface="Calibri"/>
              <a:sym typeface="Calibri"/>
            </a:endParaRPr>
          </a:p>
        </p:txBody>
      </p:sp>
      <p:sp>
        <p:nvSpPr>
          <p:cNvPr id="523" name="Google Shape;523;p25"/>
          <p:cNvSpPr/>
          <p:nvPr/>
        </p:nvSpPr>
        <p:spPr>
          <a:xfrm>
            <a:off x="347472" y="1883664"/>
            <a:ext cx="73200" cy="128100"/>
          </a:xfrm>
          <a:prstGeom prst="rect">
            <a:avLst/>
          </a:prstGeom>
          <a:solidFill>
            <a:srgbClr val="678AA2"/>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5"/>
          <p:cNvSpPr/>
          <p:nvPr/>
        </p:nvSpPr>
        <p:spPr>
          <a:xfrm>
            <a:off x="493776" y="1865376"/>
            <a:ext cx="2267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i="0" lang="en-US" sz="950" u="none" cap="none" strike="noStrike">
                <a:solidFill>
                  <a:srgbClr val="2C2C2C"/>
                </a:solidFill>
                <a:latin typeface="Calibri"/>
                <a:ea typeface="Calibri"/>
                <a:cs typeface="Calibri"/>
                <a:sym typeface="Calibri"/>
              </a:rPr>
              <a:t>Auto-translation and Analysis</a:t>
            </a:r>
            <a:endParaRPr b="0" i="0" sz="950" u="none" cap="none" strike="noStrike">
              <a:solidFill>
                <a:schemeClr val="dk1"/>
              </a:solidFill>
              <a:latin typeface="Calibri"/>
              <a:ea typeface="Calibri"/>
              <a:cs typeface="Calibri"/>
              <a:sym typeface="Calibri"/>
            </a:endParaRPr>
          </a:p>
        </p:txBody>
      </p:sp>
      <p:sp>
        <p:nvSpPr>
          <p:cNvPr id="525" name="Google Shape;525;p25"/>
          <p:cNvSpPr/>
          <p:nvPr/>
        </p:nvSpPr>
        <p:spPr>
          <a:xfrm>
            <a:off x="493776" y="2066544"/>
            <a:ext cx="22677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41 non-English reviews detected and translated via deep-translator</a:t>
            </a:r>
            <a:endParaRPr b="0" i="0" sz="850" u="none" cap="none" strike="noStrike">
              <a:solidFill>
                <a:schemeClr val="dk1"/>
              </a:solidFill>
              <a:latin typeface="Calibri"/>
              <a:ea typeface="Calibri"/>
              <a:cs typeface="Calibri"/>
              <a:sym typeface="Calibri"/>
            </a:endParaRPr>
          </a:p>
        </p:txBody>
      </p:sp>
      <p:sp>
        <p:nvSpPr>
          <p:cNvPr id="526" name="Google Shape;526;p25"/>
          <p:cNvSpPr/>
          <p:nvPr/>
        </p:nvSpPr>
        <p:spPr>
          <a:xfrm>
            <a:off x="347472" y="2505456"/>
            <a:ext cx="73200" cy="128100"/>
          </a:xfrm>
          <a:prstGeom prst="rect">
            <a:avLst/>
          </a:prstGeom>
          <a:solidFill>
            <a:srgbClr val="678AA2"/>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5"/>
          <p:cNvSpPr/>
          <p:nvPr/>
        </p:nvSpPr>
        <p:spPr>
          <a:xfrm>
            <a:off x="493776" y="2487168"/>
            <a:ext cx="2267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lang="en-US" sz="950">
                <a:solidFill>
                  <a:srgbClr val="2C2C2C"/>
                </a:solidFill>
                <a:latin typeface="Calibri"/>
                <a:ea typeface="Calibri"/>
                <a:cs typeface="Calibri"/>
                <a:sym typeface="Calibri"/>
              </a:rPr>
              <a:t>Extended Dashboard CSV</a:t>
            </a:r>
            <a:endParaRPr b="0" i="0" sz="950" u="none" cap="none" strike="noStrike">
              <a:solidFill>
                <a:schemeClr val="dk1"/>
              </a:solidFill>
              <a:latin typeface="Calibri"/>
              <a:ea typeface="Calibri"/>
              <a:cs typeface="Calibri"/>
              <a:sym typeface="Calibri"/>
            </a:endParaRPr>
          </a:p>
        </p:txBody>
      </p:sp>
      <p:sp>
        <p:nvSpPr>
          <p:cNvPr id="528" name="Google Shape;528;p25"/>
          <p:cNvSpPr/>
          <p:nvPr/>
        </p:nvSpPr>
        <p:spPr>
          <a:xfrm>
            <a:off x="493776" y="2688336"/>
            <a:ext cx="22677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Two-stage exact + </a:t>
            </a:r>
            <a:r>
              <a:rPr lang="en-US" sz="850">
                <a:solidFill>
                  <a:srgbClr val="888888"/>
                </a:solidFill>
                <a:latin typeface="Calibri"/>
                <a:ea typeface="Calibri"/>
                <a:cs typeface="Calibri"/>
                <a:sym typeface="Calibri"/>
              </a:rPr>
              <a:t>build separate CSV for semantic and sentiment analysis</a:t>
            </a:r>
            <a:endParaRPr b="0" i="0" sz="850" u="none" cap="none" strike="noStrike">
              <a:solidFill>
                <a:schemeClr val="dk1"/>
              </a:solidFill>
              <a:latin typeface="Calibri"/>
              <a:ea typeface="Calibri"/>
              <a:cs typeface="Calibri"/>
              <a:sym typeface="Calibri"/>
            </a:endParaRPr>
          </a:p>
        </p:txBody>
      </p:sp>
      <p:sp>
        <p:nvSpPr>
          <p:cNvPr id="529" name="Google Shape;529;p25"/>
          <p:cNvSpPr/>
          <p:nvPr/>
        </p:nvSpPr>
        <p:spPr>
          <a:xfrm>
            <a:off x="347472" y="3127248"/>
            <a:ext cx="73200" cy="128100"/>
          </a:xfrm>
          <a:prstGeom prst="rect">
            <a:avLst/>
          </a:prstGeom>
          <a:solidFill>
            <a:srgbClr val="678AA2"/>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5"/>
          <p:cNvSpPr/>
          <p:nvPr/>
        </p:nvSpPr>
        <p:spPr>
          <a:xfrm>
            <a:off x="493776" y="3108960"/>
            <a:ext cx="2267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lang="en-US" sz="950">
                <a:solidFill>
                  <a:srgbClr val="2C2C2C"/>
                </a:solidFill>
                <a:latin typeface="Calibri"/>
                <a:ea typeface="Calibri"/>
                <a:cs typeface="Calibri"/>
                <a:sym typeface="Calibri"/>
              </a:rPr>
              <a:t>Auto-Exports for Charts and Summaries</a:t>
            </a:r>
            <a:endParaRPr b="0" i="0" sz="950" u="none" cap="none" strike="noStrike">
              <a:solidFill>
                <a:schemeClr val="dk1"/>
              </a:solidFill>
              <a:latin typeface="Calibri"/>
              <a:ea typeface="Calibri"/>
              <a:cs typeface="Calibri"/>
              <a:sym typeface="Calibri"/>
            </a:endParaRPr>
          </a:p>
        </p:txBody>
      </p:sp>
      <p:sp>
        <p:nvSpPr>
          <p:cNvPr id="531" name="Google Shape;531;p25"/>
          <p:cNvSpPr/>
          <p:nvPr/>
        </p:nvSpPr>
        <p:spPr>
          <a:xfrm>
            <a:off x="493776" y="3310128"/>
            <a:ext cx="22677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All </a:t>
            </a:r>
            <a:r>
              <a:rPr lang="en-US" sz="850">
                <a:solidFill>
                  <a:srgbClr val="888888"/>
                </a:solidFill>
                <a:latin typeface="Calibri"/>
                <a:ea typeface="Calibri"/>
                <a:cs typeface="Calibri"/>
                <a:sym typeface="Calibri"/>
              </a:rPr>
              <a:t>charts, summaries, and exported quote extractions feed automatically into Google Drive</a:t>
            </a:r>
            <a:endParaRPr b="0" i="0" sz="850" u="none" cap="none" strike="noStrike">
              <a:solidFill>
                <a:schemeClr val="dk1"/>
              </a:solidFill>
              <a:latin typeface="Calibri"/>
              <a:ea typeface="Calibri"/>
              <a:cs typeface="Calibri"/>
              <a:sym typeface="Calibri"/>
            </a:endParaRPr>
          </a:p>
        </p:txBody>
      </p:sp>
      <p:sp>
        <p:nvSpPr>
          <p:cNvPr id="532" name="Google Shape;532;p25"/>
          <p:cNvSpPr/>
          <p:nvPr/>
        </p:nvSpPr>
        <p:spPr>
          <a:xfrm>
            <a:off x="347472" y="3749040"/>
            <a:ext cx="73200" cy="128100"/>
          </a:xfrm>
          <a:prstGeom prst="rect">
            <a:avLst/>
          </a:prstGeom>
          <a:solidFill>
            <a:srgbClr val="678AA2"/>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5"/>
          <p:cNvSpPr/>
          <p:nvPr/>
        </p:nvSpPr>
        <p:spPr>
          <a:xfrm>
            <a:off x="493776" y="3730752"/>
            <a:ext cx="2267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i="0" lang="en-US" sz="950" u="none" cap="none" strike="noStrike">
                <a:solidFill>
                  <a:srgbClr val="2C2C2C"/>
                </a:solidFill>
                <a:latin typeface="Calibri"/>
                <a:ea typeface="Calibri"/>
                <a:cs typeface="Calibri"/>
                <a:sym typeface="Calibri"/>
              </a:rPr>
              <a:t>One command</a:t>
            </a:r>
            <a:endParaRPr b="0" i="0" sz="950" u="none" cap="none" strike="noStrike">
              <a:solidFill>
                <a:schemeClr val="dk1"/>
              </a:solidFill>
              <a:latin typeface="Calibri"/>
              <a:ea typeface="Calibri"/>
              <a:cs typeface="Calibri"/>
              <a:sym typeface="Calibri"/>
            </a:endParaRPr>
          </a:p>
        </p:txBody>
      </p:sp>
      <p:sp>
        <p:nvSpPr>
          <p:cNvPr id="534" name="Google Shape;534;p25"/>
          <p:cNvSpPr/>
          <p:nvPr/>
        </p:nvSpPr>
        <p:spPr>
          <a:xfrm>
            <a:off x="493776" y="3931920"/>
            <a:ext cx="22677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run() returns a clean DataFrame </a:t>
            </a:r>
            <a:r>
              <a:rPr lang="en-US" sz="850">
                <a:solidFill>
                  <a:srgbClr val="888888"/>
                </a:solidFill>
                <a:latin typeface="Calibri"/>
                <a:ea typeface="Calibri"/>
                <a:cs typeface="Calibri"/>
                <a:sym typeface="Calibri"/>
              </a:rPr>
              <a:t>and outputs </a:t>
            </a:r>
            <a:r>
              <a:rPr b="0" i="0" lang="en-US" sz="850" u="none" cap="none" strike="noStrike">
                <a:solidFill>
                  <a:srgbClr val="888888"/>
                </a:solidFill>
                <a:latin typeface="Calibri"/>
                <a:ea typeface="Calibri"/>
                <a:cs typeface="Calibri"/>
                <a:sym typeface="Calibri"/>
              </a:rPr>
              <a:t> in ~90 seconds per run</a:t>
            </a:r>
            <a:endParaRPr b="0" i="0" sz="850" u="none" cap="none" strike="noStrike">
              <a:solidFill>
                <a:schemeClr val="dk1"/>
              </a:solidFill>
              <a:latin typeface="Calibri"/>
              <a:ea typeface="Calibri"/>
              <a:cs typeface="Calibri"/>
              <a:sym typeface="Calibri"/>
            </a:endParaRPr>
          </a:p>
        </p:txBody>
      </p:sp>
      <p:sp>
        <p:nvSpPr>
          <p:cNvPr id="535" name="Google Shape;535;p25"/>
          <p:cNvSpPr/>
          <p:nvPr/>
        </p:nvSpPr>
        <p:spPr>
          <a:xfrm>
            <a:off x="3218688" y="804672"/>
            <a:ext cx="2743200" cy="3931800"/>
          </a:xfrm>
          <a:prstGeom prst="rect">
            <a:avLst/>
          </a:prstGeom>
          <a:solidFill>
            <a:srgbClr val="F0F7FF"/>
          </a:solidFill>
          <a:ln cap="flat" cmpd="sng" w="9525">
            <a:solidFill>
              <a:srgbClr val="DDDDDD"/>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5"/>
          <p:cNvSpPr/>
          <p:nvPr/>
        </p:nvSpPr>
        <p:spPr>
          <a:xfrm>
            <a:off x="3218688" y="804672"/>
            <a:ext cx="2743200" cy="34740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5"/>
          <p:cNvSpPr/>
          <p:nvPr/>
        </p:nvSpPr>
        <p:spPr>
          <a:xfrm>
            <a:off x="3310128" y="804672"/>
            <a:ext cx="2560200" cy="347400"/>
          </a:xfrm>
          <a:prstGeom prst="rect">
            <a:avLst/>
          </a:prstGeom>
          <a:solidFill>
            <a:srgbClr val="1565A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  </a:t>
            </a:r>
            <a:r>
              <a:rPr b="1" i="0" lang="en-US" sz="1100" u="none" cap="none" strike="noStrike">
                <a:solidFill>
                  <a:srgbClr val="FFFFFF"/>
                </a:solidFill>
                <a:latin typeface="Calibri"/>
                <a:ea typeface="Calibri"/>
                <a:cs typeface="Calibri"/>
                <a:sym typeface="Calibri"/>
              </a:rPr>
              <a:t>02  Analysis Notebooks</a:t>
            </a:r>
            <a:endParaRPr b="0" i="0" sz="1100" u="none" cap="none" strike="noStrike">
              <a:solidFill>
                <a:schemeClr val="dk1"/>
              </a:solidFill>
              <a:latin typeface="Calibri"/>
              <a:ea typeface="Calibri"/>
              <a:cs typeface="Calibri"/>
              <a:sym typeface="Calibri"/>
            </a:endParaRPr>
          </a:p>
        </p:txBody>
      </p:sp>
      <p:sp>
        <p:nvSpPr>
          <p:cNvPr id="538" name="Google Shape;538;p25"/>
          <p:cNvSpPr/>
          <p:nvPr/>
        </p:nvSpPr>
        <p:spPr>
          <a:xfrm>
            <a:off x="3310128" y="1261872"/>
            <a:ext cx="73200" cy="128100"/>
          </a:xfrm>
          <a:prstGeom prst="rect">
            <a:avLst/>
          </a:prstGeom>
          <a:solidFill>
            <a:srgbClr val="678AA2"/>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5"/>
          <p:cNvSpPr/>
          <p:nvPr/>
        </p:nvSpPr>
        <p:spPr>
          <a:xfrm>
            <a:off x="3456432" y="1243584"/>
            <a:ext cx="2395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i="0" lang="en-US" sz="950" u="none" cap="none" strike="noStrike">
                <a:solidFill>
                  <a:srgbClr val="2C2C2C"/>
                </a:solidFill>
                <a:latin typeface="Calibri"/>
                <a:ea typeface="Calibri"/>
                <a:cs typeface="Calibri"/>
                <a:sym typeface="Calibri"/>
              </a:rPr>
              <a:t>Exploration</a:t>
            </a:r>
            <a:endParaRPr b="0" i="0" sz="950" u="none" cap="none" strike="noStrike">
              <a:solidFill>
                <a:schemeClr val="dk1"/>
              </a:solidFill>
              <a:latin typeface="Calibri"/>
              <a:ea typeface="Calibri"/>
              <a:cs typeface="Calibri"/>
              <a:sym typeface="Calibri"/>
            </a:endParaRPr>
          </a:p>
        </p:txBody>
      </p:sp>
      <p:sp>
        <p:nvSpPr>
          <p:cNvPr id="540" name="Google Shape;540;p25"/>
          <p:cNvSpPr/>
          <p:nvPr/>
        </p:nvSpPr>
        <p:spPr>
          <a:xfrm>
            <a:off x="3456432" y="1444752"/>
            <a:ext cx="239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Rating distributions, time trends, course and role breakdowns</a:t>
            </a:r>
            <a:endParaRPr b="0" i="0" sz="850" u="none" cap="none" strike="noStrike">
              <a:solidFill>
                <a:schemeClr val="dk1"/>
              </a:solidFill>
              <a:latin typeface="Calibri"/>
              <a:ea typeface="Calibri"/>
              <a:cs typeface="Calibri"/>
              <a:sym typeface="Calibri"/>
            </a:endParaRPr>
          </a:p>
        </p:txBody>
      </p:sp>
      <p:sp>
        <p:nvSpPr>
          <p:cNvPr id="541" name="Google Shape;541;p25"/>
          <p:cNvSpPr/>
          <p:nvPr/>
        </p:nvSpPr>
        <p:spPr>
          <a:xfrm>
            <a:off x="3310128" y="1883664"/>
            <a:ext cx="73200" cy="128100"/>
          </a:xfrm>
          <a:prstGeom prst="rect">
            <a:avLst/>
          </a:prstGeom>
          <a:solidFill>
            <a:srgbClr val="678AA2"/>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5"/>
          <p:cNvSpPr/>
          <p:nvPr/>
        </p:nvSpPr>
        <p:spPr>
          <a:xfrm>
            <a:off x="3456432" y="1865376"/>
            <a:ext cx="2395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i="0" lang="en-US" sz="950" u="none" cap="none" strike="noStrike">
                <a:solidFill>
                  <a:srgbClr val="2C2C2C"/>
                </a:solidFill>
                <a:latin typeface="Calibri"/>
                <a:ea typeface="Calibri"/>
                <a:cs typeface="Calibri"/>
                <a:sym typeface="Calibri"/>
              </a:rPr>
              <a:t>Sentiment Analysis</a:t>
            </a:r>
            <a:endParaRPr b="0" i="0" sz="950" u="none" cap="none" strike="noStrike">
              <a:solidFill>
                <a:schemeClr val="dk1"/>
              </a:solidFill>
              <a:latin typeface="Calibri"/>
              <a:ea typeface="Calibri"/>
              <a:cs typeface="Calibri"/>
              <a:sym typeface="Calibri"/>
            </a:endParaRPr>
          </a:p>
        </p:txBody>
      </p:sp>
      <p:sp>
        <p:nvSpPr>
          <p:cNvPr id="543" name="Google Shape;543;p25"/>
          <p:cNvSpPr/>
          <p:nvPr/>
        </p:nvSpPr>
        <p:spPr>
          <a:xfrm>
            <a:off x="3456432" y="2066544"/>
            <a:ext cx="239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VADER scoring, aspect flags, TF-IDF, marketing quote extraction (broad)</a:t>
            </a:r>
            <a:endParaRPr b="0" i="0" sz="850" u="none" cap="none" strike="noStrike">
              <a:solidFill>
                <a:schemeClr val="dk1"/>
              </a:solidFill>
              <a:latin typeface="Calibri"/>
              <a:ea typeface="Calibri"/>
              <a:cs typeface="Calibri"/>
              <a:sym typeface="Calibri"/>
            </a:endParaRPr>
          </a:p>
        </p:txBody>
      </p:sp>
      <p:sp>
        <p:nvSpPr>
          <p:cNvPr id="544" name="Google Shape;544;p25"/>
          <p:cNvSpPr/>
          <p:nvPr/>
        </p:nvSpPr>
        <p:spPr>
          <a:xfrm>
            <a:off x="3310128" y="2505456"/>
            <a:ext cx="73200" cy="128100"/>
          </a:xfrm>
          <a:prstGeom prst="rect">
            <a:avLst/>
          </a:prstGeom>
          <a:solidFill>
            <a:srgbClr val="678AA2"/>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5"/>
          <p:cNvSpPr/>
          <p:nvPr/>
        </p:nvSpPr>
        <p:spPr>
          <a:xfrm>
            <a:off x="3456432" y="2487168"/>
            <a:ext cx="2395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i="0" lang="en-US" sz="950" u="none" cap="none" strike="noStrike">
                <a:solidFill>
                  <a:srgbClr val="2C2C2C"/>
                </a:solidFill>
                <a:latin typeface="Calibri"/>
                <a:ea typeface="Calibri"/>
                <a:cs typeface="Calibri"/>
                <a:sym typeface="Calibri"/>
              </a:rPr>
              <a:t>Student Experience</a:t>
            </a:r>
            <a:endParaRPr b="0" i="0" sz="950" u="none" cap="none" strike="noStrike">
              <a:solidFill>
                <a:schemeClr val="dk1"/>
              </a:solidFill>
              <a:latin typeface="Calibri"/>
              <a:ea typeface="Calibri"/>
              <a:cs typeface="Calibri"/>
              <a:sym typeface="Calibri"/>
            </a:endParaRPr>
          </a:p>
        </p:txBody>
      </p:sp>
      <p:sp>
        <p:nvSpPr>
          <p:cNvPr id="546" name="Google Shape;546;p25"/>
          <p:cNvSpPr/>
          <p:nvPr/>
        </p:nvSpPr>
        <p:spPr>
          <a:xfrm>
            <a:off x="3456432" y="2688336"/>
            <a:ext cx="239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Motivations, </a:t>
            </a:r>
            <a:r>
              <a:rPr lang="en-US" sz="850">
                <a:solidFill>
                  <a:srgbClr val="888888"/>
                </a:solidFill>
                <a:latin typeface="Calibri"/>
                <a:ea typeface="Calibri"/>
                <a:cs typeface="Calibri"/>
                <a:sym typeface="Calibri"/>
              </a:rPr>
              <a:t>comparison</a:t>
            </a:r>
            <a:r>
              <a:rPr b="0" i="0" lang="en-US" sz="850" u="none" cap="none" strike="noStrike">
                <a:solidFill>
                  <a:srgbClr val="888888"/>
                </a:solidFill>
                <a:latin typeface="Calibri"/>
                <a:ea typeface="Calibri"/>
                <a:cs typeface="Calibri"/>
                <a:sym typeface="Calibri"/>
              </a:rPr>
              <a:t> detection, hiring mentions, expectation analysis</a:t>
            </a:r>
            <a:endParaRPr b="0" i="0" sz="850" u="none" cap="none" strike="noStrike">
              <a:solidFill>
                <a:schemeClr val="dk1"/>
              </a:solidFill>
              <a:latin typeface="Calibri"/>
              <a:ea typeface="Calibri"/>
              <a:cs typeface="Calibri"/>
              <a:sym typeface="Calibri"/>
            </a:endParaRPr>
          </a:p>
        </p:txBody>
      </p:sp>
      <p:sp>
        <p:nvSpPr>
          <p:cNvPr id="547" name="Google Shape;547;p25"/>
          <p:cNvSpPr/>
          <p:nvPr/>
        </p:nvSpPr>
        <p:spPr>
          <a:xfrm>
            <a:off x="3310128" y="3127248"/>
            <a:ext cx="73200" cy="128100"/>
          </a:xfrm>
          <a:prstGeom prst="rect">
            <a:avLst/>
          </a:prstGeom>
          <a:solidFill>
            <a:srgbClr val="678AA2"/>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5"/>
          <p:cNvSpPr/>
          <p:nvPr/>
        </p:nvSpPr>
        <p:spPr>
          <a:xfrm>
            <a:off x="3456432" y="3108960"/>
            <a:ext cx="2395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i="0" lang="en-US" sz="950" u="none" cap="none" strike="noStrike">
                <a:solidFill>
                  <a:srgbClr val="2C2C2C"/>
                </a:solidFill>
                <a:latin typeface="Calibri"/>
                <a:ea typeface="Calibri"/>
                <a:cs typeface="Calibri"/>
                <a:sym typeface="Calibri"/>
              </a:rPr>
              <a:t>Statistical Analysis</a:t>
            </a:r>
            <a:endParaRPr b="0" i="0" sz="950" u="none" cap="none" strike="noStrike">
              <a:solidFill>
                <a:schemeClr val="dk1"/>
              </a:solidFill>
              <a:latin typeface="Calibri"/>
              <a:ea typeface="Calibri"/>
              <a:cs typeface="Calibri"/>
              <a:sym typeface="Calibri"/>
            </a:endParaRPr>
          </a:p>
        </p:txBody>
      </p:sp>
      <p:sp>
        <p:nvSpPr>
          <p:cNvPr id="549" name="Google Shape;549;p25"/>
          <p:cNvSpPr/>
          <p:nvPr/>
        </p:nvSpPr>
        <p:spPr>
          <a:xfrm>
            <a:off x="3456432" y="3310128"/>
            <a:ext cx="239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ANOVA, Welch t-test, NMF topic modeling, trend analysis</a:t>
            </a:r>
            <a:endParaRPr b="0" i="0" sz="850" u="none" cap="none" strike="noStrike">
              <a:solidFill>
                <a:schemeClr val="dk1"/>
              </a:solidFill>
              <a:latin typeface="Calibri"/>
              <a:ea typeface="Calibri"/>
              <a:cs typeface="Calibri"/>
              <a:sym typeface="Calibri"/>
            </a:endParaRPr>
          </a:p>
        </p:txBody>
      </p:sp>
      <p:sp>
        <p:nvSpPr>
          <p:cNvPr id="550" name="Google Shape;550;p25"/>
          <p:cNvSpPr/>
          <p:nvPr/>
        </p:nvSpPr>
        <p:spPr>
          <a:xfrm>
            <a:off x="3310128" y="3749040"/>
            <a:ext cx="73200" cy="128100"/>
          </a:xfrm>
          <a:prstGeom prst="rect">
            <a:avLst/>
          </a:prstGeom>
          <a:solidFill>
            <a:srgbClr val="678AA2"/>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5"/>
          <p:cNvSpPr/>
          <p:nvPr/>
        </p:nvSpPr>
        <p:spPr>
          <a:xfrm>
            <a:off x="3456432" y="3730752"/>
            <a:ext cx="2395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i="0" lang="en-US" sz="950" u="none" cap="none" strike="noStrike">
                <a:solidFill>
                  <a:srgbClr val="2C2C2C"/>
                </a:solidFill>
                <a:latin typeface="Calibri"/>
                <a:ea typeface="Calibri"/>
                <a:cs typeface="Calibri"/>
                <a:sym typeface="Calibri"/>
              </a:rPr>
              <a:t>Marketing Quote</a:t>
            </a:r>
            <a:r>
              <a:rPr b="1" lang="en-US" sz="950">
                <a:solidFill>
                  <a:srgbClr val="2C2C2C"/>
                </a:solidFill>
                <a:latin typeface="Calibri"/>
                <a:ea typeface="Calibri"/>
                <a:cs typeface="Calibri"/>
                <a:sym typeface="Calibri"/>
              </a:rPr>
              <a:t> Extraction</a:t>
            </a:r>
            <a:endParaRPr b="0" i="0" sz="950" u="none" cap="none" strike="noStrike">
              <a:solidFill>
                <a:schemeClr val="dk1"/>
              </a:solidFill>
              <a:latin typeface="Calibri"/>
              <a:ea typeface="Calibri"/>
              <a:cs typeface="Calibri"/>
              <a:sym typeface="Calibri"/>
            </a:endParaRPr>
          </a:p>
        </p:txBody>
      </p:sp>
      <p:sp>
        <p:nvSpPr>
          <p:cNvPr id="552" name="Google Shape;552;p25"/>
          <p:cNvSpPr/>
          <p:nvPr/>
        </p:nvSpPr>
        <p:spPr>
          <a:xfrm>
            <a:off x="3456432" y="3931920"/>
            <a:ext cx="239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Multi-length quote extended extraction with </a:t>
            </a:r>
            <a:r>
              <a:rPr lang="en-US" sz="850">
                <a:solidFill>
                  <a:srgbClr val="888888"/>
                </a:solidFill>
                <a:latin typeface="Calibri"/>
                <a:ea typeface="Calibri"/>
                <a:cs typeface="Calibri"/>
                <a:sym typeface="Calibri"/>
              </a:rPr>
              <a:t>adjustable </a:t>
            </a:r>
            <a:r>
              <a:rPr b="0" i="0" lang="en-US" sz="850" u="none" cap="none" strike="noStrike">
                <a:solidFill>
                  <a:srgbClr val="888888"/>
                </a:solidFill>
                <a:latin typeface="Calibri"/>
                <a:ea typeface="Calibri"/>
                <a:cs typeface="Calibri"/>
                <a:sym typeface="Calibri"/>
              </a:rPr>
              <a:t> keyword prioritisation</a:t>
            </a:r>
            <a:endParaRPr b="0" i="0" sz="850" u="none" cap="none" strike="noStrike">
              <a:solidFill>
                <a:schemeClr val="dk1"/>
              </a:solidFill>
              <a:latin typeface="Calibri"/>
              <a:ea typeface="Calibri"/>
              <a:cs typeface="Calibri"/>
              <a:sym typeface="Calibri"/>
            </a:endParaRPr>
          </a:p>
        </p:txBody>
      </p:sp>
      <p:sp>
        <p:nvSpPr>
          <p:cNvPr id="553" name="Google Shape;553;p25"/>
          <p:cNvSpPr/>
          <p:nvPr/>
        </p:nvSpPr>
        <p:spPr>
          <a:xfrm>
            <a:off x="5824728" y="2505456"/>
            <a:ext cx="457200" cy="237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474F"/>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554" name="Google Shape;554;p25"/>
          <p:cNvSpPr/>
          <p:nvPr/>
        </p:nvSpPr>
        <p:spPr>
          <a:xfrm>
            <a:off x="6291072" y="804672"/>
            <a:ext cx="2606100" cy="3931800"/>
          </a:xfrm>
          <a:prstGeom prst="rect">
            <a:avLst/>
          </a:prstGeom>
          <a:solidFill>
            <a:srgbClr val="F0F7FF"/>
          </a:solidFill>
          <a:ln cap="flat" cmpd="sng" w="9525">
            <a:solidFill>
              <a:srgbClr val="DDDDDD"/>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5"/>
          <p:cNvSpPr/>
          <p:nvPr/>
        </p:nvSpPr>
        <p:spPr>
          <a:xfrm>
            <a:off x="6291072" y="804672"/>
            <a:ext cx="2606100" cy="347400"/>
          </a:xfrm>
          <a:prstGeom prst="rect">
            <a:avLst/>
          </a:prstGeom>
          <a:solidFill>
            <a:srgbClr val="678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5"/>
          <p:cNvSpPr/>
          <p:nvPr/>
        </p:nvSpPr>
        <p:spPr>
          <a:xfrm>
            <a:off x="6382512" y="804672"/>
            <a:ext cx="2423100" cy="347400"/>
          </a:xfrm>
          <a:prstGeom prst="rect">
            <a:avLst/>
          </a:prstGeom>
          <a:solidFill>
            <a:srgbClr val="1565A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  </a:t>
            </a:r>
            <a:r>
              <a:rPr b="1" i="0" lang="en-US" sz="1100" u="none" cap="none" strike="noStrike">
                <a:solidFill>
                  <a:srgbClr val="FFFFFF"/>
                </a:solidFill>
                <a:latin typeface="Calibri"/>
                <a:ea typeface="Calibri"/>
                <a:cs typeface="Calibri"/>
                <a:sym typeface="Calibri"/>
              </a:rPr>
              <a:t>03  Outputs &amp; Dashboard</a:t>
            </a:r>
            <a:endParaRPr b="0" i="0" sz="1100" u="none" cap="none" strike="noStrike">
              <a:solidFill>
                <a:schemeClr val="dk1"/>
              </a:solidFill>
              <a:latin typeface="Calibri"/>
              <a:ea typeface="Calibri"/>
              <a:cs typeface="Calibri"/>
              <a:sym typeface="Calibri"/>
            </a:endParaRPr>
          </a:p>
        </p:txBody>
      </p:sp>
      <p:sp>
        <p:nvSpPr>
          <p:cNvPr id="557" name="Google Shape;557;p25"/>
          <p:cNvSpPr/>
          <p:nvPr/>
        </p:nvSpPr>
        <p:spPr>
          <a:xfrm>
            <a:off x="6382512" y="1261872"/>
            <a:ext cx="73200" cy="128100"/>
          </a:xfrm>
          <a:prstGeom prst="rect">
            <a:avLst/>
          </a:prstGeom>
          <a:solidFill>
            <a:srgbClr val="678AA2"/>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5"/>
          <p:cNvSpPr/>
          <p:nvPr/>
        </p:nvSpPr>
        <p:spPr>
          <a:xfrm>
            <a:off x="6528816" y="1243584"/>
            <a:ext cx="2267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i="0" lang="en-US" sz="950" u="none" cap="none" strike="noStrike">
                <a:solidFill>
                  <a:srgbClr val="2C2C2C"/>
                </a:solidFill>
                <a:latin typeface="Calibri"/>
                <a:ea typeface="Calibri"/>
                <a:cs typeface="Calibri"/>
                <a:sym typeface="Calibri"/>
              </a:rPr>
              <a:t>dashboard_master.csv</a:t>
            </a:r>
            <a:endParaRPr b="0" i="0" sz="950" u="none" cap="none" strike="noStrike">
              <a:solidFill>
                <a:schemeClr val="dk1"/>
              </a:solidFill>
              <a:latin typeface="Calibri"/>
              <a:ea typeface="Calibri"/>
              <a:cs typeface="Calibri"/>
              <a:sym typeface="Calibri"/>
            </a:endParaRPr>
          </a:p>
        </p:txBody>
      </p:sp>
      <p:sp>
        <p:nvSpPr>
          <p:cNvPr id="559" name="Google Shape;559;p25"/>
          <p:cNvSpPr/>
          <p:nvPr/>
        </p:nvSpPr>
        <p:spPr>
          <a:xfrm>
            <a:off x="6528816" y="1444752"/>
            <a:ext cx="22677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57 columns — ratings, sentiment, aspects, motivations, semantic themes</a:t>
            </a:r>
            <a:endParaRPr b="0" i="0" sz="850" u="none" cap="none" strike="noStrike">
              <a:solidFill>
                <a:schemeClr val="dk1"/>
              </a:solidFill>
              <a:latin typeface="Calibri"/>
              <a:ea typeface="Calibri"/>
              <a:cs typeface="Calibri"/>
              <a:sym typeface="Calibri"/>
            </a:endParaRPr>
          </a:p>
        </p:txBody>
      </p:sp>
      <p:sp>
        <p:nvSpPr>
          <p:cNvPr id="560" name="Google Shape;560;p25"/>
          <p:cNvSpPr/>
          <p:nvPr/>
        </p:nvSpPr>
        <p:spPr>
          <a:xfrm>
            <a:off x="6382512" y="1883664"/>
            <a:ext cx="73200" cy="128100"/>
          </a:xfrm>
          <a:prstGeom prst="rect">
            <a:avLst/>
          </a:prstGeom>
          <a:solidFill>
            <a:srgbClr val="678AA2"/>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5"/>
          <p:cNvSpPr/>
          <p:nvPr/>
        </p:nvSpPr>
        <p:spPr>
          <a:xfrm>
            <a:off x="6528816" y="1865376"/>
            <a:ext cx="2267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i="0" lang="en-US" sz="950" u="none" cap="none" strike="noStrike">
                <a:solidFill>
                  <a:srgbClr val="2C2C2C"/>
                </a:solidFill>
                <a:latin typeface="Calibri"/>
                <a:ea typeface="Calibri"/>
                <a:cs typeface="Calibri"/>
                <a:sym typeface="Calibri"/>
              </a:rPr>
              <a:t>Google Sheets sync</a:t>
            </a:r>
            <a:endParaRPr b="0" i="0" sz="950" u="none" cap="none" strike="noStrike">
              <a:solidFill>
                <a:schemeClr val="dk1"/>
              </a:solidFill>
              <a:latin typeface="Calibri"/>
              <a:ea typeface="Calibri"/>
              <a:cs typeface="Calibri"/>
              <a:sym typeface="Calibri"/>
            </a:endParaRPr>
          </a:p>
        </p:txBody>
      </p:sp>
      <p:sp>
        <p:nvSpPr>
          <p:cNvPr id="562" name="Google Shape;562;p25"/>
          <p:cNvSpPr/>
          <p:nvPr/>
        </p:nvSpPr>
        <p:spPr>
          <a:xfrm>
            <a:off x="6528816" y="2066544"/>
            <a:ext cx="22677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Standalone notebook pushes CSV to Sheets via gspread API</a:t>
            </a:r>
            <a:endParaRPr b="0" i="0" sz="850" u="none" cap="none" strike="noStrike">
              <a:solidFill>
                <a:schemeClr val="dk1"/>
              </a:solidFill>
              <a:latin typeface="Calibri"/>
              <a:ea typeface="Calibri"/>
              <a:cs typeface="Calibri"/>
              <a:sym typeface="Calibri"/>
            </a:endParaRPr>
          </a:p>
        </p:txBody>
      </p:sp>
      <p:sp>
        <p:nvSpPr>
          <p:cNvPr id="563" name="Google Shape;563;p25"/>
          <p:cNvSpPr/>
          <p:nvPr/>
        </p:nvSpPr>
        <p:spPr>
          <a:xfrm>
            <a:off x="6382512" y="2505456"/>
            <a:ext cx="73200" cy="128100"/>
          </a:xfrm>
          <a:prstGeom prst="rect">
            <a:avLst/>
          </a:prstGeom>
          <a:solidFill>
            <a:srgbClr val="678AA2"/>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5"/>
          <p:cNvSpPr/>
          <p:nvPr/>
        </p:nvSpPr>
        <p:spPr>
          <a:xfrm>
            <a:off x="6528816" y="2487168"/>
            <a:ext cx="2267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i="0" lang="en-US" sz="950" u="none" cap="none" strike="noStrike">
                <a:solidFill>
                  <a:srgbClr val="2C2C2C"/>
                </a:solidFill>
                <a:latin typeface="Calibri"/>
                <a:ea typeface="Calibri"/>
                <a:cs typeface="Calibri"/>
                <a:sym typeface="Calibri"/>
              </a:rPr>
              <a:t>Looker Studio</a:t>
            </a:r>
            <a:endParaRPr b="0" i="0" sz="950" u="none" cap="none" strike="noStrike">
              <a:solidFill>
                <a:schemeClr val="dk1"/>
              </a:solidFill>
              <a:latin typeface="Calibri"/>
              <a:ea typeface="Calibri"/>
              <a:cs typeface="Calibri"/>
              <a:sym typeface="Calibri"/>
            </a:endParaRPr>
          </a:p>
        </p:txBody>
      </p:sp>
      <p:sp>
        <p:nvSpPr>
          <p:cNvPr id="565" name="Google Shape;565;p25"/>
          <p:cNvSpPr/>
          <p:nvPr/>
        </p:nvSpPr>
        <p:spPr>
          <a:xfrm>
            <a:off x="6528816" y="2688336"/>
            <a:ext cx="22677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3-page interactive dashboard connected to Google Sheets</a:t>
            </a:r>
            <a:endParaRPr b="0" i="0" sz="850" u="none" cap="none" strike="noStrike">
              <a:solidFill>
                <a:schemeClr val="dk1"/>
              </a:solidFill>
              <a:latin typeface="Calibri"/>
              <a:ea typeface="Calibri"/>
              <a:cs typeface="Calibri"/>
              <a:sym typeface="Calibri"/>
            </a:endParaRPr>
          </a:p>
        </p:txBody>
      </p:sp>
      <p:sp>
        <p:nvSpPr>
          <p:cNvPr id="566" name="Google Shape;566;p25"/>
          <p:cNvSpPr/>
          <p:nvPr/>
        </p:nvSpPr>
        <p:spPr>
          <a:xfrm>
            <a:off x="6382512" y="3127248"/>
            <a:ext cx="73200" cy="128100"/>
          </a:xfrm>
          <a:prstGeom prst="rect">
            <a:avLst/>
          </a:prstGeom>
          <a:solidFill>
            <a:srgbClr val="678AA2"/>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5"/>
          <p:cNvSpPr/>
          <p:nvPr/>
        </p:nvSpPr>
        <p:spPr>
          <a:xfrm>
            <a:off x="6528816" y="3108960"/>
            <a:ext cx="2267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i="0" lang="en-US" sz="950" u="none" cap="none" strike="noStrike">
                <a:solidFill>
                  <a:srgbClr val="2C2C2C"/>
                </a:solidFill>
                <a:latin typeface="Calibri"/>
                <a:ea typeface="Calibri"/>
                <a:cs typeface="Calibri"/>
                <a:sym typeface="Calibri"/>
              </a:rPr>
              <a:t>Export CSVs</a:t>
            </a:r>
            <a:endParaRPr b="0" i="0" sz="950" u="none" cap="none" strike="noStrike">
              <a:solidFill>
                <a:schemeClr val="dk1"/>
              </a:solidFill>
              <a:latin typeface="Calibri"/>
              <a:ea typeface="Calibri"/>
              <a:cs typeface="Calibri"/>
              <a:sym typeface="Calibri"/>
            </a:endParaRPr>
          </a:p>
        </p:txBody>
      </p:sp>
      <p:sp>
        <p:nvSpPr>
          <p:cNvPr id="568" name="Google Shape;568;p25"/>
          <p:cNvSpPr/>
          <p:nvPr/>
        </p:nvSpPr>
        <p:spPr>
          <a:xfrm>
            <a:off x="6528816" y="3310128"/>
            <a:ext cx="22677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Sentiment summary, marketing quotes, statistical report</a:t>
            </a:r>
            <a:endParaRPr b="0" i="0" sz="850" u="none" cap="none" strike="noStrike">
              <a:solidFill>
                <a:schemeClr val="dk1"/>
              </a:solidFill>
              <a:latin typeface="Calibri"/>
              <a:ea typeface="Calibri"/>
              <a:cs typeface="Calibri"/>
              <a:sym typeface="Calibri"/>
            </a:endParaRPr>
          </a:p>
        </p:txBody>
      </p:sp>
      <p:sp>
        <p:nvSpPr>
          <p:cNvPr id="569" name="Google Shape;569;p25"/>
          <p:cNvSpPr/>
          <p:nvPr/>
        </p:nvSpPr>
        <p:spPr>
          <a:xfrm>
            <a:off x="6382512" y="3749040"/>
            <a:ext cx="73200" cy="128100"/>
          </a:xfrm>
          <a:prstGeom prst="rect">
            <a:avLst/>
          </a:prstGeom>
          <a:solidFill>
            <a:srgbClr val="678AA2"/>
          </a:solidFill>
          <a:ln cap="flat" cmpd="sng" w="12700">
            <a:solidFill>
              <a:srgbClr val="156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5"/>
          <p:cNvSpPr/>
          <p:nvPr/>
        </p:nvSpPr>
        <p:spPr>
          <a:xfrm>
            <a:off x="6528816" y="3730752"/>
            <a:ext cx="2267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950"/>
              <a:buFont typeface="Calibri"/>
              <a:buNone/>
            </a:pPr>
            <a:r>
              <a:rPr b="1" i="0" lang="en-US" sz="950" u="none" cap="none" strike="noStrike">
                <a:solidFill>
                  <a:srgbClr val="2C2C2C"/>
                </a:solidFill>
                <a:latin typeface="Calibri"/>
                <a:ea typeface="Calibri"/>
                <a:cs typeface="Calibri"/>
                <a:sym typeface="Calibri"/>
              </a:rPr>
              <a:t>Marketing quotes doc</a:t>
            </a:r>
            <a:endParaRPr b="0" i="0" sz="950" u="none" cap="none" strike="noStrike">
              <a:solidFill>
                <a:schemeClr val="dk1"/>
              </a:solidFill>
              <a:latin typeface="Calibri"/>
              <a:ea typeface="Calibri"/>
              <a:cs typeface="Calibri"/>
              <a:sym typeface="Calibri"/>
            </a:endParaRPr>
          </a:p>
        </p:txBody>
      </p:sp>
      <p:sp>
        <p:nvSpPr>
          <p:cNvPr id="571" name="Google Shape;571;p25"/>
          <p:cNvSpPr/>
          <p:nvPr/>
        </p:nvSpPr>
        <p:spPr>
          <a:xfrm>
            <a:off x="6528816" y="3931920"/>
            <a:ext cx="22677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850"/>
              <a:buFont typeface="Calibri"/>
              <a:buNone/>
            </a:pPr>
            <a:r>
              <a:rPr b="0" i="0" lang="en-US" sz="850" u="none" cap="none" strike="noStrike">
                <a:solidFill>
                  <a:srgbClr val="888888"/>
                </a:solidFill>
                <a:latin typeface="Calibri"/>
                <a:ea typeface="Calibri"/>
                <a:cs typeface="Calibri"/>
                <a:sym typeface="Calibri"/>
              </a:rPr>
              <a:t>Word document with short, medium, and long quote versions per course</a:t>
            </a:r>
            <a:endParaRPr b="0" i="0" sz="850" u="none" cap="none" strike="noStrike">
              <a:solidFill>
                <a:schemeClr val="dk1"/>
              </a:solidFill>
              <a:latin typeface="Calibri"/>
              <a:ea typeface="Calibri"/>
              <a:cs typeface="Calibri"/>
              <a:sym typeface="Calibri"/>
            </a:endParaRPr>
          </a:p>
        </p:txBody>
      </p:sp>
      <p:sp>
        <p:nvSpPr>
          <p:cNvPr id="572" name="Google Shape;572;p25"/>
          <p:cNvSpPr/>
          <p:nvPr/>
        </p:nvSpPr>
        <p:spPr>
          <a:xfrm>
            <a:off x="256032" y="4818888"/>
            <a:ext cx="8641200" cy="219600"/>
          </a:xfrm>
          <a:prstGeom prst="rect">
            <a:avLst/>
          </a:prstGeom>
          <a:solidFill>
            <a:srgbClr val="F0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5"/>
          <p:cNvSpPr/>
          <p:nvPr/>
        </p:nvSpPr>
        <p:spPr>
          <a:xfrm>
            <a:off x="256032" y="4818888"/>
            <a:ext cx="54900" cy="219600"/>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5"/>
          <p:cNvSpPr/>
          <p:nvPr/>
        </p:nvSpPr>
        <p:spPr>
          <a:xfrm>
            <a:off x="384048" y="4818888"/>
            <a:ext cx="8412600" cy="219600"/>
          </a:xfrm>
          <a:prstGeom prst="rect">
            <a:avLst/>
          </a:prstGeom>
          <a:solidFill>
            <a:srgbClr val="F0F7FF"/>
          </a:solidFill>
          <a:ln>
            <a:noFill/>
          </a:ln>
        </p:spPr>
        <p:txBody>
          <a:bodyPr anchorCtr="0" anchor="ctr" bIns="0" lIns="0" spcFirstLastPara="1" rIns="0" wrap="square" tIns="0">
            <a:noAutofit/>
          </a:bodyPr>
          <a:lstStyle/>
          <a:p>
            <a:pPr indent="0" lvl="0" marL="0" marR="0" rtl="0" algn="l">
              <a:spcBef>
                <a:spcPts val="0"/>
              </a:spcBef>
              <a:spcAft>
                <a:spcPts val="0"/>
              </a:spcAft>
              <a:buClr>
                <a:srgbClr val="E8474F"/>
              </a:buClr>
              <a:buSzPts val="850"/>
              <a:buFont typeface="Calibri"/>
              <a:buNone/>
            </a:pPr>
            <a:r>
              <a:rPr b="1" i="0" lang="en-US" sz="850" u="none" cap="none" strike="noStrike">
                <a:solidFill>
                  <a:srgbClr val="1565A0"/>
                </a:solidFill>
                <a:latin typeface="Calibri"/>
                <a:ea typeface="Calibri"/>
                <a:cs typeface="Calibri"/>
                <a:sym typeface="Calibri"/>
              </a:rPr>
              <a:t>To update with new data: add </a:t>
            </a:r>
            <a:r>
              <a:rPr b="1" lang="en-US" sz="850">
                <a:solidFill>
                  <a:srgbClr val="1565A0"/>
                </a:solidFill>
                <a:latin typeface="Calibri"/>
                <a:ea typeface="Calibri"/>
                <a:cs typeface="Calibri"/>
                <a:sym typeface="Calibri"/>
              </a:rPr>
              <a:t>changes to pipeline </a:t>
            </a:r>
            <a:r>
              <a:rPr b="1" i="0" lang="en-US" sz="850" u="none" cap="none" strike="noStrike">
                <a:solidFill>
                  <a:srgbClr val="1565A0"/>
                </a:solidFill>
                <a:latin typeface="Calibri"/>
                <a:ea typeface="Calibri"/>
                <a:cs typeface="Calibri"/>
                <a:sym typeface="Calibri"/>
              </a:rPr>
              <a:t>→  run pipeline  →  run analysis notebooks  →  run Sheets sync  →  Looker refreshes automatically</a:t>
            </a:r>
            <a:endParaRPr b="0" i="0" sz="850" u="none" cap="none" strike="noStrike">
              <a:solidFill>
                <a:srgbClr val="1565A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9" name="Shape 579"/>
        <p:cNvGrpSpPr/>
        <p:nvPr/>
      </p:nvGrpSpPr>
      <p:grpSpPr>
        <a:xfrm>
          <a:off x="0" y="0"/>
          <a:ext cx="0" cy="0"/>
          <a:chOff x="0" y="0"/>
          <a:chExt cx="0" cy="0"/>
        </a:xfrm>
      </p:grpSpPr>
      <p:sp>
        <p:nvSpPr>
          <p:cNvPr id="580" name="Google Shape;580;p26"/>
          <p:cNvSpPr txBox="1"/>
          <p:nvPr>
            <p:ph type="title"/>
          </p:nvPr>
        </p:nvSpPr>
        <p:spPr>
          <a:xfrm>
            <a:off x="1045125" y="0"/>
            <a:ext cx="8520600" cy="733500"/>
          </a:xfrm>
          <a:prstGeom prst="rect">
            <a:avLst/>
          </a:prstGeom>
          <a:solidFill>
            <a:srgbClr val="000000"/>
          </a:solidFill>
        </p:spPr>
        <p:txBody>
          <a:bodyPr anchorCtr="0" anchor="t" bIns="91425" lIns="91425" spcFirstLastPara="1" rIns="91425" wrap="square" tIns="91425">
            <a:normAutofit/>
          </a:bodyPr>
          <a:lstStyle/>
          <a:p>
            <a:pPr indent="0" lvl="0" marL="0" rtl="0" algn="l">
              <a:spcBef>
                <a:spcPts val="0"/>
              </a:spcBef>
              <a:spcAft>
                <a:spcPts val="0"/>
              </a:spcAft>
              <a:buNone/>
            </a:pPr>
            <a:r>
              <a:rPr lang="en-US">
                <a:latin typeface="Trebuchet MS"/>
                <a:ea typeface="Trebuchet MS"/>
                <a:cs typeface="Trebuchet MS"/>
                <a:sym typeface="Trebuchet MS"/>
              </a:rPr>
              <a:t>DELIVERY PACKAGES</a:t>
            </a:r>
            <a:endParaRPr>
              <a:latin typeface="Trebuchet MS"/>
              <a:ea typeface="Trebuchet MS"/>
              <a:cs typeface="Trebuchet MS"/>
              <a:sym typeface="Trebuchet MS"/>
            </a:endParaRPr>
          </a:p>
        </p:txBody>
      </p:sp>
      <p:sp>
        <p:nvSpPr>
          <p:cNvPr id="581" name="Google Shape;581;p26"/>
          <p:cNvSpPr txBox="1"/>
          <p:nvPr>
            <p:ph idx="1" type="body"/>
          </p:nvPr>
        </p:nvSpPr>
        <p:spPr>
          <a:xfrm>
            <a:off x="2703975" y="1017725"/>
            <a:ext cx="6128400" cy="1803600"/>
          </a:xfrm>
          <a:prstGeom prst="rect">
            <a:avLst/>
          </a:prstGeom>
          <a:solidFill>
            <a:srgbClr val="F0F7FF"/>
          </a:solidFill>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b="1" lang="en-US" sz="5600">
                <a:solidFill>
                  <a:srgbClr val="1565A0"/>
                </a:solidFill>
                <a:latin typeface="Maven Pro"/>
                <a:ea typeface="Maven Pro"/>
                <a:cs typeface="Maven Pro"/>
                <a:sym typeface="Maven Pro"/>
              </a:rPr>
              <a:t>MARKETING </a:t>
            </a:r>
            <a:r>
              <a:rPr b="1" lang="en-US" sz="5600" u="sng">
                <a:solidFill>
                  <a:schemeClr val="hlink"/>
                </a:solidFill>
                <a:latin typeface="Maven Pro"/>
                <a:ea typeface="Maven Pro"/>
                <a:cs typeface="Maven Pro"/>
                <a:sym typeface="Maven Pro"/>
                <a:hlinkClick r:id="rId3"/>
              </a:rPr>
              <a:t>INSIGHTS REPORT</a:t>
            </a:r>
            <a:endParaRPr b="1" sz="5600">
              <a:solidFill>
                <a:srgbClr val="1565A0"/>
              </a:solidFill>
              <a:latin typeface="Maven Pro"/>
              <a:ea typeface="Maven Pro"/>
              <a:cs typeface="Maven Pro"/>
              <a:sym typeface="Maven Pro"/>
            </a:endParaRPr>
          </a:p>
          <a:p>
            <a:pPr indent="-317500" lvl="0" marL="457200" rtl="0" algn="l">
              <a:spcBef>
                <a:spcPts val="1200"/>
              </a:spcBef>
              <a:spcAft>
                <a:spcPts val="0"/>
              </a:spcAft>
              <a:buClr>
                <a:srgbClr val="1565A0"/>
              </a:buClr>
              <a:buSzPct val="100000"/>
              <a:buFont typeface="Maven Pro"/>
              <a:buChar char="●"/>
            </a:pPr>
            <a:r>
              <a:rPr b="1" lang="en-US" sz="5600">
                <a:solidFill>
                  <a:srgbClr val="1565A0"/>
                </a:solidFill>
                <a:latin typeface="Maven Pro"/>
                <a:ea typeface="Maven Pro"/>
                <a:cs typeface="Maven Pro"/>
                <a:sym typeface="Maven Pro"/>
              </a:rPr>
              <a:t>DRIVE:</a:t>
            </a:r>
            <a:endParaRPr b="1" sz="5600">
              <a:solidFill>
                <a:srgbClr val="1565A0"/>
              </a:solidFill>
              <a:latin typeface="Maven Pro"/>
              <a:ea typeface="Maven Pro"/>
              <a:cs typeface="Maven Pro"/>
              <a:sym typeface="Maven Pro"/>
            </a:endParaRPr>
          </a:p>
          <a:p>
            <a:pPr indent="-317500" lvl="1" marL="914400" rtl="0" algn="l">
              <a:spcBef>
                <a:spcPts val="0"/>
              </a:spcBef>
              <a:spcAft>
                <a:spcPts val="0"/>
              </a:spcAft>
              <a:buClr>
                <a:srgbClr val="1565A0"/>
              </a:buClr>
              <a:buSzPct val="100000"/>
              <a:buFont typeface="Maven Pro"/>
              <a:buChar char="○"/>
            </a:pPr>
            <a:r>
              <a:rPr b="1" lang="en-US" sz="5600" u="sng">
                <a:solidFill>
                  <a:schemeClr val="hlink"/>
                </a:solidFill>
                <a:latin typeface="Maven Pro"/>
                <a:ea typeface="Maven Pro"/>
                <a:cs typeface="Maven Pro"/>
                <a:sym typeface="Maven Pro"/>
                <a:hlinkClick r:id="rId4"/>
              </a:rPr>
              <a:t>QUOTES POOL</a:t>
            </a:r>
            <a:endParaRPr b="1" sz="5600">
              <a:solidFill>
                <a:srgbClr val="1565A0"/>
              </a:solidFill>
              <a:latin typeface="Maven Pro"/>
              <a:ea typeface="Maven Pro"/>
              <a:cs typeface="Maven Pro"/>
              <a:sym typeface="Maven Pro"/>
            </a:endParaRPr>
          </a:p>
          <a:p>
            <a:pPr indent="-317500" lvl="1" marL="914400" rtl="0" algn="l">
              <a:spcBef>
                <a:spcPts val="0"/>
              </a:spcBef>
              <a:spcAft>
                <a:spcPts val="0"/>
              </a:spcAft>
              <a:buClr>
                <a:srgbClr val="1565A0"/>
              </a:buClr>
              <a:buSzPct val="100000"/>
              <a:buFont typeface="Maven Pro"/>
              <a:buChar char="○"/>
            </a:pPr>
            <a:r>
              <a:rPr b="1" lang="en-US" sz="5600" u="sng">
                <a:solidFill>
                  <a:schemeClr val="hlink"/>
                </a:solidFill>
                <a:latin typeface="Maven Pro"/>
                <a:ea typeface="Maven Pro"/>
                <a:cs typeface="Maven Pro"/>
                <a:sym typeface="Maven Pro"/>
                <a:hlinkClick r:id="rId5"/>
              </a:rPr>
              <a:t>STUDENT EXPERIENCE VISUALS</a:t>
            </a:r>
            <a:endParaRPr b="1" sz="5600">
              <a:solidFill>
                <a:srgbClr val="1565A0"/>
              </a:solidFill>
              <a:latin typeface="Maven Pro"/>
              <a:ea typeface="Maven Pro"/>
              <a:cs typeface="Maven Pro"/>
              <a:sym typeface="Maven Pro"/>
            </a:endParaRPr>
          </a:p>
          <a:p>
            <a:pPr indent="-317500" lvl="1" marL="914400" rtl="0" algn="l">
              <a:spcBef>
                <a:spcPts val="0"/>
              </a:spcBef>
              <a:spcAft>
                <a:spcPts val="0"/>
              </a:spcAft>
              <a:buClr>
                <a:srgbClr val="1565A0"/>
              </a:buClr>
              <a:buSzPct val="100000"/>
              <a:buFont typeface="Maven Pro"/>
              <a:buChar char="○"/>
            </a:pPr>
            <a:r>
              <a:rPr b="1" lang="en-US" sz="5600" u="sng">
                <a:solidFill>
                  <a:schemeClr val="hlink"/>
                </a:solidFill>
                <a:latin typeface="Maven Pro"/>
                <a:ea typeface="Maven Pro"/>
                <a:cs typeface="Maven Pro"/>
                <a:sym typeface="Maven Pro"/>
                <a:hlinkClick r:id="rId6"/>
              </a:rPr>
              <a:t>SENTIMENT VISUALS</a:t>
            </a:r>
            <a:endParaRPr b="1" sz="5600">
              <a:solidFill>
                <a:srgbClr val="1565A0"/>
              </a:solidFill>
              <a:latin typeface="Maven Pro"/>
              <a:ea typeface="Maven Pro"/>
              <a:cs typeface="Maven Pro"/>
              <a:sym typeface="Maven Pro"/>
            </a:endParaRPr>
          </a:p>
          <a:p>
            <a:pPr indent="0" lvl="0" marL="0" rtl="0" algn="l">
              <a:spcBef>
                <a:spcPts val="1200"/>
              </a:spcBef>
              <a:spcAft>
                <a:spcPts val="0"/>
              </a:spcAft>
              <a:buNone/>
            </a:pPr>
            <a:r>
              <a:rPr b="1" lang="en-US" sz="5600" u="sng">
                <a:solidFill>
                  <a:schemeClr val="hlink"/>
                </a:solidFill>
                <a:latin typeface="Maven Pro"/>
                <a:ea typeface="Maven Pro"/>
                <a:cs typeface="Maven Pro"/>
                <a:sym typeface="Maven Pro"/>
                <a:hlinkClick r:id="rId7"/>
              </a:rPr>
              <a:t>DASHBOARD</a:t>
            </a:r>
            <a:endParaRPr b="1" sz="5600">
              <a:solidFill>
                <a:srgbClr val="1565A0"/>
              </a:solidFill>
              <a:latin typeface="Maven Pro"/>
              <a:ea typeface="Maven Pro"/>
              <a:cs typeface="Maven Pro"/>
              <a:sym typeface="Maven Pro"/>
            </a:endParaRPr>
          </a:p>
          <a:p>
            <a:pPr indent="0" lvl="0" marL="914400" rtl="0" algn="l">
              <a:spcBef>
                <a:spcPts val="1200"/>
              </a:spcBef>
              <a:spcAft>
                <a:spcPts val="0"/>
              </a:spcAft>
              <a:buNone/>
            </a:pPr>
            <a:r>
              <a:t/>
            </a:r>
            <a:endParaRPr b="1">
              <a:solidFill>
                <a:srgbClr val="1565A0"/>
              </a:solidFill>
            </a:endParaRPr>
          </a:p>
          <a:p>
            <a:pPr indent="0" lvl="0" marL="0" rtl="0" algn="l">
              <a:spcBef>
                <a:spcPts val="1200"/>
              </a:spcBef>
              <a:spcAft>
                <a:spcPts val="1200"/>
              </a:spcAft>
              <a:buNone/>
            </a:pPr>
            <a:r>
              <a:t/>
            </a:r>
            <a:endParaRPr b="1">
              <a:solidFill>
                <a:srgbClr val="1565A0"/>
              </a:solidFill>
            </a:endParaRPr>
          </a:p>
        </p:txBody>
      </p:sp>
      <p:sp>
        <p:nvSpPr>
          <p:cNvPr id="582" name="Google Shape;582;p26"/>
          <p:cNvSpPr txBox="1"/>
          <p:nvPr>
            <p:ph idx="2" type="body"/>
          </p:nvPr>
        </p:nvSpPr>
        <p:spPr>
          <a:xfrm>
            <a:off x="4832400" y="2600325"/>
            <a:ext cx="3999900" cy="196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pic>
        <p:nvPicPr>
          <p:cNvPr id="583" name="Google Shape;583;p26" title="Gemini_Generated_Image_sy3x4hsy3x4hsy3x.png"/>
          <p:cNvPicPr preferRelativeResize="0"/>
          <p:nvPr/>
        </p:nvPicPr>
        <p:blipFill rotWithShape="1">
          <a:blip r:embed="rId8">
            <a:alphaModFix/>
          </a:blip>
          <a:srcRect b="0" l="0" r="50209" t="0"/>
          <a:stretch/>
        </p:blipFill>
        <p:spPr>
          <a:xfrm>
            <a:off x="311700" y="1017725"/>
            <a:ext cx="2344651" cy="1803533"/>
          </a:xfrm>
          <a:prstGeom prst="rect">
            <a:avLst/>
          </a:prstGeom>
          <a:noFill/>
          <a:ln>
            <a:noFill/>
          </a:ln>
        </p:spPr>
      </p:pic>
      <p:pic>
        <p:nvPicPr>
          <p:cNvPr id="584" name="Google Shape;584;p26" title="Gemini_Generated_Image_sy3x4hsy3x4hsy3x.png"/>
          <p:cNvPicPr preferRelativeResize="0"/>
          <p:nvPr/>
        </p:nvPicPr>
        <p:blipFill rotWithShape="1">
          <a:blip r:embed="rId8">
            <a:alphaModFix/>
          </a:blip>
          <a:srcRect b="0" l="50833" r="0" t="0"/>
          <a:stretch/>
        </p:blipFill>
        <p:spPr>
          <a:xfrm>
            <a:off x="311700" y="2990850"/>
            <a:ext cx="2344651" cy="1826450"/>
          </a:xfrm>
          <a:prstGeom prst="rect">
            <a:avLst/>
          </a:prstGeom>
          <a:noFill/>
          <a:ln>
            <a:noFill/>
          </a:ln>
        </p:spPr>
      </p:pic>
      <p:sp>
        <p:nvSpPr>
          <p:cNvPr id="585" name="Google Shape;585;p26"/>
          <p:cNvSpPr txBox="1"/>
          <p:nvPr>
            <p:ph idx="1" type="body"/>
          </p:nvPr>
        </p:nvSpPr>
        <p:spPr>
          <a:xfrm>
            <a:off x="2703975" y="3002275"/>
            <a:ext cx="6128400" cy="1803600"/>
          </a:xfrm>
          <a:prstGeom prst="rect">
            <a:avLst/>
          </a:prstGeom>
          <a:solidFill>
            <a:srgbClr val="F0F7FF"/>
          </a:solidFill>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b="1" lang="en-US" sz="5600">
                <a:solidFill>
                  <a:srgbClr val="1565A0"/>
                </a:solidFill>
                <a:latin typeface="Maven Pro"/>
                <a:ea typeface="Maven Pro"/>
                <a:cs typeface="Maven Pro"/>
                <a:sym typeface="Maven Pro"/>
              </a:rPr>
              <a:t>PRODUCTS</a:t>
            </a:r>
            <a:r>
              <a:rPr b="1" lang="en-US" sz="5600">
                <a:latin typeface="Maven Pro"/>
                <a:ea typeface="Maven Pro"/>
                <a:cs typeface="Maven Pro"/>
                <a:sym typeface="Maven Pro"/>
              </a:rPr>
              <a:t> </a:t>
            </a:r>
            <a:r>
              <a:rPr b="1" lang="en-US" sz="5600" u="sng">
                <a:solidFill>
                  <a:schemeClr val="hlink"/>
                </a:solidFill>
                <a:latin typeface="Maven Pro"/>
                <a:ea typeface="Maven Pro"/>
                <a:cs typeface="Maven Pro"/>
                <a:sym typeface="Maven Pro"/>
                <a:hlinkClick r:id="rId9"/>
              </a:rPr>
              <a:t>INSIGHTS REPORT</a:t>
            </a:r>
            <a:endParaRPr b="1" sz="5600">
              <a:solidFill>
                <a:srgbClr val="1565A0"/>
              </a:solidFill>
              <a:latin typeface="Maven Pro"/>
              <a:ea typeface="Maven Pro"/>
              <a:cs typeface="Maven Pro"/>
              <a:sym typeface="Maven Pro"/>
            </a:endParaRPr>
          </a:p>
          <a:p>
            <a:pPr indent="-317500" lvl="0" marL="457200" rtl="0" algn="l">
              <a:spcBef>
                <a:spcPts val="1200"/>
              </a:spcBef>
              <a:spcAft>
                <a:spcPts val="0"/>
              </a:spcAft>
              <a:buClr>
                <a:srgbClr val="1565A0"/>
              </a:buClr>
              <a:buSzPct val="100000"/>
              <a:buFont typeface="Maven Pro"/>
              <a:buChar char="●"/>
            </a:pPr>
            <a:r>
              <a:rPr b="1" lang="en-US" sz="5600">
                <a:solidFill>
                  <a:srgbClr val="1565A0"/>
                </a:solidFill>
                <a:latin typeface="Maven Pro"/>
                <a:ea typeface="Maven Pro"/>
                <a:cs typeface="Maven Pro"/>
                <a:sym typeface="Maven Pro"/>
              </a:rPr>
              <a:t>DRIVE:</a:t>
            </a:r>
            <a:endParaRPr b="1" sz="5600">
              <a:solidFill>
                <a:srgbClr val="1565A0"/>
              </a:solidFill>
              <a:latin typeface="Maven Pro"/>
              <a:ea typeface="Maven Pro"/>
              <a:cs typeface="Maven Pro"/>
              <a:sym typeface="Maven Pro"/>
            </a:endParaRPr>
          </a:p>
          <a:p>
            <a:pPr indent="-317500" lvl="1" marL="914400" rtl="0" algn="l">
              <a:spcBef>
                <a:spcPts val="0"/>
              </a:spcBef>
              <a:spcAft>
                <a:spcPts val="0"/>
              </a:spcAft>
              <a:buClr>
                <a:srgbClr val="1565A0"/>
              </a:buClr>
              <a:buSzPct val="100000"/>
              <a:buFont typeface="Maven Pro"/>
              <a:buChar char="○"/>
            </a:pPr>
            <a:r>
              <a:rPr b="1" lang="en-US" sz="5600" u="sng">
                <a:solidFill>
                  <a:schemeClr val="hlink"/>
                </a:solidFill>
                <a:latin typeface="Maven Pro"/>
                <a:ea typeface="Maven Pro"/>
                <a:cs typeface="Maven Pro"/>
                <a:sym typeface="Maven Pro"/>
                <a:hlinkClick r:id="rId10"/>
              </a:rPr>
              <a:t>RATINGS VISUALS</a:t>
            </a:r>
            <a:endParaRPr b="1" sz="5600">
              <a:solidFill>
                <a:srgbClr val="1565A0"/>
              </a:solidFill>
              <a:latin typeface="Maven Pro"/>
              <a:ea typeface="Maven Pro"/>
              <a:cs typeface="Maven Pro"/>
              <a:sym typeface="Maven Pro"/>
            </a:endParaRPr>
          </a:p>
          <a:p>
            <a:pPr indent="-317500" lvl="1" marL="914400" rtl="0" algn="l">
              <a:spcBef>
                <a:spcPts val="0"/>
              </a:spcBef>
              <a:spcAft>
                <a:spcPts val="0"/>
              </a:spcAft>
              <a:buClr>
                <a:srgbClr val="1565A0"/>
              </a:buClr>
              <a:buSzPct val="100000"/>
              <a:buFont typeface="Maven Pro"/>
              <a:buChar char="○"/>
            </a:pPr>
            <a:r>
              <a:rPr b="1" lang="en-US" sz="5600" u="sng">
                <a:solidFill>
                  <a:schemeClr val="hlink"/>
                </a:solidFill>
                <a:latin typeface="Maven Pro"/>
                <a:ea typeface="Maven Pro"/>
                <a:cs typeface="Maven Pro"/>
                <a:sym typeface="Maven Pro"/>
                <a:hlinkClick r:id="rId11"/>
              </a:rPr>
              <a:t>SENTIMENT VISUALS</a:t>
            </a:r>
            <a:endParaRPr b="1" sz="5600">
              <a:solidFill>
                <a:srgbClr val="1565A0"/>
              </a:solidFill>
              <a:latin typeface="Maven Pro"/>
              <a:ea typeface="Maven Pro"/>
              <a:cs typeface="Maven Pro"/>
              <a:sym typeface="Maven Pro"/>
            </a:endParaRPr>
          </a:p>
          <a:p>
            <a:pPr indent="0" lvl="0" marL="0" rtl="0" algn="l">
              <a:spcBef>
                <a:spcPts val="1200"/>
              </a:spcBef>
              <a:spcAft>
                <a:spcPts val="0"/>
              </a:spcAft>
              <a:buNone/>
            </a:pPr>
            <a:r>
              <a:rPr b="1" lang="en-US" sz="5600" u="sng">
                <a:solidFill>
                  <a:schemeClr val="hlink"/>
                </a:solidFill>
                <a:latin typeface="Maven Pro"/>
                <a:ea typeface="Maven Pro"/>
                <a:cs typeface="Maven Pro"/>
                <a:sym typeface="Maven Pro"/>
                <a:hlinkClick r:id="rId12"/>
              </a:rPr>
              <a:t>DASHBOARD</a:t>
            </a:r>
            <a:endParaRPr b="1" sz="5600">
              <a:solidFill>
                <a:srgbClr val="1565A0"/>
              </a:solidFill>
              <a:latin typeface="Maven Pro"/>
              <a:ea typeface="Maven Pro"/>
              <a:cs typeface="Maven Pro"/>
              <a:sym typeface="Maven Pro"/>
            </a:endParaRPr>
          </a:p>
          <a:p>
            <a:pPr indent="0" lvl="0" marL="914400" rtl="0" algn="l">
              <a:spcBef>
                <a:spcPts val="1200"/>
              </a:spcBef>
              <a:spcAft>
                <a:spcPts val="0"/>
              </a:spcAft>
              <a:buNone/>
            </a:pPr>
            <a:r>
              <a:t/>
            </a:r>
            <a:endParaRPr b="1">
              <a:solidFill>
                <a:srgbClr val="1565A0"/>
              </a:solidFill>
            </a:endParaRPr>
          </a:p>
          <a:p>
            <a:pPr indent="0" lvl="0" marL="0" rtl="0" algn="l">
              <a:spcBef>
                <a:spcPts val="1200"/>
              </a:spcBef>
              <a:spcAft>
                <a:spcPts val="1200"/>
              </a:spcAft>
              <a:buNone/>
            </a:pPr>
            <a:r>
              <a:t/>
            </a:r>
            <a:endParaRPr b="1">
              <a:solidFill>
                <a:srgbClr val="1565A0"/>
              </a:solidFill>
            </a:endParaRPr>
          </a:p>
        </p:txBody>
      </p:sp>
      <p:pic>
        <p:nvPicPr>
          <p:cNvPr descr="On-Time Delivery / Schedule Pickup Icon (provided by Getty Images)" id="586" name="Google Shape;586;p26"/>
          <p:cNvPicPr preferRelativeResize="0"/>
          <p:nvPr/>
        </p:nvPicPr>
        <p:blipFill>
          <a:blip r:embed="rId13">
            <a:alphaModFix/>
          </a:blip>
          <a:stretch>
            <a:fillRect/>
          </a:stretch>
        </p:blipFill>
        <p:spPr>
          <a:xfrm>
            <a:off x="311700" y="36"/>
            <a:ext cx="733425" cy="733425"/>
          </a:xfrm>
          <a:prstGeom prst="rect">
            <a:avLst/>
          </a:prstGeom>
          <a:noFill/>
          <a:ln>
            <a:noFill/>
          </a:ln>
        </p:spPr>
      </p:pic>
      <p:sp>
        <p:nvSpPr>
          <p:cNvPr id="587" name="Google Shape;587;p26"/>
          <p:cNvSpPr/>
          <p:nvPr/>
        </p:nvSpPr>
        <p:spPr>
          <a:xfrm>
            <a:off x="0" y="0"/>
            <a:ext cx="320100" cy="5143500"/>
          </a:xfrm>
          <a:prstGeom prst="rect">
            <a:avLst/>
          </a:prstGeom>
          <a:solidFill>
            <a:srgbClr val="156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